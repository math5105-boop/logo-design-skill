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0696575" cy="7562850"/>
  <p:notesSz cx="7562850" cy="106965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630e9e1b-bc7b-baa0-7843-5762da278bf9}">
          <p14:sldIdLst>
            <p14:sldId id="256"/>
            <p14:sldId id="257"/>
            <p14:sldId id="258"/>
          </p14:sldIdLst>
        </p14:section>
        <p14:section name="01 — Plateforme de marque" id="{750e97ac-f7b4-32d3-324c-9c23382dd300}">
          <p14:sldIdLst>
            <p14:sldId id="259"/>
            <p14:sldId id="260"/>
            <p14:sldId id="261"/>
            <p14:sldId id="262"/>
          </p14:sldIdLst>
        </p14:section>
        <p14:section name="02 — Logo" id="{c722417d-9554-fa7f-4eea-cba093a54cab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03 — Couleurs" id="{01f3c9fe-9b03-f503-4c1e-e62919971831}">
          <p14:sldIdLst>
            <p14:sldId id="271"/>
            <p14:sldId id="272"/>
            <p14:sldId id="273"/>
          </p14:sldIdLst>
        </p14:section>
        <p14:section name="04 — Typographie" id="{1edae9bf-9296-c2bc-1146-7b7a7451636e}">
          <p14:sldIdLst>
            <p14:sldId id="274"/>
            <p14:sldId id="275"/>
            <p14:sldId id="276"/>
          </p14:sldIdLst>
        </p14:section>
        <p14:section name="05 — Éléments graphiques" id="{2830c8d8-c09a-a2ca-ecd1-f644a4327221}">
          <p14:sldIdLst>
            <p14:sldId id="277"/>
            <p14:sldId id="278"/>
            <p14:sldId id="279"/>
            <p14:sldId id="280"/>
            <p14:sldId id="281"/>
          </p14:sldIdLst>
        </p14:section>
        <p14:section name="06 — Applications" id="{cf2e1966-1145-10d4-6c75-2b6881590fe2}">
          <p14:sldIdLst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07 — Fichiers &amp; contacts" id="{c58a9ff3-045a-a18d-e595-159520e77c9c}">
          <p14:sldIdLst>
            <p14:sldId id="289"/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1" descr="jt-logotype-blan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533400"/>
            <a:ext cx="3150394" cy="323850"/>
          </a:xfrm>
          <a:prstGeom prst="rect">
            <a:avLst/>
          </a:prstGeom>
        </p:spPr>
      </p:pic>
      <p:sp>
        <p:nvSpPr>
          <p:cNvPr id="3" name="Texte 1 (kicker)"/>
          <p:cNvSpPr txBox="1"/>
          <p:nvPr/>
        </p:nvSpPr>
        <p:spPr>
          <a:xfrm>
            <a:off x="666750" y="4488507"/>
            <a:ext cx="3817933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FA461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IDENTITÉ VISUELLE · VERSION 1.0</a:t>
            </a:r>
            <a:endParaRPr lang="en-US" sz="750" dirty="0"/>
          </a:p>
        </p:txBody>
      </p:sp>
      <p:sp>
        <p:nvSpPr>
          <p:cNvPr id="4" name="Texte 2 (h1)"/>
          <p:cNvSpPr txBox="1"/>
          <p:nvPr/>
        </p:nvSpPr>
        <p:spPr>
          <a:xfrm>
            <a:off x="666750" y="4636145"/>
            <a:ext cx="6678216" cy="179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600" spc="-33" kern="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CHARTE</a:t>
            </a:r>
            <a:endParaRPr lang="en-US" sz="6600" dirty="0"/>
          </a:p>
          <a:p>
            <a:pPr algn="l" indent="0" marL="0">
              <a:lnSpc>
                <a:spcPts val="6600"/>
              </a:lnSpc>
              <a:buNone/>
            </a:pPr>
            <a:r>
              <a:rPr lang="en-US" sz="6600" spc="-33" kern="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GRAPHIQUE</a:t>
            </a:r>
            <a:endParaRPr lang="en-US" sz="6600" dirty="0"/>
          </a:p>
        </p:txBody>
      </p:sp>
      <p:sp>
        <p:nvSpPr>
          <p:cNvPr id="5" name="Texte 3 (span)"/>
          <p:cNvSpPr txBox="1"/>
          <p:nvPr/>
        </p:nvSpPr>
        <p:spPr>
          <a:xfrm>
            <a:off x="666750" y="6797427"/>
            <a:ext cx="1054313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33" kern="0" dirty="0">
                <a:solidFill>
                  <a:srgbClr val="9A9D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Octobre 2026</a:t>
            </a:r>
            <a:endParaRPr lang="en-US" sz="830" dirty="0"/>
          </a:p>
        </p:txBody>
      </p:sp>
      <p:sp>
        <p:nvSpPr>
          <p:cNvPr id="6" name="Texte 4 (span)"/>
          <p:cNvSpPr txBox="1"/>
          <p:nvPr/>
        </p:nvSpPr>
        <p:spPr>
          <a:xfrm>
            <a:off x="1785491" y="6797427"/>
            <a:ext cx="3917766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33" kern="0" dirty="0">
                <a:solidFill>
                  <a:srgbClr val="9A9D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de référence — usage interne &amp; prestataires</a:t>
            </a:r>
            <a:endParaRPr lang="en-US" sz="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kicker)"/>
          <p:cNvSpPr txBox="1"/>
          <p:nvPr/>
        </p:nvSpPr>
        <p:spPr>
          <a:xfrm>
            <a:off x="609600" y="2968526"/>
            <a:ext cx="1255916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SOMMAIRE</a:t>
            </a:r>
            <a:endParaRPr lang="en-US" sz="750" dirty="0"/>
          </a:p>
        </p:txBody>
      </p:sp>
      <p:sp>
        <p:nvSpPr>
          <p:cNvPr id="3" name="Texte 2 (h2)"/>
          <p:cNvSpPr txBox="1"/>
          <p:nvPr/>
        </p:nvSpPr>
        <p:spPr>
          <a:xfrm>
            <a:off x="609600" y="3173313"/>
            <a:ext cx="3927128" cy="100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400" spc="12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TOUT CE QU'IL FAUT POUR FAIRE VIVRE LA MARQUE.</a:t>
            </a:r>
            <a:endParaRPr lang="en-US" sz="2400" dirty="0"/>
          </a:p>
        </p:txBody>
      </p:sp>
      <p:sp>
        <p:nvSpPr>
          <p:cNvPr id="4" name="Texte 3 (toc-n)"/>
          <p:cNvSpPr txBox="1"/>
          <p:nvPr/>
        </p:nvSpPr>
        <p:spPr>
          <a:xfrm>
            <a:off x="5051078" y="1734443"/>
            <a:ext cx="313804" cy="173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Texte 4 (toc-t)"/>
          <p:cNvSpPr txBox="1"/>
          <p:nvPr/>
        </p:nvSpPr>
        <p:spPr>
          <a:xfrm>
            <a:off x="5565428" y="1724918"/>
            <a:ext cx="1893689" cy="407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b="1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PLATEFORME DE MARQUE</a:t>
            </a:r>
            <a:endParaRPr lang="en-US" sz="1130" dirty="0"/>
          </a:p>
        </p:txBody>
      </p:sp>
      <p:sp>
        <p:nvSpPr>
          <p:cNvPr id="6" name="Texte 5 (toc-s)"/>
          <p:cNvSpPr txBox="1"/>
          <p:nvPr/>
        </p:nvSpPr>
        <p:spPr>
          <a:xfrm>
            <a:off x="7401967" y="1743968"/>
            <a:ext cx="1952714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Mission, valeurs, personnalité, ton</a:t>
            </a:r>
            <a:endParaRPr lang="en-US" sz="830" dirty="0"/>
          </a:p>
        </p:txBody>
      </p:sp>
      <p:sp>
        <p:nvSpPr>
          <p:cNvPr id="7" name="Texte 6 (toc-p)"/>
          <p:cNvSpPr txBox="1"/>
          <p:nvPr/>
        </p:nvSpPr>
        <p:spPr>
          <a:xfrm>
            <a:off x="9698980" y="1743968"/>
            <a:ext cx="383381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p. 04</a:t>
            </a:r>
            <a:endParaRPr lang="en-US" sz="830" dirty="0"/>
          </a:p>
        </p:txBody>
      </p:sp>
      <p:sp>
        <p:nvSpPr>
          <p:cNvPr id="8" name="Texte 7 (toc-n)"/>
          <p:cNvSpPr txBox="1"/>
          <p:nvPr/>
        </p:nvSpPr>
        <p:spPr>
          <a:xfrm>
            <a:off x="5051078" y="2472630"/>
            <a:ext cx="325428" cy="173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Texte 8 (toc-t)"/>
          <p:cNvSpPr txBox="1"/>
          <p:nvPr/>
        </p:nvSpPr>
        <p:spPr>
          <a:xfrm>
            <a:off x="5565428" y="2463105"/>
            <a:ext cx="680844" cy="185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b="1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LOGO</a:t>
            </a:r>
            <a:endParaRPr lang="en-US" sz="1130" dirty="0"/>
          </a:p>
        </p:txBody>
      </p:sp>
      <p:sp>
        <p:nvSpPr>
          <p:cNvPr id="10" name="Texte 9 (toc-s)"/>
          <p:cNvSpPr txBox="1"/>
          <p:nvPr/>
        </p:nvSpPr>
        <p:spPr>
          <a:xfrm>
            <a:off x="7401967" y="2482155"/>
            <a:ext cx="2231841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Concept, construction, versions, règles</a:t>
            </a:r>
            <a:endParaRPr lang="en-US" sz="830" dirty="0"/>
          </a:p>
        </p:txBody>
      </p:sp>
      <p:sp>
        <p:nvSpPr>
          <p:cNvPr id="11" name="Texte 10 (toc-p)"/>
          <p:cNvSpPr txBox="1"/>
          <p:nvPr/>
        </p:nvSpPr>
        <p:spPr>
          <a:xfrm>
            <a:off x="9701927" y="2482155"/>
            <a:ext cx="380434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p. 08</a:t>
            </a:r>
            <a:endParaRPr lang="en-US" sz="830" dirty="0"/>
          </a:p>
        </p:txBody>
      </p:sp>
      <p:sp>
        <p:nvSpPr>
          <p:cNvPr id="12" name="Texte 11 (toc-n)"/>
          <p:cNvSpPr txBox="1"/>
          <p:nvPr/>
        </p:nvSpPr>
        <p:spPr>
          <a:xfrm>
            <a:off x="5051078" y="2989362"/>
            <a:ext cx="326410" cy="173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03</a:t>
            </a:r>
            <a:endParaRPr lang="en-US" sz="1050" dirty="0"/>
          </a:p>
        </p:txBody>
      </p:sp>
      <p:sp>
        <p:nvSpPr>
          <p:cNvPr id="13" name="Texte 12 (toc-t)"/>
          <p:cNvSpPr txBox="1"/>
          <p:nvPr/>
        </p:nvSpPr>
        <p:spPr>
          <a:xfrm>
            <a:off x="5565428" y="2979837"/>
            <a:ext cx="1234023" cy="185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b="1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COULEURS</a:t>
            </a:r>
            <a:endParaRPr lang="en-US" sz="1130" dirty="0"/>
          </a:p>
        </p:txBody>
      </p:sp>
      <p:sp>
        <p:nvSpPr>
          <p:cNvPr id="14" name="Texte 13 (toc-s)"/>
          <p:cNvSpPr txBox="1"/>
          <p:nvPr/>
        </p:nvSpPr>
        <p:spPr>
          <a:xfrm>
            <a:off x="7401967" y="2998887"/>
            <a:ext cx="2204665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Palette, codes, proportions, contrastes</a:t>
            </a:r>
            <a:endParaRPr lang="en-US" sz="830" dirty="0"/>
          </a:p>
        </p:txBody>
      </p:sp>
      <p:sp>
        <p:nvSpPr>
          <p:cNvPr id="15" name="Texte 14 (toc-p)"/>
          <p:cNvSpPr txBox="1"/>
          <p:nvPr/>
        </p:nvSpPr>
        <p:spPr>
          <a:xfrm>
            <a:off x="9729267" y="2998887"/>
            <a:ext cx="353095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p. 16</a:t>
            </a:r>
            <a:endParaRPr lang="en-US" sz="830" dirty="0"/>
          </a:p>
        </p:txBody>
      </p:sp>
      <p:sp>
        <p:nvSpPr>
          <p:cNvPr id="16" name="Texte 15 (toc-n)"/>
          <p:cNvSpPr txBox="1"/>
          <p:nvPr/>
        </p:nvSpPr>
        <p:spPr>
          <a:xfrm>
            <a:off x="5051078" y="3506093"/>
            <a:ext cx="325264" cy="173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04</a:t>
            </a:r>
            <a:endParaRPr lang="en-US" sz="1050" dirty="0"/>
          </a:p>
        </p:txBody>
      </p:sp>
      <p:sp>
        <p:nvSpPr>
          <p:cNvPr id="17" name="Texte 16 (toc-t)"/>
          <p:cNvSpPr txBox="1"/>
          <p:nvPr/>
        </p:nvSpPr>
        <p:spPr>
          <a:xfrm>
            <a:off x="5565428" y="3496568"/>
            <a:ext cx="1584692" cy="185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b="1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TYPOGRAPHIE</a:t>
            </a:r>
            <a:endParaRPr lang="en-US" sz="1130" dirty="0"/>
          </a:p>
        </p:txBody>
      </p:sp>
      <p:sp>
        <p:nvSpPr>
          <p:cNvPr id="18" name="Texte 17 (toc-s)"/>
          <p:cNvSpPr txBox="1"/>
          <p:nvPr/>
        </p:nvSpPr>
        <p:spPr>
          <a:xfrm>
            <a:off x="7401967" y="3515618"/>
            <a:ext cx="1603519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Familles, hiérarchie, usages</a:t>
            </a:r>
            <a:endParaRPr lang="en-US" sz="830" dirty="0"/>
          </a:p>
        </p:txBody>
      </p:sp>
      <p:sp>
        <p:nvSpPr>
          <p:cNvPr id="19" name="Texte 18 (toc-p)"/>
          <p:cNvSpPr txBox="1"/>
          <p:nvPr/>
        </p:nvSpPr>
        <p:spPr>
          <a:xfrm>
            <a:off x="9729267" y="3515618"/>
            <a:ext cx="353095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p. 19</a:t>
            </a:r>
            <a:endParaRPr lang="en-US" sz="830" dirty="0"/>
          </a:p>
        </p:txBody>
      </p:sp>
      <p:sp>
        <p:nvSpPr>
          <p:cNvPr id="20" name="Texte 19 (toc-n)"/>
          <p:cNvSpPr txBox="1"/>
          <p:nvPr/>
        </p:nvSpPr>
        <p:spPr>
          <a:xfrm>
            <a:off x="5051078" y="4022824"/>
            <a:ext cx="326410" cy="173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05</a:t>
            </a:r>
            <a:endParaRPr lang="en-US" sz="1050" dirty="0"/>
          </a:p>
        </p:txBody>
      </p:sp>
      <p:sp>
        <p:nvSpPr>
          <p:cNvPr id="21" name="Texte 20 (toc-t)"/>
          <p:cNvSpPr txBox="1"/>
          <p:nvPr/>
        </p:nvSpPr>
        <p:spPr>
          <a:xfrm>
            <a:off x="5565428" y="4013299"/>
            <a:ext cx="1893689" cy="407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b="1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ÉLÉMENTS GRAPHIQUES</a:t>
            </a:r>
            <a:endParaRPr lang="en-US" sz="1130" dirty="0"/>
          </a:p>
        </p:txBody>
      </p:sp>
      <p:sp>
        <p:nvSpPr>
          <p:cNvPr id="22" name="Texte 21 (toc-s)"/>
          <p:cNvSpPr txBox="1"/>
          <p:nvPr/>
        </p:nvSpPr>
        <p:spPr>
          <a:xfrm>
            <a:off x="7401967" y="4032349"/>
            <a:ext cx="1798826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Angle, trait, motif, pictos, photo</a:t>
            </a:r>
            <a:endParaRPr lang="en-US" sz="830" dirty="0"/>
          </a:p>
        </p:txBody>
      </p:sp>
      <p:sp>
        <p:nvSpPr>
          <p:cNvPr id="23" name="Texte 22 (toc-p)"/>
          <p:cNvSpPr txBox="1"/>
          <p:nvPr/>
        </p:nvSpPr>
        <p:spPr>
          <a:xfrm>
            <a:off x="9708148" y="4032349"/>
            <a:ext cx="374213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p. 22</a:t>
            </a:r>
            <a:endParaRPr lang="en-US" sz="830" dirty="0"/>
          </a:p>
        </p:txBody>
      </p:sp>
      <p:sp>
        <p:nvSpPr>
          <p:cNvPr id="24" name="Texte 23 (toc-n)"/>
          <p:cNvSpPr txBox="1"/>
          <p:nvPr/>
        </p:nvSpPr>
        <p:spPr>
          <a:xfrm>
            <a:off x="5051078" y="4761012"/>
            <a:ext cx="326574" cy="173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06</a:t>
            </a:r>
            <a:endParaRPr lang="en-US" sz="1050" dirty="0"/>
          </a:p>
        </p:txBody>
      </p:sp>
      <p:sp>
        <p:nvSpPr>
          <p:cNvPr id="25" name="Texte 24 (toc-t)"/>
          <p:cNvSpPr txBox="1"/>
          <p:nvPr/>
        </p:nvSpPr>
        <p:spPr>
          <a:xfrm>
            <a:off x="5565428" y="4751487"/>
            <a:ext cx="1584037" cy="185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b="1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APPLICATIONS</a:t>
            </a:r>
            <a:endParaRPr lang="en-US" sz="1130" dirty="0"/>
          </a:p>
        </p:txBody>
      </p:sp>
      <p:sp>
        <p:nvSpPr>
          <p:cNvPr id="26" name="Texte 25 (toc-s)"/>
          <p:cNvSpPr txBox="1"/>
          <p:nvPr/>
        </p:nvSpPr>
        <p:spPr>
          <a:xfrm>
            <a:off x="7401967" y="4770537"/>
            <a:ext cx="2123629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Papeterie, social, textile, web, motion</a:t>
            </a:r>
            <a:endParaRPr lang="en-US" sz="830" dirty="0"/>
          </a:p>
        </p:txBody>
      </p:sp>
      <p:sp>
        <p:nvSpPr>
          <p:cNvPr id="27" name="Texte 26 (toc-p)"/>
          <p:cNvSpPr txBox="1"/>
          <p:nvPr/>
        </p:nvSpPr>
        <p:spPr>
          <a:xfrm>
            <a:off x="9713550" y="4770537"/>
            <a:ext cx="368811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p. 27</a:t>
            </a:r>
            <a:endParaRPr lang="en-US" sz="830" dirty="0"/>
          </a:p>
        </p:txBody>
      </p:sp>
      <p:sp>
        <p:nvSpPr>
          <p:cNvPr id="28" name="Texte 27 (toc-n)"/>
          <p:cNvSpPr txBox="1"/>
          <p:nvPr/>
        </p:nvSpPr>
        <p:spPr>
          <a:xfrm>
            <a:off x="5051078" y="5277743"/>
            <a:ext cx="317078" cy="173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07</a:t>
            </a:r>
            <a:endParaRPr lang="en-US" sz="1050" dirty="0"/>
          </a:p>
        </p:txBody>
      </p:sp>
      <p:sp>
        <p:nvSpPr>
          <p:cNvPr id="29" name="Texte 28 (toc-t)"/>
          <p:cNvSpPr txBox="1"/>
          <p:nvPr/>
        </p:nvSpPr>
        <p:spPr>
          <a:xfrm>
            <a:off x="5565428" y="5268218"/>
            <a:ext cx="1893689" cy="407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b="1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FICHIERS &amp; CONTACTS</a:t>
            </a:r>
            <a:endParaRPr lang="en-US" sz="1130" dirty="0"/>
          </a:p>
        </p:txBody>
      </p:sp>
      <p:sp>
        <p:nvSpPr>
          <p:cNvPr id="30" name="Texte 29 (toc-s)"/>
          <p:cNvSpPr txBox="1"/>
          <p:nvPr/>
        </p:nvSpPr>
        <p:spPr>
          <a:xfrm>
            <a:off x="7401967" y="5287268"/>
            <a:ext cx="1503983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Livrables et nomenclature</a:t>
            </a:r>
            <a:endParaRPr lang="en-US" sz="830" dirty="0"/>
          </a:p>
        </p:txBody>
      </p:sp>
      <p:sp>
        <p:nvSpPr>
          <p:cNvPr id="31" name="Texte 30 (toc-p)"/>
          <p:cNvSpPr txBox="1"/>
          <p:nvPr/>
        </p:nvSpPr>
        <p:spPr>
          <a:xfrm>
            <a:off x="9701599" y="5287268"/>
            <a:ext cx="380762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p. 34</a:t>
            </a:r>
            <a:endParaRPr lang="en-US" sz="830" dirty="0"/>
          </a:p>
        </p:txBody>
      </p:sp>
      <p:sp>
        <p:nvSpPr>
          <p:cNvPr id="32" name="Texte 31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33" name="Texte 32 (span)"/>
          <p:cNvSpPr txBox="1"/>
          <p:nvPr/>
        </p:nvSpPr>
        <p:spPr>
          <a:xfrm>
            <a:off x="6464945" y="7188994"/>
            <a:ext cx="100826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SOMMAIRE</a:t>
            </a:r>
            <a:endParaRPr lang="en-US" sz="680" dirty="0"/>
          </a:p>
        </p:txBody>
      </p:sp>
      <p:sp>
        <p:nvSpPr>
          <p:cNvPr id="34" name="Texte 33 (pn)"/>
          <p:cNvSpPr txBox="1"/>
          <p:nvPr/>
        </p:nvSpPr>
        <p:spPr>
          <a:xfrm>
            <a:off x="9926836" y="7188994"/>
            <a:ext cx="297433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02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kicker)"/>
          <p:cNvSpPr txBox="1"/>
          <p:nvPr/>
        </p:nvSpPr>
        <p:spPr>
          <a:xfrm>
            <a:off x="609600" y="514350"/>
            <a:ext cx="1749668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INTRODUCTION</a:t>
            </a:r>
            <a:endParaRPr lang="en-US" sz="750" dirty="0"/>
          </a:p>
        </p:txBody>
      </p:sp>
      <p:sp>
        <p:nvSpPr>
          <p:cNvPr id="3" name="Texte 2 (h2)"/>
          <p:cNvSpPr txBox="1"/>
          <p:nvPr/>
        </p:nvSpPr>
        <p:spPr>
          <a:xfrm>
            <a:off x="609600" y="719138"/>
            <a:ext cx="4739580" cy="106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UNE IDENTITÉ TAILLÉE</a:t>
            </a:r>
            <a:endParaRPr lang="en-US" sz="25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POUR AVANCER.</a:t>
            </a:r>
            <a:endParaRPr lang="en-US" sz="2550" dirty="0"/>
          </a:p>
        </p:txBody>
      </p:sp>
      <p:sp>
        <p:nvSpPr>
          <p:cNvPr id="4" name="Texte 3 (lead)"/>
          <p:cNvSpPr txBox="1"/>
          <p:nvPr/>
        </p:nvSpPr>
        <p:spPr>
          <a:xfrm>
            <a:off x="609600" y="1957536"/>
            <a:ext cx="4739580" cy="110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document rassemble les règles qui font vivre l'identité visuelle de </a:t>
            </a:r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Jonathan Temam, coach sportif</a:t>
            </a:r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Il s'adresse à toutes les personnes qui produisent un support pour la marque : Jonathan lui-même, graphistes, imprimeurs, brodeurs, développeurs web, partenaires et salles.</a:t>
            </a:r>
            <a:endParaRPr lang="en-US" sz="1130" dirty="0"/>
          </a:p>
        </p:txBody>
      </p:sp>
      <p:sp>
        <p:nvSpPr>
          <p:cNvPr id="5" name="Texte 4 (p)"/>
          <p:cNvSpPr txBox="1"/>
          <p:nvPr/>
        </p:nvSpPr>
        <p:spPr>
          <a:xfrm>
            <a:off x="609600" y="3188643"/>
            <a:ext cx="4739580" cy="700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marque forte ne naît pas d'un logo seul, mais de la </a:t>
            </a:r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répétition cohérente</a:t>
            </a:r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 mêmes signes : un symbole, deux couleurs fortes, deux typographies, un angle. Chaque post, chaque t-shirt, chaque carte de visite construit la même image — et la rend plus reconnaissable que la précédente.</a:t>
            </a:r>
            <a:endParaRPr lang="en-US" sz="900" dirty="0"/>
          </a:p>
        </p:txBody>
      </p:sp>
      <p:sp>
        <p:nvSpPr>
          <p:cNvPr id="6" name="Texte 5 (p)"/>
          <p:cNvSpPr txBox="1"/>
          <p:nvPr/>
        </p:nvSpPr>
        <p:spPr>
          <a:xfrm>
            <a:off x="609600" y="3992314"/>
            <a:ext cx="4739580" cy="52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règles sont pensées pour être simples à appliquer, y compris dans Canva. En cas de doute, privilégiez toujours la version la plus sobre : noir, blanc, et beaucoup d'espace.</a:t>
            </a:r>
            <a:endParaRPr lang="en-US" sz="900" dirty="0"/>
          </a:p>
        </p:txBody>
      </p:sp>
      <p:sp>
        <p:nvSpPr>
          <p:cNvPr id="7" name="Texte 6 (kicker)"/>
          <p:cNvSpPr txBox="1"/>
          <p:nvPr/>
        </p:nvSpPr>
        <p:spPr>
          <a:xfrm>
            <a:off x="6149280" y="914400"/>
            <a:ext cx="3377773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COMMENT UTILISER CE GUIDE</a:t>
            </a:r>
            <a:endParaRPr lang="en-US" sz="750" dirty="0"/>
          </a:p>
        </p:txBody>
      </p:sp>
      <p:sp>
        <p:nvSpPr>
          <p:cNvPr id="8" name="Texte 7 (b)"/>
          <p:cNvSpPr txBox="1"/>
          <p:nvPr/>
        </p:nvSpPr>
        <p:spPr>
          <a:xfrm>
            <a:off x="6473130" y="1281113"/>
            <a:ext cx="1277570" cy="15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COMPRENDRE</a:t>
            </a:r>
            <a:endParaRPr lang="en-US" sz="900" dirty="0"/>
          </a:p>
        </p:txBody>
      </p:sp>
      <p:sp>
        <p:nvSpPr>
          <p:cNvPr id="9" name="Texte 8 (span)"/>
          <p:cNvSpPr txBox="1"/>
          <p:nvPr/>
        </p:nvSpPr>
        <p:spPr>
          <a:xfrm>
            <a:off x="6473130" y="1448693"/>
            <a:ext cx="3342531" cy="32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plateforme de marque (01) explique ce que la marque dit et comment elle le dit.</a:t>
            </a:r>
            <a:endParaRPr lang="en-US" sz="860" dirty="0"/>
          </a:p>
        </p:txBody>
      </p:sp>
      <p:sp>
        <p:nvSpPr>
          <p:cNvPr id="10" name="Texte 9 (b)"/>
          <p:cNvSpPr txBox="1"/>
          <p:nvPr/>
        </p:nvSpPr>
        <p:spPr>
          <a:xfrm>
            <a:off x="6473130" y="2054721"/>
            <a:ext cx="2105457" cy="15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CHOISIR LE BON FICHIER</a:t>
            </a:r>
            <a:endParaRPr lang="en-US" sz="900" dirty="0"/>
          </a:p>
        </p:txBody>
      </p:sp>
      <p:sp>
        <p:nvSpPr>
          <p:cNvPr id="11" name="Texte 10 (span)"/>
          <p:cNvSpPr txBox="1"/>
          <p:nvPr/>
        </p:nvSpPr>
        <p:spPr>
          <a:xfrm>
            <a:off x="6473130" y="2222302"/>
            <a:ext cx="3342531" cy="32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logo (02) et la liste des fichiers (07) indiquent quelle version utiliser, où.</a:t>
            </a:r>
            <a:endParaRPr lang="en-US" sz="860" dirty="0"/>
          </a:p>
        </p:txBody>
      </p:sp>
      <p:sp>
        <p:nvSpPr>
          <p:cNvPr id="12" name="Texte 11 (b)"/>
          <p:cNvSpPr txBox="1"/>
          <p:nvPr/>
        </p:nvSpPr>
        <p:spPr>
          <a:xfrm>
            <a:off x="6473130" y="2828330"/>
            <a:ext cx="1049194" cy="15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COMPOSER</a:t>
            </a:r>
            <a:endParaRPr lang="en-US" sz="900" dirty="0"/>
          </a:p>
        </p:txBody>
      </p:sp>
      <p:sp>
        <p:nvSpPr>
          <p:cNvPr id="13" name="Texte 12 (span)"/>
          <p:cNvSpPr txBox="1"/>
          <p:nvPr/>
        </p:nvSpPr>
        <p:spPr>
          <a:xfrm>
            <a:off x="6473130" y="2995910"/>
            <a:ext cx="3342531" cy="32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Couleurs (03), typographie (04) et éléments graphiques (05) forment la boîte à outils.</a:t>
            </a:r>
            <a:endParaRPr lang="en-US" sz="860" dirty="0"/>
          </a:p>
        </p:txBody>
      </p:sp>
      <p:sp>
        <p:nvSpPr>
          <p:cNvPr id="14" name="Texte 13 (b)"/>
          <p:cNvSpPr txBox="1"/>
          <p:nvPr/>
        </p:nvSpPr>
        <p:spPr>
          <a:xfrm>
            <a:off x="6473130" y="3601938"/>
            <a:ext cx="993368" cy="15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S'INSPIRER</a:t>
            </a:r>
            <a:endParaRPr lang="en-US" sz="900" dirty="0"/>
          </a:p>
        </p:txBody>
      </p:sp>
      <p:sp>
        <p:nvSpPr>
          <p:cNvPr id="15" name="Texte 14 (span)"/>
          <p:cNvSpPr txBox="1"/>
          <p:nvPr/>
        </p:nvSpPr>
        <p:spPr>
          <a:xfrm>
            <a:off x="6473130" y="3769519"/>
            <a:ext cx="3556918" cy="15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applications (06) montrent le système en situation réelle.</a:t>
            </a:r>
            <a:endParaRPr lang="en-US" sz="860" dirty="0"/>
          </a:p>
        </p:txBody>
      </p:sp>
      <p:sp>
        <p:nvSpPr>
          <p:cNvPr id="16" name="Texte 15 (b)"/>
          <p:cNvSpPr txBox="1"/>
          <p:nvPr/>
        </p:nvSpPr>
        <p:spPr>
          <a:xfrm>
            <a:off x="1009650" y="6131123"/>
            <a:ext cx="316260" cy="37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90"/>
              </a:lnSpc>
              <a:buNone/>
            </a:pPr>
            <a:r>
              <a:rPr lang="en-US" sz="225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17" name="Texte 16 (span)"/>
          <p:cNvSpPr txBox="1"/>
          <p:nvPr/>
        </p:nvSpPr>
        <p:spPr>
          <a:xfrm>
            <a:off x="1305818" y="6293048"/>
            <a:ext cx="980599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105" kern="0" dirty="0">
                <a:solidFill>
                  <a:srgbClr val="C7C9CE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SYMBOLE</a:t>
            </a:r>
            <a:endParaRPr lang="en-US" sz="750" dirty="0"/>
          </a:p>
        </p:txBody>
      </p:sp>
      <p:sp>
        <p:nvSpPr>
          <p:cNvPr id="18" name="Texte 17 (b)"/>
          <p:cNvSpPr txBox="1"/>
          <p:nvPr/>
        </p:nvSpPr>
        <p:spPr>
          <a:xfrm>
            <a:off x="2797522" y="6131123"/>
            <a:ext cx="340816" cy="37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90"/>
              </a:lnSpc>
              <a:buNone/>
            </a:pPr>
            <a:r>
              <a:rPr lang="en-US" sz="225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4</a:t>
            </a:r>
            <a:endParaRPr lang="en-US" sz="2250" dirty="0"/>
          </a:p>
        </p:txBody>
      </p:sp>
      <p:sp>
        <p:nvSpPr>
          <p:cNvPr id="19" name="Texte 18 (span)"/>
          <p:cNvSpPr txBox="1"/>
          <p:nvPr/>
        </p:nvSpPr>
        <p:spPr>
          <a:xfrm>
            <a:off x="3116014" y="6293048"/>
            <a:ext cx="1383655" cy="274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105" kern="0" dirty="0">
                <a:solidFill>
                  <a:srgbClr val="C7C9CE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VERSIONS DU LOGO</a:t>
            </a:r>
            <a:endParaRPr lang="en-US" sz="750" dirty="0"/>
          </a:p>
        </p:txBody>
      </p:sp>
      <p:sp>
        <p:nvSpPr>
          <p:cNvPr id="20" name="Texte 19 (b)"/>
          <p:cNvSpPr txBox="1"/>
          <p:nvPr/>
        </p:nvSpPr>
        <p:spPr>
          <a:xfrm>
            <a:off x="4585395" y="6131123"/>
            <a:ext cx="343272" cy="37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90"/>
              </a:lnSpc>
              <a:buNone/>
            </a:pPr>
            <a:r>
              <a:rPr lang="en-US" sz="225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5</a:t>
            </a:r>
            <a:endParaRPr lang="en-US" sz="2250" dirty="0"/>
          </a:p>
        </p:txBody>
      </p:sp>
      <p:sp>
        <p:nvSpPr>
          <p:cNvPr id="21" name="Texte 20 (span)"/>
          <p:cNvSpPr txBox="1"/>
          <p:nvPr/>
        </p:nvSpPr>
        <p:spPr>
          <a:xfrm>
            <a:off x="4906119" y="6293048"/>
            <a:ext cx="1116226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105" kern="0" dirty="0">
                <a:solidFill>
                  <a:srgbClr val="C7C9CE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COULEURS</a:t>
            </a:r>
            <a:endParaRPr lang="en-US" sz="750" dirty="0"/>
          </a:p>
        </p:txBody>
      </p:sp>
      <p:sp>
        <p:nvSpPr>
          <p:cNvPr id="22" name="Texte 21 (b)"/>
          <p:cNvSpPr txBox="1"/>
          <p:nvPr/>
        </p:nvSpPr>
        <p:spPr>
          <a:xfrm>
            <a:off x="6373267" y="6131123"/>
            <a:ext cx="341471" cy="37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90"/>
              </a:lnSpc>
              <a:buNone/>
            </a:pPr>
            <a:r>
              <a:rPr lang="en-US" sz="225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23" name="Texte 22 (span)"/>
          <p:cNvSpPr txBox="1"/>
          <p:nvPr/>
        </p:nvSpPr>
        <p:spPr>
          <a:xfrm>
            <a:off x="6692354" y="6293048"/>
            <a:ext cx="1552902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105" kern="0" dirty="0">
                <a:solidFill>
                  <a:srgbClr val="C7C9CE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TYPOGRAPHIES</a:t>
            </a:r>
            <a:endParaRPr lang="en-US" sz="750" dirty="0"/>
          </a:p>
        </p:txBody>
      </p:sp>
      <p:sp>
        <p:nvSpPr>
          <p:cNvPr id="24" name="Texte 23 (b)"/>
          <p:cNvSpPr txBox="1"/>
          <p:nvPr/>
        </p:nvSpPr>
        <p:spPr>
          <a:xfrm>
            <a:off x="8161139" y="6131123"/>
            <a:ext cx="690012" cy="37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90"/>
              </a:lnSpc>
              <a:buNone/>
            </a:pPr>
            <a:r>
              <a:rPr lang="en-US" sz="225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15°</a:t>
            </a:r>
            <a:endParaRPr lang="en-US" sz="2250" dirty="0"/>
          </a:p>
        </p:txBody>
      </p:sp>
      <p:sp>
        <p:nvSpPr>
          <p:cNvPr id="25" name="Texte 24 (span)"/>
          <p:cNvSpPr txBox="1"/>
          <p:nvPr/>
        </p:nvSpPr>
        <p:spPr>
          <a:xfrm>
            <a:off x="8797082" y="6293048"/>
            <a:ext cx="1075730" cy="274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105" kern="0" dirty="0">
                <a:solidFill>
                  <a:srgbClr val="C7C9CE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UN ANGLE DE MARQUE</a:t>
            </a:r>
            <a:endParaRPr lang="en-US" sz="750" dirty="0"/>
          </a:p>
        </p:txBody>
      </p:sp>
      <p:sp>
        <p:nvSpPr>
          <p:cNvPr id="26" name="Texte 25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27" name="Texte 26 (span)"/>
          <p:cNvSpPr txBox="1"/>
          <p:nvPr/>
        </p:nvSpPr>
        <p:spPr>
          <a:xfrm>
            <a:off x="6318796" y="7188994"/>
            <a:ext cx="1387480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INTRODUCTION</a:t>
            </a:r>
            <a:endParaRPr lang="en-US" sz="680" dirty="0"/>
          </a:p>
        </p:txBody>
      </p:sp>
      <p:sp>
        <p:nvSpPr>
          <p:cNvPr id="28" name="Texte 27 (pn)"/>
          <p:cNvSpPr txBox="1"/>
          <p:nvPr/>
        </p:nvSpPr>
        <p:spPr>
          <a:xfrm>
            <a:off x="9926241" y="7188994"/>
            <a:ext cx="298207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03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h1)"/>
          <p:cNvSpPr txBox="1"/>
          <p:nvPr/>
        </p:nvSpPr>
        <p:spPr>
          <a:xfrm>
            <a:off x="666750" y="4383584"/>
            <a:ext cx="5010150" cy="1283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PLATEFORME</a:t>
            </a:r>
            <a:endParaRPr lang="en-US" sz="4650" dirty="0"/>
          </a:p>
          <a:p>
            <a:pPr algn="l" indent="0" marL="0">
              <a:lnSpc>
                <a:spcPts val="465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DE MARQUE</a:t>
            </a:r>
            <a:endParaRPr lang="en-US" sz="4650" dirty="0"/>
          </a:p>
        </p:txBody>
      </p:sp>
      <p:sp>
        <p:nvSpPr>
          <p:cNvPr id="3" name="Texte 2 (p)"/>
          <p:cNvSpPr txBox="1"/>
          <p:nvPr/>
        </p:nvSpPr>
        <p:spPr>
          <a:xfrm>
            <a:off x="666750" y="5743575"/>
            <a:ext cx="4218474" cy="192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B9BC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la marque défend, et la manière dont elle s'exprime.</a:t>
            </a:r>
            <a:endParaRPr lang="en-US" sz="1050" dirty="0"/>
          </a:p>
        </p:txBody>
      </p:sp>
      <p:sp>
        <p:nvSpPr>
          <p:cNvPr id="4" name="Texte 3 (li)"/>
          <p:cNvSpPr txBox="1"/>
          <p:nvPr/>
        </p:nvSpPr>
        <p:spPr>
          <a:xfrm>
            <a:off x="771525" y="6178748"/>
            <a:ext cx="2720727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MISSION, VISION, PROMESSE</a:t>
            </a:r>
            <a:endParaRPr lang="en-US" sz="750" dirty="0"/>
          </a:p>
        </p:txBody>
      </p:sp>
      <p:sp>
        <p:nvSpPr>
          <p:cNvPr id="5" name="Texte 4 (li)"/>
          <p:cNvSpPr txBox="1"/>
          <p:nvPr/>
        </p:nvSpPr>
        <p:spPr>
          <a:xfrm>
            <a:off x="3076873" y="6178748"/>
            <a:ext cx="928554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VALEURS</a:t>
            </a:r>
            <a:endParaRPr lang="en-US" sz="750" dirty="0"/>
          </a:p>
        </p:txBody>
      </p:sp>
      <p:sp>
        <p:nvSpPr>
          <p:cNvPr id="6" name="Texte 5 (li)"/>
          <p:cNvSpPr txBox="1"/>
          <p:nvPr/>
        </p:nvSpPr>
        <p:spPr>
          <a:xfrm>
            <a:off x="771525" y="6516886"/>
            <a:ext cx="2921362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PERSONNALITÉ &amp; TON DE VOIX</a:t>
            </a:r>
            <a:endParaRPr lang="en-US" sz="750" dirty="0"/>
          </a:p>
        </p:txBody>
      </p:sp>
      <p:sp>
        <p:nvSpPr>
          <p:cNvPr id="7" name="Texte 6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8" name="Texte 7 (pn)"/>
          <p:cNvSpPr txBox="1"/>
          <p:nvPr/>
        </p:nvSpPr>
        <p:spPr>
          <a:xfrm>
            <a:off x="9927729" y="7188994"/>
            <a:ext cx="296272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04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kicker)"/>
          <p:cNvSpPr txBox="1"/>
          <p:nvPr/>
        </p:nvSpPr>
        <p:spPr>
          <a:xfrm>
            <a:off x="609600" y="514350"/>
            <a:ext cx="3470062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01 — PLATEFORME DE MARQUE</a:t>
            </a:r>
            <a:endParaRPr lang="en-US" sz="750" dirty="0"/>
          </a:p>
        </p:txBody>
      </p:sp>
      <p:sp>
        <p:nvSpPr>
          <p:cNvPr id="3" name="Texte 2 (h2)"/>
          <p:cNvSpPr txBox="1"/>
          <p:nvPr/>
        </p:nvSpPr>
        <p:spPr>
          <a:xfrm>
            <a:off x="609600" y="719138"/>
            <a:ext cx="2172801" cy="40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LE CAP.</a:t>
            </a:r>
            <a:endParaRPr lang="en-US" sz="2550" dirty="0"/>
          </a:p>
        </p:txBody>
      </p:sp>
      <p:sp>
        <p:nvSpPr>
          <p:cNvPr id="4" name="Texte 3 (kicker)"/>
          <p:cNvSpPr txBox="1"/>
          <p:nvPr/>
        </p:nvSpPr>
        <p:spPr>
          <a:xfrm>
            <a:off x="857250" y="1582787"/>
            <a:ext cx="1017553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FA461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MISSION</a:t>
            </a:r>
            <a:endParaRPr lang="en-US" sz="750" dirty="0"/>
          </a:p>
        </p:txBody>
      </p:sp>
      <p:sp>
        <p:nvSpPr>
          <p:cNvPr id="5" name="Texte 4 (big-p)"/>
          <p:cNvSpPr txBox="1"/>
          <p:nvPr/>
        </p:nvSpPr>
        <p:spPr>
          <a:xfrm>
            <a:off x="857250" y="1816150"/>
            <a:ext cx="2554337" cy="1069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60" dirty="0">
                <a:solidFill>
                  <a:srgbClr val="11121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Amener chaque personne accompagnée au-delà de ce qu'elle pensait possible — avec méthode, exigence et bienveillance.</a:t>
            </a:r>
            <a:endParaRPr lang="en-US" sz="1160" dirty="0"/>
          </a:p>
        </p:txBody>
      </p:sp>
      <p:sp>
        <p:nvSpPr>
          <p:cNvPr id="6" name="Texte 5 (kicker)"/>
          <p:cNvSpPr txBox="1"/>
          <p:nvPr/>
        </p:nvSpPr>
        <p:spPr>
          <a:xfrm>
            <a:off x="4097387" y="1582787"/>
            <a:ext cx="846906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FA461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VISION</a:t>
            </a:r>
            <a:endParaRPr lang="en-US" sz="750" dirty="0"/>
          </a:p>
        </p:txBody>
      </p:sp>
      <p:sp>
        <p:nvSpPr>
          <p:cNvPr id="7" name="Texte 6 (big-p)"/>
          <p:cNvSpPr txBox="1"/>
          <p:nvPr/>
        </p:nvSpPr>
        <p:spPr>
          <a:xfrm>
            <a:off x="4097387" y="1816150"/>
            <a:ext cx="2554337" cy="855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60" dirty="0">
                <a:solidFill>
                  <a:srgbClr val="11121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Faire du sport un réflexe durable, pas une résolution de janvier. Un coaching qui transforme le corps </a:t>
            </a:r>
            <a:pPr algn="l" indent="0" marL="0">
              <a:lnSpc>
                <a:spcPts val="1690"/>
              </a:lnSpc>
              <a:buNone/>
            </a:pPr>
            <a:r>
              <a:rPr lang="en-US" sz="1160" i="1" dirty="0">
                <a:solidFill>
                  <a:srgbClr val="11121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et</a:t>
            </a:r>
            <a:pPr algn="l" indent="0" marL="0">
              <a:lnSpc>
                <a:spcPts val="1690"/>
              </a:lnSpc>
              <a:buNone/>
            </a:pPr>
            <a:r>
              <a:rPr lang="en-US" sz="1160" dirty="0">
                <a:solidFill>
                  <a:srgbClr val="11121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les habitudes.</a:t>
            </a:r>
            <a:endParaRPr lang="en-US" sz="1160" dirty="0"/>
          </a:p>
        </p:txBody>
      </p:sp>
      <p:sp>
        <p:nvSpPr>
          <p:cNvPr id="8" name="Texte 7 (kicker)"/>
          <p:cNvSpPr txBox="1"/>
          <p:nvPr/>
        </p:nvSpPr>
        <p:spPr>
          <a:xfrm>
            <a:off x="7337524" y="1582787"/>
            <a:ext cx="1281261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FA461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PROMESSE</a:t>
            </a:r>
            <a:endParaRPr lang="en-US" sz="750" dirty="0"/>
          </a:p>
        </p:txBody>
      </p:sp>
      <p:sp>
        <p:nvSpPr>
          <p:cNvPr id="9" name="Texte 8 (big-p)"/>
          <p:cNvSpPr txBox="1"/>
          <p:nvPr/>
        </p:nvSpPr>
        <p:spPr>
          <a:xfrm>
            <a:off x="7337524" y="1816150"/>
            <a:ext cx="2554337" cy="641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60" dirty="0">
                <a:solidFill>
                  <a:srgbClr val="11121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 cap clair, un suivi précis, des progrès mesurables à chaque étape.</a:t>
            </a:r>
            <a:endParaRPr lang="en-US" sz="1160" dirty="0"/>
          </a:p>
        </p:txBody>
      </p:sp>
      <p:sp>
        <p:nvSpPr>
          <p:cNvPr id="10" name="Texte 9 (kicker)"/>
          <p:cNvSpPr txBox="1"/>
          <p:nvPr/>
        </p:nvSpPr>
        <p:spPr>
          <a:xfrm>
            <a:off x="933450" y="3657749"/>
            <a:ext cx="2698090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SIGNATURE DE MARQUE</a:t>
            </a:r>
            <a:endParaRPr lang="en-US" sz="750" dirty="0"/>
          </a:p>
        </p:txBody>
      </p:sp>
      <p:sp>
        <p:nvSpPr>
          <p:cNvPr id="11" name="Texte 10 (signature)"/>
          <p:cNvSpPr txBox="1"/>
          <p:nvPr/>
        </p:nvSpPr>
        <p:spPr>
          <a:xfrm>
            <a:off x="933450" y="3862536"/>
            <a:ext cx="4029715" cy="401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VISE PLUS HAUT.</a:t>
            </a:r>
            <a:endParaRPr lang="en-US" sz="2550" dirty="0"/>
          </a:p>
        </p:txBody>
      </p:sp>
      <p:sp>
        <p:nvSpPr>
          <p:cNvPr id="12" name="Texte 11 (p)"/>
          <p:cNvSpPr txBox="1"/>
          <p:nvPr/>
        </p:nvSpPr>
        <p:spPr>
          <a:xfrm>
            <a:off x="5067300" y="3665934"/>
            <a:ext cx="4748361" cy="52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C7C9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Trois mots qui prolongent le symbole : une trajectoire qui monte. Elle s'emploie en fin de message, en accroche de campagne ou sous le logo dans les grands formats — jamais modifiée, jamais traduite.</a:t>
            </a:r>
            <a:endParaRPr lang="en-US" sz="900" dirty="0"/>
          </a:p>
        </p:txBody>
      </p:sp>
      <p:sp>
        <p:nvSpPr>
          <p:cNvPr id="13" name="Texte 12 (kicker)"/>
          <p:cNvSpPr txBox="1"/>
          <p:nvPr/>
        </p:nvSpPr>
        <p:spPr>
          <a:xfrm>
            <a:off x="609600" y="4776936"/>
            <a:ext cx="1025485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PUBLICS</a:t>
            </a:r>
            <a:endParaRPr lang="en-US" sz="750" dirty="0"/>
          </a:p>
        </p:txBody>
      </p:sp>
      <p:sp>
        <p:nvSpPr>
          <p:cNvPr id="14" name="Texte 13 (p)"/>
          <p:cNvSpPr txBox="1"/>
          <p:nvPr/>
        </p:nvSpPr>
        <p:spPr>
          <a:xfrm>
            <a:off x="609600" y="5010299"/>
            <a:ext cx="3049637" cy="498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Particuliers actifs de 25 à 55 ans (remise en forme, perte de poids, force) · sportifs amateurs préparant un objectif · entreprises et petits groupes.</a:t>
            </a:r>
            <a:endParaRPr lang="en-US" sz="860" dirty="0"/>
          </a:p>
        </p:txBody>
      </p:sp>
      <p:sp>
        <p:nvSpPr>
          <p:cNvPr id="15" name="Texte 14 (kicker)"/>
          <p:cNvSpPr txBox="1"/>
          <p:nvPr/>
        </p:nvSpPr>
        <p:spPr>
          <a:xfrm>
            <a:off x="3849737" y="4776936"/>
            <a:ext cx="811307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OFFRE</a:t>
            </a:r>
            <a:endParaRPr lang="en-US" sz="750" dirty="0"/>
          </a:p>
        </p:txBody>
      </p:sp>
      <p:sp>
        <p:nvSpPr>
          <p:cNvPr id="16" name="Texte 15 (p)"/>
          <p:cNvSpPr txBox="1"/>
          <p:nvPr/>
        </p:nvSpPr>
        <p:spPr>
          <a:xfrm>
            <a:off x="3849737" y="5010299"/>
            <a:ext cx="3049637" cy="32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Coaching individuel · small group training · préparation physique · programmes et suivi à distance.</a:t>
            </a:r>
            <a:endParaRPr lang="en-US" sz="860" dirty="0"/>
          </a:p>
        </p:txBody>
      </p:sp>
      <p:sp>
        <p:nvSpPr>
          <p:cNvPr id="17" name="Texte 16 (kicker)"/>
          <p:cNvSpPr txBox="1"/>
          <p:nvPr/>
        </p:nvSpPr>
        <p:spPr>
          <a:xfrm>
            <a:off x="7089874" y="4776936"/>
            <a:ext cx="2042011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POSITIONNEMENT</a:t>
            </a:r>
            <a:endParaRPr lang="en-US" sz="750" dirty="0"/>
          </a:p>
        </p:txBody>
      </p:sp>
      <p:sp>
        <p:nvSpPr>
          <p:cNvPr id="18" name="Texte 17 (p)"/>
          <p:cNvSpPr txBox="1"/>
          <p:nvPr/>
        </p:nvSpPr>
        <p:spPr>
          <a:xfrm>
            <a:off x="7089874" y="5010299"/>
            <a:ext cx="3049637" cy="32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mais accessible : l'exigence d'un préparateur physique, la proximité d'un coach personnel.</a:t>
            </a:r>
            <a:endParaRPr lang="en-US" sz="860" dirty="0"/>
          </a:p>
        </p:txBody>
      </p:sp>
      <p:sp>
        <p:nvSpPr>
          <p:cNvPr id="19" name="Texte 18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20" name="Texte 19 (span)"/>
          <p:cNvSpPr txBox="1"/>
          <p:nvPr/>
        </p:nvSpPr>
        <p:spPr>
          <a:xfrm>
            <a:off x="5973961" y="7188994"/>
            <a:ext cx="2284244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PLATEFORME DE MARQUE</a:t>
            </a:r>
            <a:endParaRPr lang="en-US" sz="680" dirty="0"/>
          </a:p>
        </p:txBody>
      </p:sp>
      <p:sp>
        <p:nvSpPr>
          <p:cNvPr id="21" name="Texte 20 (pn)"/>
          <p:cNvSpPr txBox="1"/>
          <p:nvPr/>
        </p:nvSpPr>
        <p:spPr>
          <a:xfrm>
            <a:off x="9926241" y="7188994"/>
            <a:ext cx="298207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05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kicker)"/>
          <p:cNvSpPr txBox="1"/>
          <p:nvPr/>
        </p:nvSpPr>
        <p:spPr>
          <a:xfrm>
            <a:off x="609600" y="514350"/>
            <a:ext cx="3470062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01 — PLATEFORME DE MARQUE</a:t>
            </a:r>
            <a:endParaRPr lang="en-US" sz="750" dirty="0"/>
          </a:p>
        </p:txBody>
      </p:sp>
      <p:sp>
        <p:nvSpPr>
          <p:cNvPr id="3" name="Texte 2 (h2)"/>
          <p:cNvSpPr txBox="1"/>
          <p:nvPr/>
        </p:nvSpPr>
        <p:spPr>
          <a:xfrm>
            <a:off x="609600" y="719138"/>
            <a:ext cx="5267459" cy="40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QUATRE VALEURS.</a:t>
            </a:r>
            <a:endParaRPr lang="en-US" sz="2550" dirty="0"/>
          </a:p>
        </p:txBody>
      </p:sp>
      <p:sp>
        <p:nvSpPr>
          <p:cNvPr id="4" name="Texte 3 (intro)"/>
          <p:cNvSpPr txBox="1"/>
          <p:nvPr/>
        </p:nvSpPr>
        <p:spPr>
          <a:xfrm>
            <a:off x="609600" y="1201787"/>
            <a:ext cx="5982132" cy="181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Elles guident les décisions — du choix d'une photo à la manière de répondre à un message.</a:t>
            </a:r>
            <a:endParaRPr lang="en-US" sz="980" dirty="0"/>
          </a:p>
        </p:txBody>
      </p:sp>
      <p:sp>
        <p:nvSpPr>
          <p:cNvPr id="5" name="Texte 4 (v-n)"/>
          <p:cNvSpPr txBox="1"/>
          <p:nvPr/>
        </p:nvSpPr>
        <p:spPr>
          <a:xfrm>
            <a:off x="838200" y="1841302"/>
            <a:ext cx="1093723" cy="748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e 5 (h3)"/>
          <p:cNvSpPr txBox="1"/>
          <p:nvPr/>
        </p:nvSpPr>
        <p:spPr>
          <a:xfrm>
            <a:off x="838200" y="2908102"/>
            <a:ext cx="1648093" cy="230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350" b="1" spc="27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EXIGENCE</a:t>
            </a:r>
            <a:endParaRPr lang="en-US" sz="1350" dirty="0"/>
          </a:p>
        </p:txBody>
      </p:sp>
      <p:sp>
        <p:nvSpPr>
          <p:cNvPr id="7" name="Texte 6 (p)"/>
          <p:cNvSpPr txBox="1"/>
          <p:nvPr/>
        </p:nvSpPr>
        <p:spPr>
          <a:xfrm>
            <a:off x="838200" y="3221385"/>
            <a:ext cx="1810941" cy="78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01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séance a un objectif. Chaque exercice a une raison. Le travail bien fait, sans raccourci.</a:t>
            </a:r>
            <a:endParaRPr lang="en-US" sz="1010" dirty="0"/>
          </a:p>
        </p:txBody>
      </p:sp>
      <p:sp>
        <p:nvSpPr>
          <p:cNvPr id="8" name="Texte 7 (v-n)"/>
          <p:cNvSpPr txBox="1"/>
          <p:nvPr/>
        </p:nvSpPr>
        <p:spPr>
          <a:xfrm>
            <a:off x="3258741" y="1841302"/>
            <a:ext cx="1147420" cy="748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e 8 (h3)"/>
          <p:cNvSpPr txBox="1"/>
          <p:nvPr/>
        </p:nvSpPr>
        <p:spPr>
          <a:xfrm>
            <a:off x="3258741" y="2908102"/>
            <a:ext cx="2298174" cy="230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350" b="1" spc="27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PROGRESSION</a:t>
            </a:r>
            <a:endParaRPr lang="en-US" sz="1350" dirty="0"/>
          </a:p>
        </p:txBody>
      </p:sp>
      <p:sp>
        <p:nvSpPr>
          <p:cNvPr id="10" name="Texte 9 (p)"/>
          <p:cNvSpPr txBox="1"/>
          <p:nvPr/>
        </p:nvSpPr>
        <p:spPr>
          <a:xfrm>
            <a:off x="3258741" y="3221385"/>
            <a:ext cx="1810941" cy="58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01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mesure, on ajuste, on avance. Le progrès se voit, se chiffre et se célèbre.</a:t>
            </a:r>
            <a:endParaRPr lang="en-US" sz="1010" dirty="0"/>
          </a:p>
        </p:txBody>
      </p:sp>
      <p:sp>
        <p:nvSpPr>
          <p:cNvPr id="11" name="Texte 10 (v-n)"/>
          <p:cNvSpPr txBox="1"/>
          <p:nvPr/>
        </p:nvSpPr>
        <p:spPr>
          <a:xfrm>
            <a:off x="5679281" y="1841302"/>
            <a:ext cx="1151513" cy="748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03</a:t>
            </a:r>
            <a:endParaRPr lang="en-US" sz="4800" dirty="0"/>
          </a:p>
        </p:txBody>
      </p:sp>
      <p:sp>
        <p:nvSpPr>
          <p:cNvPr id="12" name="Texte 11 (h3)"/>
          <p:cNvSpPr txBox="1"/>
          <p:nvPr/>
        </p:nvSpPr>
        <p:spPr>
          <a:xfrm>
            <a:off x="5679281" y="2908102"/>
            <a:ext cx="2235294" cy="230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350" b="1" spc="27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ENGAGEMENT</a:t>
            </a:r>
            <a:endParaRPr lang="en-US" sz="1350" dirty="0"/>
          </a:p>
        </p:txBody>
      </p:sp>
      <p:sp>
        <p:nvSpPr>
          <p:cNvPr id="13" name="Texte 12 (p)"/>
          <p:cNvSpPr txBox="1"/>
          <p:nvPr/>
        </p:nvSpPr>
        <p:spPr>
          <a:xfrm>
            <a:off x="5679281" y="3221385"/>
            <a:ext cx="1810941" cy="78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01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Présent, ponctuel, impliqué. Le coach s'engage autant que la personne accompagnée.</a:t>
            </a:r>
            <a:endParaRPr lang="en-US" sz="1010" dirty="0"/>
          </a:p>
        </p:txBody>
      </p:sp>
      <p:sp>
        <p:nvSpPr>
          <p:cNvPr id="14" name="Texte 13 (v-n)"/>
          <p:cNvSpPr txBox="1"/>
          <p:nvPr/>
        </p:nvSpPr>
        <p:spPr>
          <a:xfrm>
            <a:off x="8099822" y="1841302"/>
            <a:ext cx="1146111" cy="748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04</a:t>
            </a:r>
            <a:endParaRPr lang="en-US" sz="4800" dirty="0"/>
          </a:p>
        </p:txBody>
      </p:sp>
      <p:sp>
        <p:nvSpPr>
          <p:cNvPr id="15" name="Texte 14 (h3)"/>
          <p:cNvSpPr txBox="1"/>
          <p:nvPr/>
        </p:nvSpPr>
        <p:spPr>
          <a:xfrm>
            <a:off x="8099822" y="2908102"/>
            <a:ext cx="1737092" cy="230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350" b="1" spc="27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PROXIMITÉ</a:t>
            </a:r>
            <a:endParaRPr lang="en-US" sz="1350" dirty="0"/>
          </a:p>
        </p:txBody>
      </p:sp>
      <p:sp>
        <p:nvSpPr>
          <p:cNvPr id="16" name="Texte 15 (p)"/>
          <p:cNvSpPr txBox="1"/>
          <p:nvPr/>
        </p:nvSpPr>
        <p:spPr>
          <a:xfrm>
            <a:off x="8099822" y="3221385"/>
            <a:ext cx="1811089" cy="78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01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Écouter avant de prescrire. Un accompagnement humain, adapté à la vie réelle de chacun.</a:t>
            </a:r>
            <a:endParaRPr lang="en-US" sz="1010" dirty="0"/>
          </a:p>
        </p:txBody>
      </p:sp>
      <p:sp>
        <p:nvSpPr>
          <p:cNvPr id="17" name="Texte 16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18" name="Texte 17 (span)"/>
          <p:cNvSpPr txBox="1"/>
          <p:nvPr/>
        </p:nvSpPr>
        <p:spPr>
          <a:xfrm>
            <a:off x="6518821" y="7188994"/>
            <a:ext cx="867028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VALEURS</a:t>
            </a:r>
            <a:endParaRPr lang="en-US" sz="680" dirty="0"/>
          </a:p>
        </p:txBody>
      </p:sp>
      <p:sp>
        <p:nvSpPr>
          <p:cNvPr id="19" name="Texte 18 (pn)"/>
          <p:cNvSpPr txBox="1"/>
          <p:nvPr/>
        </p:nvSpPr>
        <p:spPr>
          <a:xfrm>
            <a:off x="9925943" y="7188994"/>
            <a:ext cx="298594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06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kicker)"/>
          <p:cNvSpPr txBox="1"/>
          <p:nvPr/>
        </p:nvSpPr>
        <p:spPr>
          <a:xfrm>
            <a:off x="609600" y="514350"/>
            <a:ext cx="3470062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01 — PLATEFORME DE MARQUE</a:t>
            </a:r>
            <a:endParaRPr lang="en-US" sz="750" dirty="0"/>
          </a:p>
        </p:txBody>
      </p:sp>
      <p:sp>
        <p:nvSpPr>
          <p:cNvPr id="3" name="Texte 2 (h2)"/>
          <p:cNvSpPr txBox="1"/>
          <p:nvPr/>
        </p:nvSpPr>
        <p:spPr>
          <a:xfrm>
            <a:off x="609600" y="719138"/>
            <a:ext cx="8848517" cy="40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PERSONNALITÉ &amp; TON DE VOIX.</a:t>
            </a:r>
            <a:endParaRPr lang="en-US" sz="2550" dirty="0"/>
          </a:p>
        </p:txBody>
      </p:sp>
      <p:sp>
        <p:nvSpPr>
          <p:cNvPr id="4" name="Texte 3 (span)"/>
          <p:cNvSpPr txBox="1"/>
          <p:nvPr/>
        </p:nvSpPr>
        <p:spPr>
          <a:xfrm>
            <a:off x="742950" y="1411337"/>
            <a:ext cx="865480" cy="15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b="1" spc="54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DIRECT</a:t>
            </a:r>
            <a:endParaRPr lang="en-US" sz="900" dirty="0"/>
          </a:p>
        </p:txBody>
      </p:sp>
      <p:sp>
        <p:nvSpPr>
          <p:cNvPr id="5" name="Texte 4 (span)"/>
          <p:cNvSpPr txBox="1"/>
          <p:nvPr/>
        </p:nvSpPr>
        <p:spPr>
          <a:xfrm>
            <a:off x="1678335" y="1411337"/>
            <a:ext cx="1182782" cy="15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b="1" spc="54" kern="0" dirty="0">
                <a:solidFill>
                  <a:srgbClr val="FFFFFF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MOTIVANT</a:t>
            </a:r>
            <a:endParaRPr lang="en-US" sz="900" dirty="0"/>
          </a:p>
        </p:txBody>
      </p:sp>
      <p:sp>
        <p:nvSpPr>
          <p:cNvPr id="6" name="Texte 5 (span)"/>
          <p:cNvSpPr txBox="1"/>
          <p:nvPr/>
        </p:nvSpPr>
        <p:spPr>
          <a:xfrm>
            <a:off x="2857798" y="1411337"/>
            <a:ext cx="862965" cy="15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b="1" spc="54" kern="0" dirty="0">
                <a:solidFill>
                  <a:srgbClr val="FFFFFF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PRÉCIS</a:t>
            </a:r>
            <a:endParaRPr lang="en-US" sz="900" dirty="0"/>
          </a:p>
        </p:txBody>
      </p:sp>
      <p:sp>
        <p:nvSpPr>
          <p:cNvPr id="7" name="Texte 6 (span)"/>
          <p:cNvSpPr txBox="1"/>
          <p:nvPr/>
        </p:nvSpPr>
        <p:spPr>
          <a:xfrm>
            <a:off x="3791248" y="1411337"/>
            <a:ext cx="1596241" cy="15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b="1" spc="54" kern="0" dirty="0">
                <a:solidFill>
                  <a:srgbClr val="FFFFFF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BIENVEILLANT</a:t>
            </a:r>
            <a:endParaRPr lang="en-US" sz="900" dirty="0"/>
          </a:p>
        </p:txBody>
      </p:sp>
      <p:sp>
        <p:nvSpPr>
          <p:cNvPr id="8" name="Texte 7 (span)"/>
          <p:cNvSpPr txBox="1"/>
          <p:nvPr/>
        </p:nvSpPr>
        <p:spPr>
          <a:xfrm>
            <a:off x="742950" y="1817043"/>
            <a:ext cx="1339691" cy="15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b="1" spc="54" kern="0" dirty="0">
                <a:solidFill>
                  <a:srgbClr val="FFFFFF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ÉNERGIQUE</a:t>
            </a:r>
            <a:endParaRPr lang="en-US" sz="900" dirty="0"/>
          </a:p>
        </p:txBody>
      </p:sp>
      <p:sp>
        <p:nvSpPr>
          <p:cNvPr id="9" name="Texte 8 (th)"/>
          <p:cNvSpPr txBox="1"/>
          <p:nvPr/>
        </p:nvSpPr>
        <p:spPr>
          <a:xfrm>
            <a:off x="609600" y="2394198"/>
            <a:ext cx="1768242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b="1" spc="105" kern="0" dirty="0">
                <a:solidFill>
                  <a:srgbClr val="5D6066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LA MARQUE EST…</a:t>
            </a:r>
            <a:endParaRPr lang="en-US" sz="750" dirty="0"/>
          </a:p>
        </p:txBody>
      </p:sp>
      <p:sp>
        <p:nvSpPr>
          <p:cNvPr id="10" name="Texte 9 (th)"/>
          <p:cNvSpPr txBox="1"/>
          <p:nvPr/>
        </p:nvSpPr>
        <p:spPr>
          <a:xfrm>
            <a:off x="2970163" y="2394198"/>
            <a:ext cx="1740768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b="1" spc="105" kern="0" dirty="0">
                <a:solidFill>
                  <a:srgbClr val="5D6066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…MAIS N'EST PAS</a:t>
            </a:r>
            <a:endParaRPr lang="en-US" sz="750" dirty="0"/>
          </a:p>
        </p:txBody>
      </p:sp>
      <p:sp>
        <p:nvSpPr>
          <p:cNvPr id="11" name="Texte 10 (td)"/>
          <p:cNvSpPr txBox="1"/>
          <p:nvPr/>
        </p:nvSpPr>
        <p:spPr>
          <a:xfrm>
            <a:off x="609600" y="2722811"/>
            <a:ext cx="549384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Directe</a:t>
            </a:r>
            <a:endParaRPr lang="en-US" sz="940" dirty="0"/>
          </a:p>
        </p:txBody>
      </p:sp>
      <p:sp>
        <p:nvSpPr>
          <p:cNvPr id="12" name="Texte 11 (td)"/>
          <p:cNvSpPr txBox="1"/>
          <p:nvPr/>
        </p:nvSpPr>
        <p:spPr>
          <a:xfrm>
            <a:off x="2970163" y="2722811"/>
            <a:ext cx="532849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strike="sngStrike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Brutale</a:t>
            </a:r>
            <a:endParaRPr lang="en-US" sz="940" dirty="0"/>
          </a:p>
        </p:txBody>
      </p:sp>
      <p:sp>
        <p:nvSpPr>
          <p:cNvPr id="13" name="Texte 12 (td)"/>
          <p:cNvSpPr txBox="1"/>
          <p:nvPr/>
        </p:nvSpPr>
        <p:spPr>
          <a:xfrm>
            <a:off x="609600" y="3088332"/>
            <a:ext cx="729957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Motivante</a:t>
            </a:r>
            <a:endParaRPr lang="en-US" sz="940" dirty="0"/>
          </a:p>
        </p:txBody>
      </p:sp>
      <p:sp>
        <p:nvSpPr>
          <p:cNvPr id="14" name="Texte 13 (td)"/>
          <p:cNvSpPr txBox="1"/>
          <p:nvPr/>
        </p:nvSpPr>
        <p:spPr>
          <a:xfrm>
            <a:off x="2970163" y="3088332"/>
            <a:ext cx="968484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strike="sngStrike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Culpabilisante</a:t>
            </a:r>
            <a:endParaRPr lang="en-US" sz="940" dirty="0"/>
          </a:p>
        </p:txBody>
      </p:sp>
      <p:sp>
        <p:nvSpPr>
          <p:cNvPr id="15" name="Texte 14 (td)"/>
          <p:cNvSpPr txBox="1"/>
          <p:nvPr/>
        </p:nvSpPr>
        <p:spPr>
          <a:xfrm>
            <a:off x="609600" y="3453854"/>
            <a:ext cx="721772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Exigeante</a:t>
            </a:r>
            <a:endParaRPr lang="en-US" sz="940" dirty="0"/>
          </a:p>
        </p:txBody>
      </p:sp>
      <p:sp>
        <p:nvSpPr>
          <p:cNvPr id="16" name="Texte 15 (td)"/>
          <p:cNvSpPr txBox="1"/>
          <p:nvPr/>
        </p:nvSpPr>
        <p:spPr>
          <a:xfrm>
            <a:off x="2970163" y="3453854"/>
            <a:ext cx="499125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strike="sngStrike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Élitiste</a:t>
            </a:r>
            <a:endParaRPr lang="en-US" sz="940" dirty="0"/>
          </a:p>
        </p:txBody>
      </p:sp>
      <p:sp>
        <p:nvSpPr>
          <p:cNvPr id="17" name="Texte 16 (td)"/>
          <p:cNvSpPr txBox="1"/>
          <p:nvPr/>
        </p:nvSpPr>
        <p:spPr>
          <a:xfrm>
            <a:off x="609600" y="3819376"/>
            <a:ext cx="736833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Énergique</a:t>
            </a:r>
            <a:endParaRPr lang="en-US" sz="940" dirty="0"/>
          </a:p>
        </p:txBody>
      </p:sp>
      <p:sp>
        <p:nvSpPr>
          <p:cNvPr id="18" name="Texte 17 (td)"/>
          <p:cNvSpPr txBox="1"/>
          <p:nvPr/>
        </p:nvSpPr>
        <p:spPr>
          <a:xfrm>
            <a:off x="2970163" y="3819376"/>
            <a:ext cx="1155933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strike="sngStrike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Agitée ou criarde</a:t>
            </a:r>
            <a:endParaRPr lang="en-US" sz="940" dirty="0"/>
          </a:p>
        </p:txBody>
      </p:sp>
      <p:sp>
        <p:nvSpPr>
          <p:cNvPr id="19" name="Texte 18 (td)"/>
          <p:cNvSpPr txBox="1"/>
          <p:nvPr/>
        </p:nvSpPr>
        <p:spPr>
          <a:xfrm>
            <a:off x="609600" y="4184898"/>
            <a:ext cx="585073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Experte</a:t>
            </a:r>
            <a:endParaRPr lang="en-US" sz="940" dirty="0"/>
          </a:p>
        </p:txBody>
      </p:sp>
      <p:sp>
        <p:nvSpPr>
          <p:cNvPr id="20" name="Texte 19 (td)"/>
          <p:cNvSpPr txBox="1"/>
          <p:nvPr/>
        </p:nvSpPr>
        <p:spPr>
          <a:xfrm>
            <a:off x="2970163" y="4184898"/>
            <a:ext cx="903655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strike="sngStrike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Jargonneuse</a:t>
            </a:r>
            <a:endParaRPr lang="en-US" sz="940" dirty="0"/>
          </a:p>
        </p:txBody>
      </p:sp>
      <p:sp>
        <p:nvSpPr>
          <p:cNvPr id="21" name="Texte 20 (kicker)"/>
          <p:cNvSpPr txBox="1"/>
          <p:nvPr/>
        </p:nvSpPr>
        <p:spPr>
          <a:xfrm>
            <a:off x="5825430" y="1335137"/>
            <a:ext cx="2649915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PRINCIPES D'ÉCRITURE</a:t>
            </a:r>
            <a:endParaRPr lang="en-US" sz="750" dirty="0"/>
          </a:p>
        </p:txBody>
      </p:sp>
      <p:sp>
        <p:nvSpPr>
          <p:cNvPr id="22" name="Texte 21 (li)"/>
          <p:cNvSpPr txBox="1"/>
          <p:nvPr/>
        </p:nvSpPr>
        <p:spPr>
          <a:xfrm>
            <a:off x="6034980" y="1635175"/>
            <a:ext cx="3989606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Phrases courtes. Verbes d'action. Un message par publication.</a:t>
            </a:r>
            <a:endParaRPr lang="en-US" sz="940" dirty="0"/>
          </a:p>
        </p:txBody>
      </p:sp>
      <p:sp>
        <p:nvSpPr>
          <p:cNvPr id="23" name="Texte 22 (li)"/>
          <p:cNvSpPr txBox="1"/>
          <p:nvPr/>
        </p:nvSpPr>
        <p:spPr>
          <a:xfrm>
            <a:off x="6034980" y="1934021"/>
            <a:ext cx="4104531" cy="35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 faits concrets plutôt que des superlatifs : séries, semaines, kilos, minutes.</a:t>
            </a:r>
            <a:endParaRPr lang="en-US" sz="940" dirty="0"/>
          </a:p>
        </p:txBody>
      </p:sp>
      <p:sp>
        <p:nvSpPr>
          <p:cNvPr id="24" name="Texte 23 (li)"/>
          <p:cNvSpPr txBox="1"/>
          <p:nvPr/>
        </p:nvSpPr>
        <p:spPr>
          <a:xfrm>
            <a:off x="6034980" y="2417415"/>
            <a:ext cx="4104531" cy="35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Tutoiement sur les réseaux sociaux ; vouvoiement pour les entreprises et les devis.</a:t>
            </a:r>
            <a:endParaRPr lang="en-US" sz="940" dirty="0"/>
          </a:p>
        </p:txBody>
      </p:sp>
      <p:sp>
        <p:nvSpPr>
          <p:cNvPr id="25" name="Texte 24 (li)"/>
          <p:cNvSpPr txBox="1"/>
          <p:nvPr/>
        </p:nvSpPr>
        <p:spPr>
          <a:xfrm>
            <a:off x="6034980" y="2900809"/>
            <a:ext cx="3425949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emoji maximum par message, jamais dans un titre.</a:t>
            </a:r>
            <a:endParaRPr lang="en-US" sz="940" dirty="0"/>
          </a:p>
        </p:txBody>
      </p:sp>
      <p:sp>
        <p:nvSpPr>
          <p:cNvPr id="26" name="Texte 25 (b)"/>
          <p:cNvSpPr txBox="1"/>
          <p:nvPr/>
        </p:nvSpPr>
        <p:spPr>
          <a:xfrm>
            <a:off x="6034980" y="3409206"/>
            <a:ext cx="914817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105" kern="0" dirty="0">
                <a:solidFill>
                  <a:srgbClr val="18803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pPr algn="l" indent="0" marL="0">
              <a:lnSpc>
                <a:spcPts val="1160"/>
              </a:lnSpc>
              <a:buNone/>
            </a:pPr>
            <a:r>
              <a:rPr lang="en-US" sz="750" spc="105" kern="0" dirty="0">
                <a:solidFill>
                  <a:srgbClr val="18803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 À DIRE</a:t>
            </a:r>
            <a:endParaRPr lang="en-US" sz="750" dirty="0"/>
          </a:p>
        </p:txBody>
      </p:sp>
      <p:sp>
        <p:nvSpPr>
          <p:cNvPr id="27" name="Texte 26 (say)"/>
          <p:cNvSpPr txBox="1"/>
          <p:nvPr/>
        </p:nvSpPr>
        <p:spPr>
          <a:xfrm>
            <a:off x="5996880" y="3594943"/>
            <a:ext cx="3971181" cy="373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Trois séances par semaine, douze semaines, un objectif. On commence lundi ? »</a:t>
            </a:r>
            <a:endParaRPr lang="en-US" sz="980" dirty="0"/>
          </a:p>
        </p:txBody>
      </p:sp>
      <p:sp>
        <p:nvSpPr>
          <p:cNvPr id="28" name="Texte 27 (b)"/>
          <p:cNvSpPr txBox="1"/>
          <p:nvPr/>
        </p:nvSpPr>
        <p:spPr>
          <a:xfrm>
            <a:off x="6034980" y="4340572"/>
            <a:ext cx="1143119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105" kern="0" dirty="0">
                <a:solidFill>
                  <a:srgbClr val="FA461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pPr algn="l" indent="0" marL="0">
              <a:lnSpc>
                <a:spcPts val="1160"/>
              </a:lnSpc>
              <a:buNone/>
            </a:pPr>
            <a:r>
              <a:rPr lang="en-US" sz="750" spc="105" kern="0" dirty="0">
                <a:solidFill>
                  <a:srgbClr val="FA461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 À ÉVITER</a:t>
            </a:r>
            <a:endParaRPr lang="en-US" sz="750" dirty="0"/>
          </a:p>
        </p:txBody>
      </p:sp>
      <p:sp>
        <p:nvSpPr>
          <p:cNvPr id="29" name="Texte 28 (say)"/>
          <p:cNvSpPr txBox="1"/>
          <p:nvPr/>
        </p:nvSpPr>
        <p:spPr>
          <a:xfrm>
            <a:off x="6034980" y="4526310"/>
            <a:ext cx="3623712" cy="181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NO PAIN NO GAIN !!! 💪🔥🔥 Deviens une machine »</a:t>
            </a:r>
            <a:endParaRPr lang="en-US" sz="980" dirty="0"/>
          </a:p>
        </p:txBody>
      </p:sp>
      <p:sp>
        <p:nvSpPr>
          <p:cNvPr id="30" name="Texte 29 (kicker)"/>
          <p:cNvSpPr txBox="1"/>
          <p:nvPr/>
        </p:nvSpPr>
        <p:spPr>
          <a:xfrm>
            <a:off x="609600" y="5261074"/>
            <a:ext cx="1355943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INSTAGRAM</a:t>
            </a:r>
            <a:endParaRPr lang="en-US" sz="750" dirty="0"/>
          </a:p>
        </p:txBody>
      </p:sp>
      <p:sp>
        <p:nvSpPr>
          <p:cNvPr id="31" name="Texte 30 (p)"/>
          <p:cNvSpPr txBox="1"/>
          <p:nvPr/>
        </p:nvSpPr>
        <p:spPr>
          <a:xfrm>
            <a:off x="609600" y="5494437"/>
            <a:ext cx="3074938" cy="346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4 semaines de travail, +20 kg au squat. Fier de toi, Karim. Prochaine étape : 100 kg. »</a:t>
            </a:r>
            <a:endParaRPr lang="en-US" sz="900" dirty="0"/>
          </a:p>
        </p:txBody>
      </p:sp>
      <p:sp>
        <p:nvSpPr>
          <p:cNvPr id="32" name="Texte 31 (kicker)"/>
          <p:cNvSpPr txBox="1"/>
          <p:nvPr/>
        </p:nvSpPr>
        <p:spPr>
          <a:xfrm>
            <a:off x="3836938" y="5261074"/>
            <a:ext cx="1991901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MESSAGE CLIENT</a:t>
            </a:r>
            <a:endParaRPr lang="en-US" sz="750" dirty="0"/>
          </a:p>
        </p:txBody>
      </p:sp>
      <p:sp>
        <p:nvSpPr>
          <p:cNvPr id="33" name="Texte 32 (p)"/>
          <p:cNvSpPr txBox="1"/>
          <p:nvPr/>
        </p:nvSpPr>
        <p:spPr>
          <a:xfrm>
            <a:off x="3836938" y="5494437"/>
            <a:ext cx="3075087" cy="346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Séance de demain décalée à 18 h. On garde le même programme, prévois de l'eau. »</a:t>
            </a:r>
            <a:endParaRPr lang="en-US" sz="900" dirty="0"/>
          </a:p>
        </p:txBody>
      </p:sp>
      <p:sp>
        <p:nvSpPr>
          <p:cNvPr id="34" name="Texte 33 (kicker)"/>
          <p:cNvSpPr txBox="1"/>
          <p:nvPr/>
        </p:nvSpPr>
        <p:spPr>
          <a:xfrm>
            <a:off x="7064425" y="5261074"/>
            <a:ext cx="1466031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ENTREPRISE</a:t>
            </a:r>
            <a:endParaRPr lang="en-US" sz="750" dirty="0"/>
          </a:p>
        </p:txBody>
      </p:sp>
      <p:sp>
        <p:nvSpPr>
          <p:cNvPr id="35" name="Texte 34 (p)"/>
          <p:cNvSpPr txBox="1"/>
          <p:nvPr/>
        </p:nvSpPr>
        <p:spPr>
          <a:xfrm>
            <a:off x="7064425" y="5494437"/>
            <a:ext cx="3074938" cy="346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Nous proposons un programme de 8 semaines pour vos équipes, adapté à tous les niveaux. »</a:t>
            </a:r>
            <a:endParaRPr lang="en-US" sz="900" dirty="0"/>
          </a:p>
        </p:txBody>
      </p:sp>
      <p:sp>
        <p:nvSpPr>
          <p:cNvPr id="36" name="Texte 35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37" name="Texte 36 (span)"/>
          <p:cNvSpPr txBox="1"/>
          <p:nvPr/>
        </p:nvSpPr>
        <p:spPr>
          <a:xfrm>
            <a:off x="6097786" y="7188994"/>
            <a:ext cx="1969651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PERSONNALITÉ &amp; TON</a:t>
            </a:r>
            <a:endParaRPr lang="en-US" sz="680" dirty="0"/>
          </a:p>
        </p:txBody>
      </p:sp>
      <p:sp>
        <p:nvSpPr>
          <p:cNvPr id="38" name="Texte 37 (pn)"/>
          <p:cNvSpPr txBox="1"/>
          <p:nvPr/>
        </p:nvSpPr>
        <p:spPr>
          <a:xfrm>
            <a:off x="9931896" y="7188994"/>
            <a:ext cx="290855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07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h1)"/>
          <p:cNvSpPr txBox="1"/>
          <p:nvPr/>
        </p:nvSpPr>
        <p:spPr>
          <a:xfrm>
            <a:off x="666750" y="4606379"/>
            <a:ext cx="2526194" cy="72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LOGO</a:t>
            </a:r>
            <a:endParaRPr lang="en-US" sz="4650" dirty="0"/>
          </a:p>
        </p:txBody>
      </p:sp>
      <p:sp>
        <p:nvSpPr>
          <p:cNvPr id="3" name="Texte 2 (p)"/>
          <p:cNvSpPr txBox="1"/>
          <p:nvPr/>
        </p:nvSpPr>
        <p:spPr>
          <a:xfrm>
            <a:off x="666750" y="5405438"/>
            <a:ext cx="3897109" cy="192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B9BC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symbole, ses versions et les règles qui le protègent.</a:t>
            </a:r>
            <a:endParaRPr lang="en-US" sz="1050" dirty="0"/>
          </a:p>
        </p:txBody>
      </p:sp>
      <p:sp>
        <p:nvSpPr>
          <p:cNvPr id="4" name="Texte 3 (li)"/>
          <p:cNvSpPr txBox="1"/>
          <p:nvPr/>
        </p:nvSpPr>
        <p:spPr>
          <a:xfrm>
            <a:off x="771525" y="5840611"/>
            <a:ext cx="985629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CONCEPT</a:t>
            </a:r>
            <a:endParaRPr lang="en-US" sz="750" dirty="0"/>
          </a:p>
        </p:txBody>
      </p:sp>
      <p:sp>
        <p:nvSpPr>
          <p:cNvPr id="5" name="Texte 4 (li)"/>
          <p:cNvSpPr txBox="1"/>
          <p:nvPr/>
        </p:nvSpPr>
        <p:spPr>
          <a:xfrm>
            <a:off x="1742182" y="5840611"/>
            <a:ext cx="1558513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CONSTRUCTION</a:t>
            </a:r>
            <a:endParaRPr lang="en-US" sz="750" dirty="0"/>
          </a:p>
        </p:txBody>
      </p:sp>
      <p:sp>
        <p:nvSpPr>
          <p:cNvPr id="6" name="Texte 5 (li)"/>
          <p:cNvSpPr txBox="1"/>
          <p:nvPr/>
        </p:nvSpPr>
        <p:spPr>
          <a:xfrm>
            <a:off x="3153519" y="5840611"/>
            <a:ext cx="1030322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VERSIONS</a:t>
            </a:r>
            <a:endParaRPr lang="en-US" sz="750" dirty="0"/>
          </a:p>
        </p:txBody>
      </p:sp>
      <p:sp>
        <p:nvSpPr>
          <p:cNvPr id="7" name="Texte 6 (li)"/>
          <p:cNvSpPr txBox="1"/>
          <p:nvPr/>
        </p:nvSpPr>
        <p:spPr>
          <a:xfrm>
            <a:off x="771525" y="6178748"/>
            <a:ext cx="3110969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ZONE DE PROTECTION &amp; TAILLES</a:t>
            </a:r>
            <a:endParaRPr lang="en-US" sz="750" dirty="0"/>
          </a:p>
        </p:txBody>
      </p:sp>
      <p:sp>
        <p:nvSpPr>
          <p:cNvPr id="8" name="Texte 7 (li)"/>
          <p:cNvSpPr txBox="1"/>
          <p:nvPr/>
        </p:nvSpPr>
        <p:spPr>
          <a:xfrm>
            <a:off x="3377059" y="6178748"/>
            <a:ext cx="1965975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COULEURS &amp; FONDS</a:t>
            </a:r>
            <a:endParaRPr lang="en-US" sz="750" dirty="0"/>
          </a:p>
        </p:txBody>
      </p:sp>
      <p:sp>
        <p:nvSpPr>
          <p:cNvPr id="9" name="Texte 8 (li)"/>
          <p:cNvSpPr txBox="1"/>
          <p:nvPr/>
        </p:nvSpPr>
        <p:spPr>
          <a:xfrm>
            <a:off x="771525" y="6516886"/>
            <a:ext cx="1061085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INTERDITS</a:t>
            </a:r>
            <a:endParaRPr lang="en-US" sz="750" dirty="0"/>
          </a:p>
        </p:txBody>
      </p:sp>
      <p:sp>
        <p:nvSpPr>
          <p:cNvPr id="10" name="Texte 9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11" name="Texte 10 (pn)"/>
          <p:cNvSpPr txBox="1"/>
          <p:nvPr/>
        </p:nvSpPr>
        <p:spPr>
          <a:xfrm>
            <a:off x="9925050" y="7188994"/>
            <a:ext cx="299755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08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kicker)"/>
          <p:cNvSpPr txBox="1"/>
          <p:nvPr/>
        </p:nvSpPr>
        <p:spPr>
          <a:xfrm>
            <a:off x="5897910" y="1168747"/>
            <a:ext cx="1288226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02 — LOGO</a:t>
            </a:r>
            <a:endParaRPr lang="en-US" sz="750" dirty="0"/>
          </a:p>
        </p:txBody>
      </p:sp>
      <p:sp>
        <p:nvSpPr>
          <p:cNvPr id="3" name="Texte 2 (h2)"/>
          <p:cNvSpPr txBox="1"/>
          <p:nvPr/>
        </p:nvSpPr>
        <p:spPr>
          <a:xfrm>
            <a:off x="5897910" y="1373535"/>
            <a:ext cx="4241453" cy="73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UN MONOGRAMME</a:t>
            </a:r>
            <a:endParaRPr lang="en-US" sz="25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EN MOUVEMENT.</a:t>
            </a:r>
            <a:endParaRPr lang="en-US" sz="2550" dirty="0"/>
          </a:p>
        </p:txBody>
      </p:sp>
      <p:sp>
        <p:nvSpPr>
          <p:cNvPr id="4" name="Texte 3 (lead)"/>
          <p:cNvSpPr txBox="1"/>
          <p:nvPr/>
        </p:nvSpPr>
        <p:spPr>
          <a:xfrm>
            <a:off x="5897910" y="2205484"/>
            <a:ext cx="4241453" cy="657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initiales </a:t>
            </a:r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</a:t>
            </a:r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</a:t>
            </a:r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</a:t>
            </a:r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sont dessinées comme deux lames qui s'élancent vers le haut à droite. Le symbole se lit d'un coup d'œil : un nom, une direction, une énergie.</a:t>
            </a:r>
            <a:endParaRPr lang="en-US" sz="1130" dirty="0"/>
          </a:p>
        </p:txBody>
      </p:sp>
      <p:sp>
        <p:nvSpPr>
          <p:cNvPr id="5" name="Texte 4 (h3)"/>
          <p:cNvSpPr txBox="1"/>
          <p:nvPr/>
        </p:nvSpPr>
        <p:spPr>
          <a:xfrm>
            <a:off x="819150" y="5149155"/>
            <a:ext cx="618411" cy="185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b="1" spc="22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LE T</a:t>
            </a:r>
            <a:endParaRPr lang="en-US" sz="1130" dirty="0"/>
          </a:p>
        </p:txBody>
      </p:sp>
      <p:sp>
        <p:nvSpPr>
          <p:cNvPr id="6" name="Texte 5 (p)"/>
          <p:cNvSpPr txBox="1"/>
          <p:nvPr/>
        </p:nvSpPr>
        <p:spPr>
          <a:xfrm>
            <a:off x="819150" y="5408712"/>
            <a:ext cx="2630537" cy="32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longue barre et la lame descendante forment le T de Temam — une lettre devenue trajectoire.</a:t>
            </a:r>
            <a:endParaRPr lang="en-US" sz="860" dirty="0"/>
          </a:p>
        </p:txBody>
      </p:sp>
      <p:sp>
        <p:nvSpPr>
          <p:cNvPr id="7" name="Texte 6 (h3)"/>
          <p:cNvSpPr txBox="1"/>
          <p:nvPr/>
        </p:nvSpPr>
        <p:spPr>
          <a:xfrm>
            <a:off x="4059287" y="5149155"/>
            <a:ext cx="596935" cy="185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b="1" spc="22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LE J</a:t>
            </a:r>
            <a:endParaRPr lang="en-US" sz="1130" dirty="0"/>
          </a:p>
        </p:txBody>
      </p:sp>
      <p:sp>
        <p:nvSpPr>
          <p:cNvPr id="8" name="Texte 7 (p)"/>
          <p:cNvSpPr txBox="1"/>
          <p:nvPr/>
        </p:nvSpPr>
        <p:spPr>
          <a:xfrm>
            <a:off x="4059287" y="5408712"/>
            <a:ext cx="2630537" cy="32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J de Jonathan s'emboîte sous le T, en contre-forme : deux initiales, un seul geste.</a:t>
            </a:r>
            <a:endParaRPr lang="en-US" sz="860" dirty="0"/>
          </a:p>
        </p:txBody>
      </p:sp>
      <p:sp>
        <p:nvSpPr>
          <p:cNvPr id="9" name="Texte 8 (h3)"/>
          <p:cNvSpPr txBox="1"/>
          <p:nvPr/>
        </p:nvSpPr>
        <p:spPr>
          <a:xfrm>
            <a:off x="7299424" y="5149155"/>
            <a:ext cx="916945" cy="185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b="1" spc="22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L'ÉLAN</a:t>
            </a:r>
            <a:endParaRPr lang="en-US" sz="1130" dirty="0"/>
          </a:p>
        </p:txBody>
      </p:sp>
      <p:sp>
        <p:nvSpPr>
          <p:cNvPr id="10" name="Texte 9 (p)"/>
          <p:cNvSpPr txBox="1"/>
          <p:nvPr/>
        </p:nvSpPr>
        <p:spPr>
          <a:xfrm>
            <a:off x="7299424" y="5408712"/>
            <a:ext cx="2630537" cy="32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L'ensemble monte à 15° et pointe vers l'avant : la progression, la vitesse, l'objectif.</a:t>
            </a:r>
            <a:endParaRPr lang="en-US" sz="860" dirty="0"/>
          </a:p>
        </p:txBody>
      </p:sp>
      <p:sp>
        <p:nvSpPr>
          <p:cNvPr id="11" name="Texte 10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12" name="Texte 11 (span)"/>
          <p:cNvSpPr txBox="1"/>
          <p:nvPr/>
        </p:nvSpPr>
        <p:spPr>
          <a:xfrm>
            <a:off x="6500664" y="7188994"/>
            <a:ext cx="91423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CONCEPT</a:t>
            </a:r>
            <a:endParaRPr lang="en-US" sz="680" dirty="0"/>
          </a:p>
        </p:txBody>
      </p:sp>
      <p:sp>
        <p:nvSpPr>
          <p:cNvPr id="13" name="Texte 12 (pn)"/>
          <p:cNvSpPr txBox="1"/>
          <p:nvPr/>
        </p:nvSpPr>
        <p:spPr>
          <a:xfrm>
            <a:off x="9925943" y="7188994"/>
            <a:ext cx="298594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09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kicker)"/>
          <p:cNvSpPr txBox="1"/>
          <p:nvPr/>
        </p:nvSpPr>
        <p:spPr>
          <a:xfrm>
            <a:off x="609600" y="514350"/>
            <a:ext cx="1288226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02 — LOGO</a:t>
            </a:r>
            <a:endParaRPr lang="en-US" sz="750" dirty="0"/>
          </a:p>
        </p:txBody>
      </p:sp>
      <p:sp>
        <p:nvSpPr>
          <p:cNvPr id="3" name="Texte 2 (h2)"/>
          <p:cNvSpPr txBox="1"/>
          <p:nvPr/>
        </p:nvSpPr>
        <p:spPr>
          <a:xfrm>
            <a:off x="609600" y="719138"/>
            <a:ext cx="4770031" cy="40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CONSTRUCTION.</a:t>
            </a:r>
            <a:endParaRPr lang="en-US" sz="2550" dirty="0"/>
          </a:p>
        </p:txBody>
      </p:sp>
      <p:sp>
        <p:nvSpPr>
          <p:cNvPr id="4" name="Texte 3 (intro)"/>
          <p:cNvSpPr txBox="1"/>
          <p:nvPr/>
        </p:nvSpPr>
        <p:spPr>
          <a:xfrm>
            <a:off x="609600" y="1201787"/>
            <a:ext cx="6153150" cy="373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symbole est construit uniquement en lignes droites, sur quatre angles qui se répondent. Ce sont ces angles — et surtout le 15° — qui structurent tout le système graphique.</a:t>
            </a:r>
            <a:endParaRPr lang="en-US" sz="980" dirty="0"/>
          </a:p>
        </p:txBody>
      </p:sp>
      <p:sp>
        <p:nvSpPr>
          <p:cNvPr id="5" name="Texte 4 (b)"/>
          <p:cNvSpPr txBox="1"/>
          <p:nvPr/>
        </p:nvSpPr>
        <p:spPr>
          <a:xfrm>
            <a:off x="6833146" y="2190452"/>
            <a:ext cx="392713" cy="185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15°</a:t>
            </a:r>
            <a:endParaRPr lang="en-US" sz="1130" dirty="0"/>
          </a:p>
        </p:txBody>
      </p:sp>
      <p:sp>
        <p:nvSpPr>
          <p:cNvPr id="6" name="Texte 5 (span)"/>
          <p:cNvSpPr txBox="1"/>
          <p:nvPr/>
        </p:nvSpPr>
        <p:spPr>
          <a:xfrm>
            <a:off x="7328446" y="2209502"/>
            <a:ext cx="2811066" cy="32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Arête supérieure — l'angle de marque, repris dans les mises en page.</a:t>
            </a:r>
            <a:endParaRPr lang="en-US" sz="860" dirty="0"/>
          </a:p>
        </p:txBody>
      </p:sp>
      <p:sp>
        <p:nvSpPr>
          <p:cNvPr id="7" name="Texte 6 (b)"/>
          <p:cNvSpPr txBox="1"/>
          <p:nvPr/>
        </p:nvSpPr>
        <p:spPr>
          <a:xfrm>
            <a:off x="6833146" y="2748855"/>
            <a:ext cx="379125" cy="185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11°</a:t>
            </a:r>
            <a:endParaRPr lang="en-US" sz="1130" dirty="0"/>
          </a:p>
        </p:txBody>
      </p:sp>
      <p:sp>
        <p:nvSpPr>
          <p:cNvPr id="8" name="Texte 7 (span)"/>
          <p:cNvSpPr txBox="1"/>
          <p:nvPr/>
        </p:nvSpPr>
        <p:spPr>
          <a:xfrm>
            <a:off x="7328446" y="2767905"/>
            <a:ext cx="2811066" cy="32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Parallèles : bas de la barre, haut du crochet et base du J.</a:t>
            </a:r>
            <a:endParaRPr lang="en-US" sz="860" dirty="0"/>
          </a:p>
        </p:txBody>
      </p:sp>
      <p:sp>
        <p:nvSpPr>
          <p:cNvPr id="9" name="Texte 8 (b)"/>
          <p:cNvSpPr txBox="1"/>
          <p:nvPr/>
        </p:nvSpPr>
        <p:spPr>
          <a:xfrm>
            <a:off x="6833146" y="3307259"/>
            <a:ext cx="406464" cy="185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65°</a:t>
            </a:r>
            <a:endParaRPr lang="en-US" sz="1130" dirty="0"/>
          </a:p>
        </p:txBody>
      </p:sp>
      <p:sp>
        <p:nvSpPr>
          <p:cNvPr id="10" name="Texte 9 (span)"/>
          <p:cNvSpPr txBox="1"/>
          <p:nvPr/>
        </p:nvSpPr>
        <p:spPr>
          <a:xfrm>
            <a:off x="7328446" y="3326309"/>
            <a:ext cx="2940546" cy="15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Fûts parallèles du T et du J : le rythme de la lettre.</a:t>
            </a:r>
            <a:endParaRPr lang="en-US" sz="860" dirty="0"/>
          </a:p>
        </p:txBody>
      </p:sp>
      <p:sp>
        <p:nvSpPr>
          <p:cNvPr id="11" name="Texte 10 (b)"/>
          <p:cNvSpPr txBox="1"/>
          <p:nvPr/>
        </p:nvSpPr>
        <p:spPr>
          <a:xfrm>
            <a:off x="6833146" y="3709690"/>
            <a:ext cx="404009" cy="185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42°</a:t>
            </a:r>
            <a:endParaRPr lang="en-US" sz="1130" dirty="0"/>
          </a:p>
        </p:txBody>
      </p:sp>
      <p:sp>
        <p:nvSpPr>
          <p:cNvPr id="12" name="Texte 11 (span)"/>
          <p:cNvSpPr txBox="1"/>
          <p:nvPr/>
        </p:nvSpPr>
        <p:spPr>
          <a:xfrm>
            <a:off x="7328446" y="3728740"/>
            <a:ext cx="2455798" cy="15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Lame extérieure : la pointe qui ferme le T.</a:t>
            </a:r>
            <a:endParaRPr lang="en-US" sz="860" dirty="0"/>
          </a:p>
        </p:txBody>
      </p:sp>
      <p:sp>
        <p:nvSpPr>
          <p:cNvPr id="13" name="Texte 12 (note)"/>
          <p:cNvSpPr txBox="1"/>
          <p:nvPr/>
        </p:nvSpPr>
        <p:spPr>
          <a:xfrm>
            <a:off x="6585496" y="4159746"/>
            <a:ext cx="3554016" cy="48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Formes pleines, sans courbe ni dégradé : le logo se découpe, se brode et se grave sans perte. Le symbole ne doit jamais être redessiné — utilisez toujours les fichiers fournis.</a:t>
            </a:r>
            <a:endParaRPr lang="en-US" sz="830" dirty="0"/>
          </a:p>
        </p:txBody>
      </p:sp>
      <p:sp>
        <p:nvSpPr>
          <p:cNvPr id="14" name="Texte 13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15" name="Texte 14 (span)"/>
          <p:cNvSpPr txBox="1"/>
          <p:nvPr/>
        </p:nvSpPr>
        <p:spPr>
          <a:xfrm>
            <a:off x="6300192" y="7188994"/>
            <a:ext cx="144571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CONSTRUCTION</a:t>
            </a:r>
            <a:endParaRPr lang="en-US" sz="680" dirty="0"/>
          </a:p>
        </p:txBody>
      </p:sp>
      <p:sp>
        <p:nvSpPr>
          <p:cNvPr id="16" name="Texte 15 (pn)"/>
          <p:cNvSpPr txBox="1"/>
          <p:nvPr/>
        </p:nvSpPr>
        <p:spPr>
          <a:xfrm>
            <a:off x="9933831" y="7188994"/>
            <a:ext cx="288340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10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1" descr="jt-horizontal-noi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50" y="3389709"/>
            <a:ext cx="2881610" cy="442913"/>
          </a:xfrm>
          <a:prstGeom prst="rect">
            <a:avLst/>
          </a:prstGeom>
        </p:spPr>
      </p:pic>
      <p:pic>
        <p:nvPicPr>
          <p:cNvPr id="3" name="Logo 2" descr="jt-vertical-no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515" y="2171254"/>
            <a:ext cx="1696641" cy="679698"/>
          </a:xfrm>
          <a:prstGeom prst="rect">
            <a:avLst/>
          </a:prstGeom>
        </p:spPr>
      </p:pic>
      <p:pic>
        <p:nvPicPr>
          <p:cNvPr id="4" name="Logo 3" descr="jt-symbole-no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7720" y="2045345"/>
            <a:ext cx="1532483" cy="754261"/>
          </a:xfrm>
          <a:prstGeom prst="rect">
            <a:avLst/>
          </a:prstGeom>
        </p:spPr>
      </p:pic>
      <p:pic>
        <p:nvPicPr>
          <p:cNvPr id="5" name="Logo 4" descr="jt-logotype-no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589" y="4601617"/>
            <a:ext cx="2134493" cy="219373"/>
          </a:xfrm>
          <a:prstGeom prst="rect">
            <a:avLst/>
          </a:prstGeom>
        </p:spPr>
      </p:pic>
      <p:sp>
        <p:nvSpPr>
          <p:cNvPr id="6" name="Texte 1 (kicker)"/>
          <p:cNvSpPr txBox="1"/>
          <p:nvPr/>
        </p:nvSpPr>
        <p:spPr>
          <a:xfrm>
            <a:off x="609600" y="514350"/>
            <a:ext cx="1288226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02 — LOGO</a:t>
            </a:r>
            <a:endParaRPr lang="en-US" sz="750" dirty="0"/>
          </a:p>
        </p:txBody>
      </p:sp>
      <p:sp>
        <p:nvSpPr>
          <p:cNvPr id="7" name="Texte 2 (h2)"/>
          <p:cNvSpPr txBox="1"/>
          <p:nvPr/>
        </p:nvSpPr>
        <p:spPr>
          <a:xfrm>
            <a:off x="609600" y="719138"/>
            <a:ext cx="6947416" cy="40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LES VERSIONS DU LOGO.</a:t>
            </a:r>
            <a:endParaRPr lang="en-US" sz="2550" dirty="0"/>
          </a:p>
        </p:txBody>
      </p:sp>
      <p:sp>
        <p:nvSpPr>
          <p:cNvPr id="8" name="Texte 3 (intro)"/>
          <p:cNvSpPr txBox="1"/>
          <p:nvPr/>
        </p:nvSpPr>
        <p:spPr>
          <a:xfrm>
            <a:off x="609600" y="1201787"/>
            <a:ext cx="6153150" cy="373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Quatre versions pour s'adapter à chaque format. Le symbole et le nom gardent toujours les mêmes proportions entre eux.</a:t>
            </a:r>
            <a:endParaRPr lang="en-US" sz="980" dirty="0"/>
          </a:p>
        </p:txBody>
      </p:sp>
      <p:sp>
        <p:nvSpPr>
          <p:cNvPr id="9" name="Texte 4 (b)"/>
          <p:cNvSpPr txBox="1"/>
          <p:nvPr/>
        </p:nvSpPr>
        <p:spPr>
          <a:xfrm>
            <a:off x="762000" y="5570339"/>
            <a:ext cx="3624649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50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HORIZONTAL — VERSION PRINCIPALE</a:t>
            </a:r>
            <a:endParaRPr lang="en-US" sz="830" dirty="0"/>
          </a:p>
        </p:txBody>
      </p:sp>
      <p:sp>
        <p:nvSpPr>
          <p:cNvPr id="10" name="Texte 5 (v-cap)"/>
          <p:cNvSpPr txBox="1"/>
          <p:nvPr/>
        </p:nvSpPr>
        <p:spPr>
          <a:xfrm>
            <a:off x="762000" y="5742236"/>
            <a:ext cx="2894543" cy="15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web, en-têtes, signatures, documents, bannières.</a:t>
            </a:r>
            <a:endParaRPr lang="en-US" sz="790" dirty="0"/>
          </a:p>
        </p:txBody>
      </p:sp>
      <p:sp>
        <p:nvSpPr>
          <p:cNvPr id="11" name="Texte 6 (b)"/>
          <p:cNvSpPr txBox="1"/>
          <p:nvPr/>
        </p:nvSpPr>
        <p:spPr>
          <a:xfrm>
            <a:off x="4608909" y="3370064"/>
            <a:ext cx="1028194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50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VERTICAL</a:t>
            </a:r>
            <a:endParaRPr lang="en-US" sz="830" dirty="0"/>
          </a:p>
        </p:txBody>
      </p:sp>
      <p:sp>
        <p:nvSpPr>
          <p:cNvPr id="12" name="Texte 7 (v-cap)"/>
          <p:cNvSpPr txBox="1"/>
          <p:nvPr/>
        </p:nvSpPr>
        <p:spPr>
          <a:xfrm>
            <a:off x="4608909" y="3541961"/>
            <a:ext cx="2675826" cy="15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Formats carrés ou hauts : textile, affiches, roll-up.</a:t>
            </a:r>
            <a:endParaRPr lang="en-US" sz="790" dirty="0"/>
          </a:p>
        </p:txBody>
      </p:sp>
      <p:sp>
        <p:nvSpPr>
          <p:cNvPr id="13" name="Texte 8 (b)"/>
          <p:cNvSpPr txBox="1"/>
          <p:nvPr/>
        </p:nvSpPr>
        <p:spPr>
          <a:xfrm>
            <a:off x="7497961" y="3192959"/>
            <a:ext cx="1007492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50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SYMBOLE</a:t>
            </a:r>
            <a:endParaRPr lang="en-US" sz="830" dirty="0"/>
          </a:p>
        </p:txBody>
      </p:sp>
      <p:sp>
        <p:nvSpPr>
          <p:cNvPr id="14" name="Texte 9 (v-cap)"/>
          <p:cNvSpPr txBox="1"/>
          <p:nvPr/>
        </p:nvSpPr>
        <p:spPr>
          <a:xfrm>
            <a:off x="7497961" y="3364855"/>
            <a:ext cx="2489150" cy="327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Avatars, icônes, broderie, signature visuelle quand le nom est déjà présent.</a:t>
            </a:r>
            <a:endParaRPr lang="en-US" sz="790" dirty="0"/>
          </a:p>
        </p:txBody>
      </p:sp>
      <p:sp>
        <p:nvSpPr>
          <p:cNvPr id="15" name="Texte 10 (b)"/>
          <p:cNvSpPr txBox="1"/>
          <p:nvPr/>
        </p:nvSpPr>
        <p:spPr>
          <a:xfrm>
            <a:off x="4608909" y="5570339"/>
            <a:ext cx="1123191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50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LOGOTYPE</a:t>
            </a:r>
            <a:endParaRPr lang="en-US" sz="830" dirty="0"/>
          </a:p>
        </p:txBody>
      </p:sp>
      <p:sp>
        <p:nvSpPr>
          <p:cNvPr id="16" name="Texte 11 (v-cap)"/>
          <p:cNvSpPr txBox="1"/>
          <p:nvPr/>
        </p:nvSpPr>
        <p:spPr>
          <a:xfrm>
            <a:off x="4608909" y="5742236"/>
            <a:ext cx="2755062" cy="15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Petits espaces horizontaux, mentions, partenariats.</a:t>
            </a:r>
            <a:endParaRPr lang="en-US" sz="790" dirty="0"/>
          </a:p>
        </p:txBody>
      </p:sp>
      <p:sp>
        <p:nvSpPr>
          <p:cNvPr id="17" name="Texte 12 (b)"/>
          <p:cNvSpPr txBox="1"/>
          <p:nvPr/>
        </p:nvSpPr>
        <p:spPr>
          <a:xfrm>
            <a:off x="7497961" y="5570339"/>
            <a:ext cx="816144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50" kern="0" dirty="0">
                <a:solidFill>
                  <a:srgbClr val="FFFF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AVATAR</a:t>
            </a:r>
            <a:endParaRPr lang="en-US" sz="830" dirty="0"/>
          </a:p>
        </p:txBody>
      </p:sp>
      <p:sp>
        <p:nvSpPr>
          <p:cNvPr id="18" name="Texte 13 (v-cap)"/>
          <p:cNvSpPr txBox="1"/>
          <p:nvPr/>
        </p:nvSpPr>
        <p:spPr>
          <a:xfrm>
            <a:off x="7497961" y="5742236"/>
            <a:ext cx="2474788" cy="15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90" dirty="0">
                <a:solidFill>
                  <a:srgbClr val="B9BC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 de profil Instagram, WhatsApp, Google.</a:t>
            </a:r>
            <a:endParaRPr lang="en-US" sz="790" dirty="0"/>
          </a:p>
        </p:txBody>
      </p:sp>
      <p:sp>
        <p:nvSpPr>
          <p:cNvPr id="19" name="Texte 14 (foot-note)"/>
          <p:cNvSpPr txBox="1"/>
          <p:nvPr/>
        </p:nvSpPr>
        <p:spPr>
          <a:xfrm>
            <a:off x="609600" y="6166991"/>
            <a:ext cx="5109389" cy="14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logotype est composé en Archivo Expanded Bold et vectorisé. Ne jamais le retaper au clavier.</a:t>
            </a:r>
            <a:endParaRPr lang="en-US" sz="790" dirty="0"/>
          </a:p>
        </p:txBody>
      </p:sp>
      <p:sp>
        <p:nvSpPr>
          <p:cNvPr id="20" name="Texte 15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21" name="Texte 16 (span)"/>
          <p:cNvSpPr txBox="1"/>
          <p:nvPr/>
        </p:nvSpPr>
        <p:spPr>
          <a:xfrm>
            <a:off x="6490990" y="7188994"/>
            <a:ext cx="95931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VERSIONS</a:t>
            </a:r>
            <a:endParaRPr lang="en-US" sz="680" dirty="0"/>
          </a:p>
        </p:txBody>
      </p:sp>
      <p:sp>
        <p:nvSpPr>
          <p:cNvPr id="22" name="Texte 17 (pn)"/>
          <p:cNvSpPr txBox="1"/>
          <p:nvPr/>
        </p:nvSpPr>
        <p:spPr>
          <a:xfrm>
            <a:off x="9941123" y="7188994"/>
            <a:ext cx="278859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11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1" descr="jt-horizontal-noi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617887"/>
            <a:ext cx="3764161" cy="578644"/>
          </a:xfrm>
          <a:prstGeom prst="rect">
            <a:avLst/>
          </a:prstGeom>
        </p:spPr>
      </p:pic>
      <p:sp>
        <p:nvSpPr>
          <p:cNvPr id="3" name="Texte 1 (kicker)"/>
          <p:cNvSpPr txBox="1"/>
          <p:nvPr/>
        </p:nvSpPr>
        <p:spPr>
          <a:xfrm>
            <a:off x="609600" y="514350"/>
            <a:ext cx="1288226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02 — LOGO</a:t>
            </a:r>
            <a:endParaRPr lang="en-US" sz="750" dirty="0"/>
          </a:p>
        </p:txBody>
      </p:sp>
      <p:sp>
        <p:nvSpPr>
          <p:cNvPr id="4" name="Texte 2 (h2)"/>
          <p:cNvSpPr txBox="1"/>
          <p:nvPr/>
        </p:nvSpPr>
        <p:spPr>
          <a:xfrm>
            <a:off x="609600" y="719138"/>
            <a:ext cx="7296150" cy="73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ZONE DE PROTECTION &amp; TAILLES MINIMALES.</a:t>
            </a:r>
            <a:endParaRPr lang="en-US" sz="2550" dirty="0"/>
          </a:p>
        </p:txBody>
      </p:sp>
      <p:sp>
        <p:nvSpPr>
          <p:cNvPr id="5" name="Texte 3 (x)"/>
          <p:cNvSpPr txBox="1"/>
          <p:nvPr/>
        </p:nvSpPr>
        <p:spPr>
          <a:xfrm>
            <a:off x="3063180" y="2436912"/>
            <a:ext cx="203627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X</a:t>
            </a:r>
            <a:endParaRPr lang="en-US" sz="830" dirty="0"/>
          </a:p>
        </p:txBody>
      </p:sp>
      <p:sp>
        <p:nvSpPr>
          <p:cNvPr id="6" name="Texte 4 (x)"/>
          <p:cNvSpPr txBox="1"/>
          <p:nvPr/>
        </p:nvSpPr>
        <p:spPr>
          <a:xfrm>
            <a:off x="3063180" y="3253234"/>
            <a:ext cx="203627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X</a:t>
            </a:r>
            <a:endParaRPr lang="en-US" sz="830" dirty="0"/>
          </a:p>
        </p:txBody>
      </p:sp>
      <p:sp>
        <p:nvSpPr>
          <p:cNvPr id="7" name="Texte 5 (x)"/>
          <p:cNvSpPr txBox="1"/>
          <p:nvPr/>
        </p:nvSpPr>
        <p:spPr>
          <a:xfrm>
            <a:off x="1009650" y="2872532"/>
            <a:ext cx="203627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X</a:t>
            </a:r>
            <a:endParaRPr lang="en-US" sz="830" dirty="0"/>
          </a:p>
        </p:txBody>
      </p:sp>
      <p:sp>
        <p:nvSpPr>
          <p:cNvPr id="8" name="Texte 6 (x)"/>
          <p:cNvSpPr txBox="1"/>
          <p:nvPr/>
        </p:nvSpPr>
        <p:spPr>
          <a:xfrm>
            <a:off x="5018187" y="2872532"/>
            <a:ext cx="203627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X</a:t>
            </a:r>
            <a:endParaRPr lang="en-US" sz="830" dirty="0"/>
          </a:p>
        </p:txBody>
      </p:sp>
      <p:sp>
        <p:nvSpPr>
          <p:cNvPr id="9" name="Texte 7 (p)"/>
          <p:cNvSpPr txBox="1"/>
          <p:nvPr/>
        </p:nvSpPr>
        <p:spPr>
          <a:xfrm>
            <a:off x="609600" y="4387155"/>
            <a:ext cx="4964311" cy="52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X = un quart de la hauteur du symbole.</a:t>
            </a:r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Aucun texte, image ou bord de page ne doit entrer dans cette zone. Elle grandit et rétrécit avec le logo : c'est une proportion, jamais une distance fixe.</a:t>
            </a:r>
            <a:endParaRPr lang="en-US" sz="900" dirty="0"/>
          </a:p>
        </p:txBody>
      </p:sp>
      <p:sp>
        <p:nvSpPr>
          <p:cNvPr id="10" name="Texte 8 (th)"/>
          <p:cNvSpPr txBox="1"/>
          <p:nvPr/>
        </p:nvSpPr>
        <p:spPr>
          <a:xfrm>
            <a:off x="5993011" y="3928021"/>
            <a:ext cx="944032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b="1" spc="105" kern="0" dirty="0">
                <a:solidFill>
                  <a:srgbClr val="5D6066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VERSION</a:t>
            </a:r>
            <a:endParaRPr lang="en-US" sz="750" dirty="0"/>
          </a:p>
        </p:txBody>
      </p:sp>
      <p:sp>
        <p:nvSpPr>
          <p:cNvPr id="11" name="Texte 9 (th)"/>
          <p:cNvSpPr txBox="1"/>
          <p:nvPr/>
        </p:nvSpPr>
        <p:spPr>
          <a:xfrm>
            <a:off x="7522220" y="3928021"/>
            <a:ext cx="754812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b="1" spc="105" kern="0" dirty="0">
                <a:solidFill>
                  <a:srgbClr val="5D6066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ÉCRAN</a:t>
            </a:r>
            <a:endParaRPr lang="en-US" sz="750" dirty="0"/>
          </a:p>
        </p:txBody>
      </p:sp>
      <p:sp>
        <p:nvSpPr>
          <p:cNvPr id="12" name="Texte 10 (th)"/>
          <p:cNvSpPr txBox="1"/>
          <p:nvPr/>
        </p:nvSpPr>
        <p:spPr>
          <a:xfrm>
            <a:off x="8648402" y="3928021"/>
            <a:ext cx="1283003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b="1" spc="105" kern="0" dirty="0">
                <a:solidFill>
                  <a:srgbClr val="5D6066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IMPRESSION</a:t>
            </a:r>
            <a:endParaRPr lang="en-US" sz="750" dirty="0"/>
          </a:p>
        </p:txBody>
      </p:sp>
      <p:sp>
        <p:nvSpPr>
          <p:cNvPr id="13" name="Texte 11 (td)"/>
          <p:cNvSpPr txBox="1"/>
          <p:nvPr/>
        </p:nvSpPr>
        <p:spPr>
          <a:xfrm>
            <a:off x="5993011" y="4256633"/>
            <a:ext cx="747802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Horizontal</a:t>
            </a:r>
            <a:endParaRPr lang="en-US" sz="940" dirty="0"/>
          </a:p>
        </p:txBody>
      </p:sp>
      <p:sp>
        <p:nvSpPr>
          <p:cNvPr id="14" name="Texte 12 (td)"/>
          <p:cNvSpPr txBox="1"/>
          <p:nvPr/>
        </p:nvSpPr>
        <p:spPr>
          <a:xfrm>
            <a:off x="7522220" y="4256633"/>
            <a:ext cx="1040681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140 px de large</a:t>
            </a:r>
            <a:endParaRPr lang="en-US" sz="940" dirty="0"/>
          </a:p>
        </p:txBody>
      </p:sp>
      <p:sp>
        <p:nvSpPr>
          <p:cNvPr id="15" name="Texte 13 (td)"/>
          <p:cNvSpPr txBox="1"/>
          <p:nvPr/>
        </p:nvSpPr>
        <p:spPr>
          <a:xfrm>
            <a:off x="8648402" y="4256633"/>
            <a:ext cx="520244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mm</a:t>
            </a:r>
            <a:endParaRPr lang="en-US" sz="940" dirty="0"/>
          </a:p>
        </p:txBody>
      </p:sp>
      <p:sp>
        <p:nvSpPr>
          <p:cNvPr id="16" name="Texte 14 (td)"/>
          <p:cNvSpPr txBox="1"/>
          <p:nvPr/>
        </p:nvSpPr>
        <p:spPr>
          <a:xfrm>
            <a:off x="5993011" y="4622155"/>
            <a:ext cx="582454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Vertical</a:t>
            </a:r>
            <a:endParaRPr lang="en-US" sz="940" dirty="0"/>
          </a:p>
        </p:txBody>
      </p:sp>
      <p:sp>
        <p:nvSpPr>
          <p:cNvPr id="17" name="Texte 15 (td)"/>
          <p:cNvSpPr txBox="1"/>
          <p:nvPr/>
        </p:nvSpPr>
        <p:spPr>
          <a:xfrm>
            <a:off x="7522220" y="4622155"/>
            <a:ext cx="984037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 px de large</a:t>
            </a:r>
            <a:endParaRPr lang="en-US" sz="940" dirty="0"/>
          </a:p>
        </p:txBody>
      </p:sp>
      <p:sp>
        <p:nvSpPr>
          <p:cNvPr id="18" name="Texte 16 (td)"/>
          <p:cNvSpPr txBox="1"/>
          <p:nvPr/>
        </p:nvSpPr>
        <p:spPr>
          <a:xfrm>
            <a:off x="8648402" y="4622155"/>
            <a:ext cx="521390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mm</a:t>
            </a:r>
            <a:endParaRPr lang="en-US" sz="940" dirty="0"/>
          </a:p>
        </p:txBody>
      </p:sp>
      <p:sp>
        <p:nvSpPr>
          <p:cNvPr id="19" name="Texte 17 (td)"/>
          <p:cNvSpPr txBox="1"/>
          <p:nvPr/>
        </p:nvSpPr>
        <p:spPr>
          <a:xfrm>
            <a:off x="5993011" y="4987677"/>
            <a:ext cx="696069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Logotype</a:t>
            </a:r>
            <a:endParaRPr lang="en-US" sz="940" dirty="0"/>
          </a:p>
        </p:txBody>
      </p:sp>
      <p:sp>
        <p:nvSpPr>
          <p:cNvPr id="20" name="Texte 18 (td)"/>
          <p:cNvSpPr txBox="1"/>
          <p:nvPr/>
        </p:nvSpPr>
        <p:spPr>
          <a:xfrm>
            <a:off x="7522220" y="4987677"/>
            <a:ext cx="1009412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110 px de large</a:t>
            </a:r>
            <a:endParaRPr lang="en-US" sz="940" dirty="0"/>
          </a:p>
        </p:txBody>
      </p:sp>
      <p:sp>
        <p:nvSpPr>
          <p:cNvPr id="21" name="Texte 19 (td)"/>
          <p:cNvSpPr txBox="1"/>
          <p:nvPr/>
        </p:nvSpPr>
        <p:spPr>
          <a:xfrm>
            <a:off x="8648402" y="4987677"/>
            <a:ext cx="522536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mm</a:t>
            </a:r>
            <a:endParaRPr lang="en-US" sz="940" dirty="0"/>
          </a:p>
        </p:txBody>
      </p:sp>
      <p:sp>
        <p:nvSpPr>
          <p:cNvPr id="22" name="Texte 20 (td)"/>
          <p:cNvSpPr txBox="1"/>
          <p:nvPr/>
        </p:nvSpPr>
        <p:spPr>
          <a:xfrm>
            <a:off x="5993011" y="5353199"/>
            <a:ext cx="648757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Symbole</a:t>
            </a:r>
            <a:endParaRPr lang="en-US" sz="940" dirty="0"/>
          </a:p>
        </p:txBody>
      </p:sp>
      <p:sp>
        <p:nvSpPr>
          <p:cNvPr id="23" name="Texte 21 (td)"/>
          <p:cNvSpPr txBox="1"/>
          <p:nvPr/>
        </p:nvSpPr>
        <p:spPr>
          <a:xfrm>
            <a:off x="7522220" y="5353199"/>
            <a:ext cx="980926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px de large</a:t>
            </a:r>
            <a:endParaRPr lang="en-US" sz="940" dirty="0"/>
          </a:p>
        </p:txBody>
      </p:sp>
      <p:sp>
        <p:nvSpPr>
          <p:cNvPr id="24" name="Texte 22 (td)"/>
          <p:cNvSpPr txBox="1"/>
          <p:nvPr/>
        </p:nvSpPr>
        <p:spPr>
          <a:xfrm>
            <a:off x="8648402" y="5353199"/>
            <a:ext cx="442645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mm</a:t>
            </a:r>
            <a:endParaRPr lang="en-US" sz="940" dirty="0"/>
          </a:p>
        </p:txBody>
      </p:sp>
      <p:sp>
        <p:nvSpPr>
          <p:cNvPr id="25" name="Texte 23 (td)"/>
          <p:cNvSpPr txBox="1"/>
          <p:nvPr/>
        </p:nvSpPr>
        <p:spPr>
          <a:xfrm>
            <a:off x="5993011" y="5718721"/>
            <a:ext cx="1379071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Symbole petite taille</a:t>
            </a:r>
            <a:endParaRPr lang="en-US" sz="940" dirty="0"/>
          </a:p>
        </p:txBody>
      </p:sp>
      <p:sp>
        <p:nvSpPr>
          <p:cNvPr id="26" name="Texte 24 (td)"/>
          <p:cNvSpPr txBox="1"/>
          <p:nvPr/>
        </p:nvSpPr>
        <p:spPr>
          <a:xfrm>
            <a:off x="7522220" y="5718721"/>
            <a:ext cx="688702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– 31 px</a:t>
            </a:r>
            <a:endParaRPr lang="en-US" sz="940" dirty="0"/>
          </a:p>
        </p:txBody>
      </p:sp>
      <p:sp>
        <p:nvSpPr>
          <p:cNvPr id="27" name="Texte 25 (td)"/>
          <p:cNvSpPr txBox="1"/>
          <p:nvPr/>
        </p:nvSpPr>
        <p:spPr>
          <a:xfrm>
            <a:off x="8648402" y="5718721"/>
            <a:ext cx="1298853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– 8 mm · broderie</a:t>
            </a:r>
            <a:endParaRPr lang="en-US" sz="940" dirty="0"/>
          </a:p>
        </p:txBody>
      </p:sp>
      <p:sp>
        <p:nvSpPr>
          <p:cNvPr id="28" name="Texte 26 (note)"/>
          <p:cNvSpPr txBox="1"/>
          <p:nvPr/>
        </p:nvSpPr>
        <p:spPr>
          <a:xfrm>
            <a:off x="5993011" y="5988993"/>
            <a:ext cx="4146500" cy="326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Sous 32 px, utilisez le fichier </a:t>
            </a:r>
            <a:pPr algn="l" indent="0" marL="0">
              <a:lnSpc>
                <a:spcPts val="1280"/>
              </a:lnSpc>
              <a:buNone/>
            </a:pPr>
            <a:r>
              <a:rPr lang="en-US" sz="760" dirty="0">
                <a:solidFill>
                  <a:srgbClr val="1112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jt-symbole-petite-taille</a:t>
            </a:r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pointes raccourcies et épaissies pour rester lisibles (favicon, petites broderies).</a:t>
            </a:r>
            <a:endParaRPr lang="en-US" sz="830" dirty="0"/>
          </a:p>
        </p:txBody>
      </p:sp>
      <p:sp>
        <p:nvSpPr>
          <p:cNvPr id="29" name="Texte 27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30" name="Texte 28 (span)"/>
          <p:cNvSpPr txBox="1"/>
          <p:nvPr/>
        </p:nvSpPr>
        <p:spPr>
          <a:xfrm>
            <a:off x="6087368" y="7188994"/>
            <a:ext cx="199944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ZONE DE PROTECTION</a:t>
            </a:r>
            <a:endParaRPr lang="en-US" sz="680" dirty="0"/>
          </a:p>
        </p:txBody>
      </p:sp>
      <p:sp>
        <p:nvSpPr>
          <p:cNvPr id="31" name="Texte 29 (pn)"/>
          <p:cNvSpPr txBox="1"/>
          <p:nvPr/>
        </p:nvSpPr>
        <p:spPr>
          <a:xfrm>
            <a:off x="9934129" y="7188994"/>
            <a:ext cx="287953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12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1" descr="jt-horizontal-noi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123" y="2461766"/>
            <a:ext cx="2172742" cy="333970"/>
          </a:xfrm>
          <a:prstGeom prst="rect">
            <a:avLst/>
          </a:prstGeom>
        </p:spPr>
      </p:pic>
      <p:pic>
        <p:nvPicPr>
          <p:cNvPr id="3" name="Logo 2" descr="jt-horizontal-blan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9461" y="2461766"/>
            <a:ext cx="2172891" cy="333970"/>
          </a:xfrm>
          <a:prstGeom prst="rect">
            <a:avLst/>
          </a:prstGeom>
        </p:spPr>
      </p:pic>
      <p:pic>
        <p:nvPicPr>
          <p:cNvPr id="4" name="Logo 3" descr="jt-horizontal-accent-somb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6948" y="2461766"/>
            <a:ext cx="2172742" cy="333970"/>
          </a:xfrm>
          <a:prstGeom prst="rect">
            <a:avLst/>
          </a:prstGeom>
        </p:spPr>
      </p:pic>
      <p:pic>
        <p:nvPicPr>
          <p:cNvPr id="5" name="Logo 4" descr="jt-horizontal-accent-cla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123" y="4436418"/>
            <a:ext cx="2172742" cy="333970"/>
          </a:xfrm>
          <a:prstGeom prst="rect">
            <a:avLst/>
          </a:prstGeom>
        </p:spPr>
      </p:pic>
      <p:pic>
        <p:nvPicPr>
          <p:cNvPr id="6" name="Logo 5" descr="jt-horizontal-noi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9461" y="4436418"/>
            <a:ext cx="2172891" cy="333970"/>
          </a:xfrm>
          <a:prstGeom prst="rect">
            <a:avLst/>
          </a:prstGeom>
        </p:spPr>
      </p:pic>
      <p:pic>
        <p:nvPicPr>
          <p:cNvPr id="7" name="Logo 6" descr="jt-horizontal-blanc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6948" y="4436418"/>
            <a:ext cx="2172742" cy="333970"/>
          </a:xfrm>
          <a:prstGeom prst="rect">
            <a:avLst/>
          </a:prstGeom>
        </p:spPr>
      </p:pic>
      <p:sp>
        <p:nvSpPr>
          <p:cNvPr id="8" name="Texte 1 (kicker)"/>
          <p:cNvSpPr txBox="1"/>
          <p:nvPr/>
        </p:nvSpPr>
        <p:spPr>
          <a:xfrm>
            <a:off x="609600" y="514350"/>
            <a:ext cx="1288226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02 — LOGO</a:t>
            </a:r>
            <a:endParaRPr lang="en-US" sz="750" dirty="0"/>
          </a:p>
        </p:txBody>
      </p:sp>
      <p:sp>
        <p:nvSpPr>
          <p:cNvPr id="9" name="Texte 2 (h2)"/>
          <p:cNvSpPr txBox="1"/>
          <p:nvPr/>
        </p:nvSpPr>
        <p:spPr>
          <a:xfrm>
            <a:off x="609600" y="719138"/>
            <a:ext cx="7296150" cy="73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VERSIONS COULEUR &amp; FONDS AUTORISÉS.</a:t>
            </a:r>
            <a:endParaRPr lang="en-US" sz="2550" dirty="0"/>
          </a:p>
        </p:txBody>
      </p:sp>
      <p:sp>
        <p:nvSpPr>
          <p:cNvPr id="10" name="Texte 3 (intro)"/>
          <p:cNvSpPr txBox="1"/>
          <p:nvPr/>
        </p:nvSpPr>
        <p:spPr>
          <a:xfrm>
            <a:off x="609600" y="1532037"/>
            <a:ext cx="6755993" cy="181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logo vit d'abord en noir et blanc. L'Orange Impulsion est réservé au symbole, pour signer avec force.</a:t>
            </a:r>
            <a:endParaRPr lang="en-US" sz="980" dirty="0"/>
          </a:p>
        </p:txBody>
      </p:sp>
      <p:sp>
        <p:nvSpPr>
          <p:cNvPr id="11" name="Texte 4 (b)"/>
          <p:cNvSpPr txBox="1"/>
          <p:nvPr/>
        </p:nvSpPr>
        <p:spPr>
          <a:xfrm>
            <a:off x="609600" y="3438376"/>
            <a:ext cx="1633002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NOIR SUR CRAIE</a:t>
            </a:r>
            <a:endParaRPr lang="en-US" sz="830" dirty="0"/>
          </a:p>
        </p:txBody>
      </p:sp>
      <p:sp>
        <p:nvSpPr>
          <p:cNvPr id="12" name="Texte 5 (span)"/>
          <p:cNvSpPr txBox="1"/>
          <p:nvPr/>
        </p:nvSpPr>
        <p:spPr>
          <a:xfrm>
            <a:off x="609600" y="3591223"/>
            <a:ext cx="1029876" cy="14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principale</a:t>
            </a:r>
            <a:endParaRPr lang="en-US" sz="790" dirty="0"/>
          </a:p>
        </p:txBody>
      </p:sp>
      <p:sp>
        <p:nvSpPr>
          <p:cNvPr id="13" name="Texte 6 (b)"/>
          <p:cNvSpPr txBox="1"/>
          <p:nvPr/>
        </p:nvSpPr>
        <p:spPr>
          <a:xfrm>
            <a:off x="3836938" y="3438376"/>
            <a:ext cx="1693366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BLANC SUR NOIR</a:t>
            </a:r>
            <a:endParaRPr lang="en-US" sz="830" dirty="0"/>
          </a:p>
        </p:txBody>
      </p:sp>
      <p:sp>
        <p:nvSpPr>
          <p:cNvPr id="14" name="Texte 7 (span)"/>
          <p:cNvSpPr txBox="1"/>
          <p:nvPr/>
        </p:nvSpPr>
        <p:spPr>
          <a:xfrm>
            <a:off x="3836938" y="3591223"/>
            <a:ext cx="959480" cy="14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inversée</a:t>
            </a:r>
            <a:endParaRPr lang="en-US" sz="790" dirty="0"/>
          </a:p>
        </p:txBody>
      </p:sp>
      <p:sp>
        <p:nvSpPr>
          <p:cNvPr id="15" name="Texte 8 (b)"/>
          <p:cNvSpPr txBox="1"/>
          <p:nvPr/>
        </p:nvSpPr>
        <p:spPr>
          <a:xfrm>
            <a:off x="7064425" y="3438376"/>
            <a:ext cx="1833056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ACCENT SUR NOIR</a:t>
            </a:r>
            <a:endParaRPr lang="en-US" sz="830" dirty="0"/>
          </a:p>
        </p:txBody>
      </p:sp>
      <p:sp>
        <p:nvSpPr>
          <p:cNvPr id="16" name="Texte 9 (span)"/>
          <p:cNvSpPr txBox="1"/>
          <p:nvPr/>
        </p:nvSpPr>
        <p:spPr>
          <a:xfrm>
            <a:off x="7064425" y="3591223"/>
            <a:ext cx="2426821" cy="14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Symbole Orange Impulsion — signature forte</a:t>
            </a:r>
            <a:endParaRPr lang="en-US" sz="790" dirty="0"/>
          </a:p>
        </p:txBody>
      </p:sp>
      <p:sp>
        <p:nvSpPr>
          <p:cNvPr id="17" name="Texte 10 (b)"/>
          <p:cNvSpPr txBox="1"/>
          <p:nvPr/>
        </p:nvSpPr>
        <p:spPr>
          <a:xfrm>
            <a:off x="609600" y="5413028"/>
            <a:ext cx="2000607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ACCENT SUR BLANC</a:t>
            </a:r>
            <a:endParaRPr lang="en-US" sz="830" dirty="0"/>
          </a:p>
        </p:txBody>
      </p:sp>
      <p:sp>
        <p:nvSpPr>
          <p:cNvPr id="18" name="Texte 11 (span)"/>
          <p:cNvSpPr txBox="1"/>
          <p:nvPr/>
        </p:nvSpPr>
        <p:spPr>
          <a:xfrm>
            <a:off x="609600" y="5565874"/>
            <a:ext cx="1624965" cy="14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Symbole orange, nom en noir</a:t>
            </a:r>
            <a:endParaRPr lang="en-US" sz="790" dirty="0"/>
          </a:p>
        </p:txBody>
      </p:sp>
      <p:sp>
        <p:nvSpPr>
          <p:cNvPr id="19" name="Texte 12 (b)"/>
          <p:cNvSpPr txBox="1"/>
          <p:nvPr/>
        </p:nvSpPr>
        <p:spPr>
          <a:xfrm>
            <a:off x="3836938" y="5413028"/>
            <a:ext cx="1871945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NOIR SUR ORANGE</a:t>
            </a:r>
            <a:endParaRPr lang="en-US" sz="830" dirty="0"/>
          </a:p>
        </p:txBody>
      </p:sp>
      <p:sp>
        <p:nvSpPr>
          <p:cNvPr id="20" name="Texte 13 (span)"/>
          <p:cNvSpPr txBox="1"/>
          <p:nvPr/>
        </p:nvSpPr>
        <p:spPr>
          <a:xfrm>
            <a:off x="3836938" y="5565874"/>
            <a:ext cx="1341418" cy="14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promotionnels</a:t>
            </a:r>
            <a:endParaRPr lang="en-US" sz="790" dirty="0"/>
          </a:p>
        </p:txBody>
      </p:sp>
      <p:sp>
        <p:nvSpPr>
          <p:cNvPr id="21" name="Texte 14 (b)"/>
          <p:cNvSpPr txBox="1"/>
          <p:nvPr/>
        </p:nvSpPr>
        <p:spPr>
          <a:xfrm>
            <a:off x="7064425" y="5413028"/>
            <a:ext cx="2189053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BLANC SUR GRAPHITE</a:t>
            </a:r>
            <a:endParaRPr lang="en-US" sz="830" dirty="0"/>
          </a:p>
        </p:txBody>
      </p:sp>
      <p:sp>
        <p:nvSpPr>
          <p:cNvPr id="22" name="Texte 15 (span)"/>
          <p:cNvSpPr txBox="1"/>
          <p:nvPr/>
        </p:nvSpPr>
        <p:spPr>
          <a:xfrm>
            <a:off x="7064425" y="5565874"/>
            <a:ext cx="1042645" cy="14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Alternative au noir</a:t>
            </a:r>
            <a:endParaRPr lang="en-US" sz="790" dirty="0"/>
          </a:p>
        </p:txBody>
      </p:sp>
      <p:sp>
        <p:nvSpPr>
          <p:cNvPr id="23" name="Texte 16 (foot-note)"/>
          <p:cNvSpPr txBox="1"/>
          <p:nvPr/>
        </p:nvSpPr>
        <p:spPr>
          <a:xfrm>
            <a:off x="609600" y="6614368"/>
            <a:ext cx="5935638" cy="14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blanc sur Orange est déconseillé pour le nom (contraste 3,5:1) : réservez-le au symbole seul en grand format.</a:t>
            </a:r>
            <a:endParaRPr lang="en-US" sz="790" dirty="0"/>
          </a:p>
        </p:txBody>
      </p:sp>
      <p:sp>
        <p:nvSpPr>
          <p:cNvPr id="24" name="Texte 17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25" name="Texte 18 (span)"/>
          <p:cNvSpPr txBox="1"/>
          <p:nvPr/>
        </p:nvSpPr>
        <p:spPr>
          <a:xfrm>
            <a:off x="6154638" y="7188994"/>
            <a:ext cx="1823963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VERSIONS COULEUR</a:t>
            </a:r>
            <a:endParaRPr lang="en-US" sz="680" dirty="0"/>
          </a:p>
        </p:txBody>
      </p:sp>
      <p:sp>
        <p:nvSpPr>
          <p:cNvPr id="26" name="Texte 19 (pn)"/>
          <p:cNvSpPr txBox="1"/>
          <p:nvPr/>
        </p:nvSpPr>
        <p:spPr>
          <a:xfrm>
            <a:off x="9933533" y="7188994"/>
            <a:ext cx="288727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13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1" descr="jt-horizontal-blan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023616"/>
            <a:ext cx="1735634" cy="266700"/>
          </a:xfrm>
          <a:prstGeom prst="rect">
            <a:avLst/>
          </a:prstGeom>
        </p:spPr>
      </p:pic>
      <p:pic>
        <p:nvPicPr>
          <p:cNvPr id="3" name="Logo 2" descr="jt-horizontal-no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387" y="4404866"/>
            <a:ext cx="1735634" cy="266700"/>
          </a:xfrm>
          <a:prstGeom prst="rect">
            <a:avLst/>
          </a:prstGeom>
        </p:spPr>
      </p:pic>
      <p:pic>
        <p:nvPicPr>
          <p:cNvPr id="4" name="Logo 3" descr="jt-symbole-blanc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024" y="4059138"/>
            <a:ext cx="857250" cy="421928"/>
          </a:xfrm>
          <a:prstGeom prst="rect">
            <a:avLst/>
          </a:prstGeom>
        </p:spPr>
      </p:pic>
      <p:sp>
        <p:nvSpPr>
          <p:cNvPr id="5" name="Texte 1 (kicker)"/>
          <p:cNvSpPr txBox="1"/>
          <p:nvPr/>
        </p:nvSpPr>
        <p:spPr>
          <a:xfrm>
            <a:off x="609600" y="514350"/>
            <a:ext cx="1288226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02 — LOGO</a:t>
            </a:r>
            <a:endParaRPr lang="en-US" sz="750" dirty="0"/>
          </a:p>
        </p:txBody>
      </p:sp>
      <p:sp>
        <p:nvSpPr>
          <p:cNvPr id="6" name="Texte 2 (h2)"/>
          <p:cNvSpPr txBox="1"/>
          <p:nvPr/>
        </p:nvSpPr>
        <p:spPr>
          <a:xfrm>
            <a:off x="609600" y="719138"/>
            <a:ext cx="5075917" cy="40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LOGO SUR IMAGE.</a:t>
            </a:r>
            <a:endParaRPr lang="en-US" sz="2550" dirty="0"/>
          </a:p>
        </p:txBody>
      </p:sp>
      <p:sp>
        <p:nvSpPr>
          <p:cNvPr id="7" name="Texte 3 (intro)"/>
          <p:cNvSpPr txBox="1"/>
          <p:nvPr/>
        </p:nvSpPr>
        <p:spPr>
          <a:xfrm>
            <a:off x="609600" y="1201787"/>
            <a:ext cx="6153150" cy="373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 une photo, le logo se place toujours sur une zone calme et contrastée. Si aucune zone ne convient, utilisez le cartouche.</a:t>
            </a:r>
            <a:endParaRPr lang="en-US" sz="980" dirty="0"/>
          </a:p>
        </p:txBody>
      </p:sp>
      <p:sp>
        <p:nvSpPr>
          <p:cNvPr id="8" name="Texte 4 (b)"/>
          <p:cNvSpPr txBox="1"/>
          <p:nvPr/>
        </p:nvSpPr>
        <p:spPr>
          <a:xfrm>
            <a:off x="609600" y="5033516"/>
            <a:ext cx="2790959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 BLANC SUR ZONE SOMBRE</a:t>
            </a:r>
            <a:endParaRPr lang="en-US" sz="830" dirty="0"/>
          </a:p>
        </p:txBody>
      </p:sp>
      <p:sp>
        <p:nvSpPr>
          <p:cNvPr id="9" name="Texte 5 (span)"/>
          <p:cNvSpPr txBox="1"/>
          <p:nvPr/>
        </p:nvSpPr>
        <p:spPr>
          <a:xfrm>
            <a:off x="609600" y="5186363"/>
            <a:ext cx="2700055" cy="14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cas le plus courant : salles, éclairages latéraux.</a:t>
            </a:r>
            <a:endParaRPr lang="en-US" sz="790" dirty="0"/>
          </a:p>
        </p:txBody>
      </p:sp>
      <p:sp>
        <p:nvSpPr>
          <p:cNvPr id="10" name="Texte 6 (b)"/>
          <p:cNvSpPr txBox="1"/>
          <p:nvPr/>
        </p:nvSpPr>
        <p:spPr>
          <a:xfrm>
            <a:off x="3849737" y="5033516"/>
            <a:ext cx="2492812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 NOIR SUR ZONE CLAIRE</a:t>
            </a:r>
            <a:endParaRPr lang="en-US" sz="830" dirty="0"/>
          </a:p>
        </p:txBody>
      </p:sp>
      <p:sp>
        <p:nvSpPr>
          <p:cNvPr id="11" name="Texte 7 (span)"/>
          <p:cNvSpPr txBox="1"/>
          <p:nvPr/>
        </p:nvSpPr>
        <p:spPr>
          <a:xfrm>
            <a:off x="3849737" y="5186363"/>
            <a:ext cx="1585020" cy="14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Extérieurs, ciels, murs clairs.</a:t>
            </a:r>
            <a:endParaRPr lang="en-US" sz="790" dirty="0"/>
          </a:p>
        </p:txBody>
      </p:sp>
      <p:sp>
        <p:nvSpPr>
          <p:cNvPr id="12" name="Texte 8 (b)"/>
          <p:cNvSpPr txBox="1"/>
          <p:nvPr/>
        </p:nvSpPr>
        <p:spPr>
          <a:xfrm>
            <a:off x="7089874" y="5033516"/>
            <a:ext cx="3343141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 CARTOUCHE SUR FOND CHARGÉ</a:t>
            </a:r>
            <a:endParaRPr lang="en-US" sz="830" dirty="0"/>
          </a:p>
        </p:txBody>
      </p:sp>
      <p:sp>
        <p:nvSpPr>
          <p:cNvPr id="13" name="Texte 9 (span)"/>
          <p:cNvSpPr txBox="1"/>
          <p:nvPr/>
        </p:nvSpPr>
        <p:spPr>
          <a:xfrm>
            <a:off x="7089874" y="5186363"/>
            <a:ext cx="2561883" cy="14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Carré Noir Carbone, symbole blanc, marge = X.</a:t>
            </a:r>
            <a:endParaRPr lang="en-US" sz="790" dirty="0"/>
          </a:p>
        </p:txBody>
      </p:sp>
      <p:sp>
        <p:nvSpPr>
          <p:cNvPr id="14" name="Texte 10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15" name="Texte 11 (span)"/>
          <p:cNvSpPr txBox="1"/>
          <p:nvPr/>
        </p:nvSpPr>
        <p:spPr>
          <a:xfrm>
            <a:off x="6255395" y="7188994"/>
            <a:ext cx="1564124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LOGO SUR IMAGE</a:t>
            </a:r>
            <a:endParaRPr lang="en-US" sz="680" dirty="0"/>
          </a:p>
        </p:txBody>
      </p:sp>
      <p:sp>
        <p:nvSpPr>
          <p:cNvPr id="16" name="Texte 12 (pn)"/>
          <p:cNvSpPr txBox="1"/>
          <p:nvPr/>
        </p:nvSpPr>
        <p:spPr>
          <a:xfrm>
            <a:off x="9935170" y="7188994"/>
            <a:ext cx="286598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14</a:t>
            </a:r>
            <a:endParaRPr lang="en-US" sz="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kicker)"/>
          <p:cNvSpPr txBox="1"/>
          <p:nvPr/>
        </p:nvSpPr>
        <p:spPr>
          <a:xfrm>
            <a:off x="609600" y="514350"/>
            <a:ext cx="1288226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02 — LOGO</a:t>
            </a:r>
            <a:endParaRPr lang="en-US" sz="750" dirty="0"/>
          </a:p>
        </p:txBody>
      </p:sp>
      <p:sp>
        <p:nvSpPr>
          <p:cNvPr id="3" name="Texte 2 (h2)"/>
          <p:cNvSpPr txBox="1"/>
          <p:nvPr/>
        </p:nvSpPr>
        <p:spPr>
          <a:xfrm>
            <a:off x="609600" y="719138"/>
            <a:ext cx="8063776" cy="40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CE QU'IL NE FAUT PAS FAIRE.</a:t>
            </a:r>
            <a:endParaRPr lang="en-US" sz="2550" dirty="0"/>
          </a:p>
        </p:txBody>
      </p:sp>
      <p:sp>
        <p:nvSpPr>
          <p:cNvPr id="4" name="Texte 3 (intro)"/>
          <p:cNvSpPr txBox="1"/>
          <p:nvPr/>
        </p:nvSpPr>
        <p:spPr>
          <a:xfrm>
            <a:off x="609600" y="1201787"/>
            <a:ext cx="6153150" cy="373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logo est un fichier, pas un dessin à refaire. Toute modification, même légère, affaiblit la reconnaissance.</a:t>
            </a:r>
            <a:endParaRPr lang="en-US" sz="980" dirty="0"/>
          </a:p>
        </p:txBody>
      </p:sp>
      <p:sp>
        <p:nvSpPr>
          <p:cNvPr id="5" name="Texte 4 (cross)"/>
          <p:cNvSpPr txBox="1"/>
          <p:nvPr/>
        </p:nvSpPr>
        <p:spPr>
          <a:xfrm>
            <a:off x="2511028" y="1871216"/>
            <a:ext cx="216366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830" dirty="0"/>
          </a:p>
        </p:txBody>
      </p:sp>
      <p:sp>
        <p:nvSpPr>
          <p:cNvPr id="6" name="Texte 5 (span)"/>
          <p:cNvSpPr txBox="1"/>
          <p:nvPr/>
        </p:nvSpPr>
        <p:spPr>
          <a:xfrm>
            <a:off x="609600" y="3299966"/>
            <a:ext cx="2282428" cy="301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DÉFORMER, ÉTIRER OU ÉCRASER</a:t>
            </a:r>
            <a:endParaRPr lang="en-US" sz="830" dirty="0"/>
          </a:p>
        </p:txBody>
      </p:sp>
      <p:sp>
        <p:nvSpPr>
          <p:cNvPr id="7" name="Texte 6 (cross)"/>
          <p:cNvSpPr txBox="1"/>
          <p:nvPr/>
        </p:nvSpPr>
        <p:spPr>
          <a:xfrm>
            <a:off x="4926806" y="1871216"/>
            <a:ext cx="216366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830" dirty="0"/>
          </a:p>
        </p:txBody>
      </p:sp>
      <p:sp>
        <p:nvSpPr>
          <p:cNvPr id="8" name="Texte 7 (span)"/>
          <p:cNvSpPr txBox="1"/>
          <p:nvPr/>
        </p:nvSpPr>
        <p:spPr>
          <a:xfrm>
            <a:off x="3025378" y="3299966"/>
            <a:ext cx="2507322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CHANGER LES COULEURS</a:t>
            </a:r>
            <a:endParaRPr lang="en-US" sz="830" dirty="0"/>
          </a:p>
        </p:txBody>
      </p:sp>
      <p:sp>
        <p:nvSpPr>
          <p:cNvPr id="9" name="Texte 8 (cross)"/>
          <p:cNvSpPr txBox="1"/>
          <p:nvPr/>
        </p:nvSpPr>
        <p:spPr>
          <a:xfrm>
            <a:off x="7342584" y="1871216"/>
            <a:ext cx="216366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830" dirty="0"/>
          </a:p>
        </p:txBody>
      </p:sp>
      <p:sp>
        <p:nvSpPr>
          <p:cNvPr id="10" name="Texte 9 (span)"/>
          <p:cNvSpPr txBox="1"/>
          <p:nvPr/>
        </p:nvSpPr>
        <p:spPr>
          <a:xfrm>
            <a:off x="5441156" y="3299966"/>
            <a:ext cx="2142426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PIVOTER OU INCLINER</a:t>
            </a:r>
            <a:endParaRPr lang="en-US" sz="830" dirty="0"/>
          </a:p>
        </p:txBody>
      </p:sp>
      <p:sp>
        <p:nvSpPr>
          <p:cNvPr id="11" name="Texte 10 (cross)"/>
          <p:cNvSpPr txBox="1"/>
          <p:nvPr/>
        </p:nvSpPr>
        <p:spPr>
          <a:xfrm>
            <a:off x="9758511" y="1871216"/>
            <a:ext cx="216366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830" dirty="0"/>
          </a:p>
        </p:txBody>
      </p:sp>
      <p:sp>
        <p:nvSpPr>
          <p:cNvPr id="12" name="Texte 11 (span)"/>
          <p:cNvSpPr txBox="1"/>
          <p:nvPr/>
        </p:nvSpPr>
        <p:spPr>
          <a:xfrm>
            <a:off x="7856934" y="3299966"/>
            <a:ext cx="2921556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AJOUTER OMBRES OU EFFETS</a:t>
            </a:r>
            <a:endParaRPr lang="en-US" sz="830" dirty="0"/>
          </a:p>
        </p:txBody>
      </p:sp>
      <p:sp>
        <p:nvSpPr>
          <p:cNvPr id="13" name="Texte 12 (cross)"/>
          <p:cNvSpPr txBox="1"/>
          <p:nvPr/>
        </p:nvSpPr>
        <p:spPr>
          <a:xfrm>
            <a:off x="2511028" y="3872359"/>
            <a:ext cx="216366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830" dirty="0"/>
          </a:p>
        </p:txBody>
      </p:sp>
      <p:sp>
        <p:nvSpPr>
          <p:cNvPr id="14" name="Texte 13 (span)"/>
          <p:cNvSpPr txBox="1"/>
          <p:nvPr/>
        </p:nvSpPr>
        <p:spPr>
          <a:xfrm>
            <a:off x="609600" y="5301109"/>
            <a:ext cx="2915945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RÉORGANISER LES ÉLÉMENTS</a:t>
            </a:r>
            <a:endParaRPr lang="en-US" sz="830" dirty="0"/>
          </a:p>
        </p:txBody>
      </p:sp>
      <p:sp>
        <p:nvSpPr>
          <p:cNvPr id="15" name="Texte 14 (span)"/>
          <p:cNvSpPr txBox="1"/>
          <p:nvPr/>
        </p:nvSpPr>
        <p:spPr>
          <a:xfrm>
            <a:off x="3870722" y="4300984"/>
            <a:ext cx="1214438" cy="400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80" b="1" i="1" spc="64" kern="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JONATHAN TEMAM</a:t>
            </a:r>
            <a:endParaRPr lang="en-US" sz="1280" dirty="0"/>
          </a:p>
        </p:txBody>
      </p:sp>
      <p:sp>
        <p:nvSpPr>
          <p:cNvPr id="16" name="Texte 15 (cross)"/>
          <p:cNvSpPr txBox="1"/>
          <p:nvPr/>
        </p:nvSpPr>
        <p:spPr>
          <a:xfrm>
            <a:off x="4926806" y="3872359"/>
            <a:ext cx="216366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830" dirty="0"/>
          </a:p>
        </p:txBody>
      </p:sp>
      <p:sp>
        <p:nvSpPr>
          <p:cNvPr id="17" name="Texte 16 (span)"/>
          <p:cNvSpPr txBox="1"/>
          <p:nvPr/>
        </p:nvSpPr>
        <p:spPr>
          <a:xfrm>
            <a:off x="3025378" y="5301109"/>
            <a:ext cx="2282428" cy="301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RETAPER LE NOM DANS UNE AUTRE POLICE</a:t>
            </a:r>
            <a:endParaRPr lang="en-US" sz="830" dirty="0"/>
          </a:p>
        </p:txBody>
      </p:sp>
      <p:sp>
        <p:nvSpPr>
          <p:cNvPr id="18" name="Texte 17 (cross)"/>
          <p:cNvSpPr txBox="1"/>
          <p:nvPr/>
        </p:nvSpPr>
        <p:spPr>
          <a:xfrm>
            <a:off x="7342584" y="3872359"/>
            <a:ext cx="216366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830" dirty="0"/>
          </a:p>
        </p:txBody>
      </p:sp>
      <p:sp>
        <p:nvSpPr>
          <p:cNvPr id="19" name="Texte 18 (span)"/>
          <p:cNvSpPr txBox="1"/>
          <p:nvPr/>
        </p:nvSpPr>
        <p:spPr>
          <a:xfrm>
            <a:off x="5441156" y="5301109"/>
            <a:ext cx="2516609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CONTRASTE INSUFFISANT</a:t>
            </a:r>
            <a:endParaRPr lang="en-US" sz="830" dirty="0"/>
          </a:p>
        </p:txBody>
      </p:sp>
      <p:sp>
        <p:nvSpPr>
          <p:cNvPr id="20" name="Texte 19 (cross)"/>
          <p:cNvSpPr txBox="1"/>
          <p:nvPr/>
        </p:nvSpPr>
        <p:spPr>
          <a:xfrm>
            <a:off x="9758511" y="3872359"/>
            <a:ext cx="216366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830" dirty="0"/>
          </a:p>
        </p:txBody>
      </p:sp>
      <p:sp>
        <p:nvSpPr>
          <p:cNvPr id="21" name="Texte 20 (span)"/>
          <p:cNvSpPr txBox="1"/>
          <p:nvPr/>
        </p:nvSpPr>
        <p:spPr>
          <a:xfrm>
            <a:off x="7856934" y="5301109"/>
            <a:ext cx="2282577" cy="301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FOND CHARGÉ SANS CARTOUCHE</a:t>
            </a:r>
            <a:endParaRPr lang="en-US" sz="830" dirty="0"/>
          </a:p>
        </p:txBody>
      </p:sp>
      <p:sp>
        <p:nvSpPr>
          <p:cNvPr id="22" name="Texte 21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23" name="Texte 22 (span)"/>
          <p:cNvSpPr txBox="1"/>
          <p:nvPr/>
        </p:nvSpPr>
        <p:spPr>
          <a:xfrm>
            <a:off x="6474768" y="7188994"/>
            <a:ext cx="991627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INTERDITS</a:t>
            </a:r>
            <a:endParaRPr lang="en-US" sz="680" dirty="0"/>
          </a:p>
        </p:txBody>
      </p:sp>
      <p:sp>
        <p:nvSpPr>
          <p:cNvPr id="24" name="Texte 23 (pn)"/>
          <p:cNvSpPr txBox="1"/>
          <p:nvPr/>
        </p:nvSpPr>
        <p:spPr>
          <a:xfrm>
            <a:off x="9933533" y="7188994"/>
            <a:ext cx="288727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15</a:t>
            </a:r>
            <a:endParaRPr lang="en-US" sz="6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h1)"/>
          <p:cNvSpPr txBox="1"/>
          <p:nvPr/>
        </p:nvSpPr>
        <p:spPr>
          <a:xfrm>
            <a:off x="666750" y="4737943"/>
            <a:ext cx="4842049" cy="72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COULEURS</a:t>
            </a:r>
            <a:endParaRPr lang="en-US" sz="4650" dirty="0"/>
          </a:p>
        </p:txBody>
      </p:sp>
      <p:sp>
        <p:nvSpPr>
          <p:cNvPr id="3" name="Texte 2 (p)"/>
          <p:cNvSpPr txBox="1"/>
          <p:nvPr/>
        </p:nvSpPr>
        <p:spPr>
          <a:xfrm>
            <a:off x="666750" y="5537002"/>
            <a:ext cx="5010150" cy="399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B9BC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palette courte et contrastée : du noir pour l'exigence, de l'orange pour l'élan.</a:t>
            </a:r>
            <a:endParaRPr lang="en-US" sz="1050" dirty="0"/>
          </a:p>
        </p:txBody>
      </p:sp>
      <p:sp>
        <p:nvSpPr>
          <p:cNvPr id="4" name="Texte 3 (li)"/>
          <p:cNvSpPr txBox="1"/>
          <p:nvPr/>
        </p:nvSpPr>
        <p:spPr>
          <a:xfrm>
            <a:off x="771525" y="6178748"/>
            <a:ext cx="1780431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PALETTE &amp; CODES</a:t>
            </a:r>
            <a:endParaRPr lang="en-US" sz="750" dirty="0"/>
          </a:p>
        </p:txBody>
      </p:sp>
      <p:sp>
        <p:nvSpPr>
          <p:cNvPr id="5" name="Texte 4 (li)"/>
          <p:cNvSpPr txBox="1"/>
          <p:nvPr/>
        </p:nvSpPr>
        <p:spPr>
          <a:xfrm>
            <a:off x="2353568" y="6178748"/>
            <a:ext cx="1429851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PROPORTIONS</a:t>
            </a:r>
            <a:endParaRPr lang="en-US" sz="750" dirty="0"/>
          </a:p>
        </p:txBody>
      </p:sp>
      <p:sp>
        <p:nvSpPr>
          <p:cNvPr id="6" name="Texte 5 (li)"/>
          <p:cNvSpPr txBox="1"/>
          <p:nvPr/>
        </p:nvSpPr>
        <p:spPr>
          <a:xfrm>
            <a:off x="771525" y="6516886"/>
            <a:ext cx="2942838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CONTRASTES &amp; ACCESSIBILITÉ</a:t>
            </a:r>
            <a:endParaRPr lang="en-US" sz="750" dirty="0"/>
          </a:p>
        </p:txBody>
      </p:sp>
      <p:sp>
        <p:nvSpPr>
          <p:cNvPr id="7" name="Texte 6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8" name="Texte 7 (pn)"/>
          <p:cNvSpPr txBox="1"/>
          <p:nvPr/>
        </p:nvSpPr>
        <p:spPr>
          <a:xfrm>
            <a:off x="9933384" y="7188994"/>
            <a:ext cx="288920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16</a:t>
            </a:r>
            <a:endParaRPr lang="en-US" sz="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kicker)"/>
          <p:cNvSpPr txBox="1"/>
          <p:nvPr/>
        </p:nvSpPr>
        <p:spPr>
          <a:xfrm>
            <a:off x="609600" y="514350"/>
            <a:ext cx="1859950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03 — COULEURS</a:t>
            </a:r>
            <a:endParaRPr lang="en-US" sz="750" dirty="0"/>
          </a:p>
        </p:txBody>
      </p:sp>
      <p:sp>
        <p:nvSpPr>
          <p:cNvPr id="3" name="Texte 2 (h2)"/>
          <p:cNvSpPr txBox="1"/>
          <p:nvPr/>
        </p:nvSpPr>
        <p:spPr>
          <a:xfrm>
            <a:off x="609600" y="719138"/>
            <a:ext cx="3587502" cy="40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LA PALETTE.</a:t>
            </a:r>
            <a:endParaRPr lang="en-US" sz="2550" dirty="0"/>
          </a:p>
        </p:txBody>
      </p:sp>
      <p:sp>
        <p:nvSpPr>
          <p:cNvPr id="4" name="Texte 3 (sw-role)"/>
          <p:cNvSpPr txBox="1"/>
          <p:nvPr/>
        </p:nvSpPr>
        <p:spPr>
          <a:xfrm>
            <a:off x="781050" y="1458962"/>
            <a:ext cx="1154341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135" kern="0" dirty="0">
                <a:solidFill>
                  <a:srgbClr val="C4C4C4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PRINCIPALE</a:t>
            </a:r>
            <a:endParaRPr lang="en-US" sz="680" dirty="0"/>
          </a:p>
        </p:txBody>
      </p:sp>
      <p:sp>
        <p:nvSpPr>
          <p:cNvPr id="5" name="Texte 4 (b)"/>
          <p:cNvSpPr txBox="1"/>
          <p:nvPr/>
        </p:nvSpPr>
        <p:spPr>
          <a:xfrm>
            <a:off x="781050" y="4082207"/>
            <a:ext cx="1801773" cy="18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NOIR CARBONE</a:t>
            </a:r>
            <a:endParaRPr lang="en-US" sz="1200" dirty="0"/>
          </a:p>
        </p:txBody>
      </p:sp>
      <p:sp>
        <p:nvSpPr>
          <p:cNvPr id="6" name="Texte 5 (dt)"/>
          <p:cNvSpPr txBox="1"/>
          <p:nvPr/>
        </p:nvSpPr>
        <p:spPr>
          <a:xfrm>
            <a:off x="609600" y="4545062"/>
            <a:ext cx="444862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5D6066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HEX</a:t>
            </a:r>
            <a:endParaRPr lang="en-US" sz="680" dirty="0"/>
          </a:p>
        </p:txBody>
      </p:sp>
      <p:sp>
        <p:nvSpPr>
          <p:cNvPr id="7" name="Texte 6 (dd)"/>
          <p:cNvSpPr txBox="1"/>
          <p:nvPr/>
        </p:nvSpPr>
        <p:spPr>
          <a:xfrm>
            <a:off x="1143000" y="4526012"/>
            <a:ext cx="500598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#111214</a:t>
            </a:r>
            <a:endParaRPr lang="en-US" sz="830" dirty="0"/>
          </a:p>
        </p:txBody>
      </p:sp>
      <p:sp>
        <p:nvSpPr>
          <p:cNvPr id="8" name="Texte 7 (dt)"/>
          <p:cNvSpPr txBox="1"/>
          <p:nvPr/>
        </p:nvSpPr>
        <p:spPr>
          <a:xfrm>
            <a:off x="609600" y="4736009"/>
            <a:ext cx="433060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5D6066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RVB</a:t>
            </a:r>
            <a:endParaRPr lang="en-US" sz="680" dirty="0"/>
          </a:p>
        </p:txBody>
      </p:sp>
      <p:sp>
        <p:nvSpPr>
          <p:cNvPr id="9" name="Texte 8 (dd)"/>
          <p:cNvSpPr txBox="1"/>
          <p:nvPr/>
        </p:nvSpPr>
        <p:spPr>
          <a:xfrm>
            <a:off x="1143000" y="4716959"/>
            <a:ext cx="664637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· 18 · 20</a:t>
            </a:r>
            <a:endParaRPr lang="en-US" sz="830" dirty="0"/>
          </a:p>
        </p:txBody>
      </p:sp>
      <p:sp>
        <p:nvSpPr>
          <p:cNvPr id="10" name="Texte 9 (dt)"/>
          <p:cNvSpPr txBox="1"/>
          <p:nvPr/>
        </p:nvSpPr>
        <p:spPr>
          <a:xfrm>
            <a:off x="609600" y="4926955"/>
            <a:ext cx="564237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5D6066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CMJN</a:t>
            </a:r>
            <a:endParaRPr lang="en-US" sz="680" dirty="0"/>
          </a:p>
        </p:txBody>
      </p:sp>
      <p:sp>
        <p:nvSpPr>
          <p:cNvPr id="11" name="Texte 10 (dd)"/>
          <p:cNvSpPr txBox="1"/>
          <p:nvPr/>
        </p:nvSpPr>
        <p:spPr>
          <a:xfrm>
            <a:off x="1143000" y="4907905"/>
            <a:ext cx="1476524" cy="31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 · 50 · 40 · 100</a:t>
            </a:r>
            <a:endParaRPr lang="en-US" sz="830" dirty="0"/>
          </a:p>
          <a:p>
            <a:pPr algn="l" indent="0" marL="0">
              <a:lnSpc>
                <a:spcPts val="1280"/>
              </a:lnSpc>
              <a:buNone/>
            </a:pPr>
            <a:r>
              <a:rPr lang="en-US" sz="71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texte : 0 · 0 · 0 · 100</a:t>
            </a:r>
            <a:endParaRPr lang="en-US" sz="830" dirty="0"/>
          </a:p>
        </p:txBody>
      </p:sp>
      <p:sp>
        <p:nvSpPr>
          <p:cNvPr id="12" name="Texte 11 (dt)"/>
          <p:cNvSpPr txBox="1"/>
          <p:nvPr/>
        </p:nvSpPr>
        <p:spPr>
          <a:xfrm>
            <a:off x="609600" y="5280273"/>
            <a:ext cx="732949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5D6066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Pantone</a:t>
            </a:r>
            <a:endParaRPr lang="en-US" sz="680" dirty="0"/>
          </a:p>
        </p:txBody>
      </p:sp>
      <p:sp>
        <p:nvSpPr>
          <p:cNvPr id="13" name="Texte 12 (dd)"/>
          <p:cNvSpPr txBox="1"/>
          <p:nvPr/>
        </p:nvSpPr>
        <p:spPr>
          <a:xfrm>
            <a:off x="1143000" y="5261223"/>
            <a:ext cx="612904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 6 C</a:t>
            </a:r>
            <a:endParaRPr lang="en-US" sz="830" dirty="0"/>
          </a:p>
        </p:txBody>
      </p:sp>
      <p:sp>
        <p:nvSpPr>
          <p:cNvPr id="14" name="Texte 13 (sw-role)"/>
          <p:cNvSpPr txBox="1"/>
          <p:nvPr/>
        </p:nvSpPr>
        <p:spPr>
          <a:xfrm>
            <a:off x="2886224" y="1458962"/>
            <a:ext cx="1154341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135" kern="0" dirty="0">
                <a:solidFill>
                  <a:srgbClr val="4C4C4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PRINCIPALE</a:t>
            </a:r>
            <a:endParaRPr lang="en-US" sz="680" dirty="0"/>
          </a:p>
        </p:txBody>
      </p:sp>
      <p:sp>
        <p:nvSpPr>
          <p:cNvPr id="15" name="Texte 14 (b)"/>
          <p:cNvSpPr txBox="1"/>
          <p:nvPr/>
        </p:nvSpPr>
        <p:spPr>
          <a:xfrm>
            <a:off x="2886224" y="4082207"/>
            <a:ext cx="1583710" cy="18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BLANC CRAIE</a:t>
            </a:r>
            <a:endParaRPr lang="en-US" sz="1200" dirty="0"/>
          </a:p>
        </p:txBody>
      </p:sp>
      <p:sp>
        <p:nvSpPr>
          <p:cNvPr id="16" name="Texte 15 (dt)"/>
          <p:cNvSpPr txBox="1"/>
          <p:nvPr/>
        </p:nvSpPr>
        <p:spPr>
          <a:xfrm>
            <a:off x="2714774" y="4545062"/>
            <a:ext cx="444862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5D6066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HEX</a:t>
            </a:r>
            <a:endParaRPr lang="en-US" sz="680" dirty="0"/>
          </a:p>
        </p:txBody>
      </p:sp>
      <p:sp>
        <p:nvSpPr>
          <p:cNvPr id="17" name="Texte 16 (dd)"/>
          <p:cNvSpPr txBox="1"/>
          <p:nvPr/>
        </p:nvSpPr>
        <p:spPr>
          <a:xfrm>
            <a:off x="3248174" y="4526012"/>
            <a:ext cx="575905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#F3F1EC</a:t>
            </a:r>
            <a:endParaRPr lang="en-US" sz="830" dirty="0"/>
          </a:p>
        </p:txBody>
      </p:sp>
      <p:sp>
        <p:nvSpPr>
          <p:cNvPr id="18" name="Texte 17 (dt)"/>
          <p:cNvSpPr txBox="1"/>
          <p:nvPr/>
        </p:nvSpPr>
        <p:spPr>
          <a:xfrm>
            <a:off x="2714774" y="4736009"/>
            <a:ext cx="433060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5D6066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RVB</a:t>
            </a:r>
            <a:endParaRPr lang="en-US" sz="680" dirty="0"/>
          </a:p>
        </p:txBody>
      </p:sp>
      <p:sp>
        <p:nvSpPr>
          <p:cNvPr id="19" name="Texte 18 (dd)"/>
          <p:cNvSpPr txBox="1"/>
          <p:nvPr/>
        </p:nvSpPr>
        <p:spPr>
          <a:xfrm>
            <a:off x="3248174" y="4716959"/>
            <a:ext cx="906110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243 · 241 · 236</a:t>
            </a:r>
            <a:endParaRPr lang="en-US" sz="830" dirty="0"/>
          </a:p>
        </p:txBody>
      </p:sp>
      <p:sp>
        <p:nvSpPr>
          <p:cNvPr id="20" name="Texte 19 (dt)"/>
          <p:cNvSpPr txBox="1"/>
          <p:nvPr/>
        </p:nvSpPr>
        <p:spPr>
          <a:xfrm>
            <a:off x="2714774" y="4926955"/>
            <a:ext cx="564237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5D6066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CMJN</a:t>
            </a:r>
            <a:endParaRPr lang="en-US" sz="680" dirty="0"/>
          </a:p>
        </p:txBody>
      </p:sp>
      <p:sp>
        <p:nvSpPr>
          <p:cNvPr id="21" name="Texte 20 (dd)"/>
          <p:cNvSpPr txBox="1"/>
          <p:nvPr/>
        </p:nvSpPr>
        <p:spPr>
          <a:xfrm>
            <a:off x="3248174" y="4907905"/>
            <a:ext cx="648593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· 1 · 3 · 5</a:t>
            </a:r>
            <a:endParaRPr lang="en-US" sz="830" dirty="0"/>
          </a:p>
        </p:txBody>
      </p:sp>
      <p:sp>
        <p:nvSpPr>
          <p:cNvPr id="22" name="Texte 21 (dt)"/>
          <p:cNvSpPr txBox="1"/>
          <p:nvPr/>
        </p:nvSpPr>
        <p:spPr>
          <a:xfrm>
            <a:off x="2714774" y="5117902"/>
            <a:ext cx="732949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5D6066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Pantone</a:t>
            </a:r>
            <a:endParaRPr lang="en-US" sz="680" dirty="0"/>
          </a:p>
        </p:txBody>
      </p:sp>
      <p:sp>
        <p:nvSpPr>
          <p:cNvPr id="23" name="Texte 22 (dd)"/>
          <p:cNvSpPr txBox="1"/>
          <p:nvPr/>
        </p:nvSpPr>
        <p:spPr>
          <a:xfrm>
            <a:off x="3248174" y="5098852"/>
            <a:ext cx="1318498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 Gray 1 C à 30 %</a:t>
            </a:r>
            <a:endParaRPr lang="en-US" sz="830" dirty="0"/>
          </a:p>
        </p:txBody>
      </p:sp>
      <p:sp>
        <p:nvSpPr>
          <p:cNvPr id="24" name="Texte 23 (sw-role)"/>
          <p:cNvSpPr txBox="1"/>
          <p:nvPr/>
        </p:nvSpPr>
        <p:spPr>
          <a:xfrm>
            <a:off x="4991546" y="1458962"/>
            <a:ext cx="825237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135" kern="0" dirty="0">
                <a:solidFill>
                  <a:srgbClr val="4B1F15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ACCENT</a:t>
            </a:r>
            <a:endParaRPr lang="en-US" sz="680" dirty="0"/>
          </a:p>
        </p:txBody>
      </p:sp>
      <p:sp>
        <p:nvSpPr>
          <p:cNvPr id="25" name="Texte 24 (b)"/>
          <p:cNvSpPr txBox="1"/>
          <p:nvPr/>
        </p:nvSpPr>
        <p:spPr>
          <a:xfrm>
            <a:off x="4991546" y="3914626"/>
            <a:ext cx="1667173" cy="35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ORANGE IMPULSION</a:t>
            </a:r>
            <a:endParaRPr lang="en-US" sz="1200" dirty="0"/>
          </a:p>
        </p:txBody>
      </p:sp>
      <p:sp>
        <p:nvSpPr>
          <p:cNvPr id="26" name="Texte 25 (dt)"/>
          <p:cNvSpPr txBox="1"/>
          <p:nvPr/>
        </p:nvSpPr>
        <p:spPr>
          <a:xfrm>
            <a:off x="4820096" y="4545062"/>
            <a:ext cx="444862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5D6066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HEX</a:t>
            </a:r>
            <a:endParaRPr lang="en-US" sz="680" dirty="0"/>
          </a:p>
        </p:txBody>
      </p:sp>
      <p:sp>
        <p:nvSpPr>
          <p:cNvPr id="27" name="Texte 26 (dd)"/>
          <p:cNvSpPr txBox="1"/>
          <p:nvPr/>
        </p:nvSpPr>
        <p:spPr>
          <a:xfrm>
            <a:off x="5353496" y="4526012"/>
            <a:ext cx="569684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#FA4616</a:t>
            </a:r>
            <a:endParaRPr lang="en-US" sz="830" dirty="0"/>
          </a:p>
        </p:txBody>
      </p:sp>
      <p:sp>
        <p:nvSpPr>
          <p:cNvPr id="28" name="Texte 27 (dt)"/>
          <p:cNvSpPr txBox="1"/>
          <p:nvPr/>
        </p:nvSpPr>
        <p:spPr>
          <a:xfrm>
            <a:off x="4820096" y="4736009"/>
            <a:ext cx="433060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5D6066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RVB</a:t>
            </a:r>
            <a:endParaRPr lang="en-US" sz="680" dirty="0"/>
          </a:p>
        </p:txBody>
      </p:sp>
      <p:sp>
        <p:nvSpPr>
          <p:cNvPr id="29" name="Texte 28 (dd)"/>
          <p:cNvSpPr txBox="1"/>
          <p:nvPr/>
        </p:nvSpPr>
        <p:spPr>
          <a:xfrm>
            <a:off x="5353496" y="4716959"/>
            <a:ext cx="779398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 · 70 · 22</a:t>
            </a:r>
            <a:endParaRPr lang="en-US" sz="830" dirty="0"/>
          </a:p>
        </p:txBody>
      </p:sp>
      <p:sp>
        <p:nvSpPr>
          <p:cNvPr id="30" name="Texte 29 (dt)"/>
          <p:cNvSpPr txBox="1"/>
          <p:nvPr/>
        </p:nvSpPr>
        <p:spPr>
          <a:xfrm>
            <a:off x="4820096" y="4926955"/>
            <a:ext cx="564237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5D6066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CMJN</a:t>
            </a:r>
            <a:endParaRPr lang="en-US" sz="680" dirty="0"/>
          </a:p>
        </p:txBody>
      </p:sp>
      <p:sp>
        <p:nvSpPr>
          <p:cNvPr id="31" name="Texte 30 (dd)"/>
          <p:cNvSpPr txBox="1"/>
          <p:nvPr/>
        </p:nvSpPr>
        <p:spPr>
          <a:xfrm>
            <a:off x="5353496" y="4907905"/>
            <a:ext cx="866820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· 85 · 100 · 0</a:t>
            </a:r>
            <a:endParaRPr lang="en-US" sz="830" dirty="0"/>
          </a:p>
        </p:txBody>
      </p:sp>
      <p:sp>
        <p:nvSpPr>
          <p:cNvPr id="32" name="Texte 31 (dt)"/>
          <p:cNvSpPr txBox="1"/>
          <p:nvPr/>
        </p:nvSpPr>
        <p:spPr>
          <a:xfrm>
            <a:off x="4820096" y="5117902"/>
            <a:ext cx="732949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5D6066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Pantone</a:t>
            </a:r>
            <a:endParaRPr lang="en-US" sz="680" dirty="0"/>
          </a:p>
        </p:txBody>
      </p:sp>
      <p:sp>
        <p:nvSpPr>
          <p:cNvPr id="33" name="Texte 32 (dd)"/>
          <p:cNvSpPr txBox="1"/>
          <p:nvPr/>
        </p:nvSpPr>
        <p:spPr>
          <a:xfrm>
            <a:off x="5353496" y="5098852"/>
            <a:ext cx="394350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172 C</a:t>
            </a:r>
            <a:endParaRPr lang="en-US" sz="830" dirty="0"/>
          </a:p>
        </p:txBody>
      </p:sp>
      <p:sp>
        <p:nvSpPr>
          <p:cNvPr id="34" name="Texte 33 (sw-role)"/>
          <p:cNvSpPr txBox="1"/>
          <p:nvPr/>
        </p:nvSpPr>
        <p:spPr>
          <a:xfrm>
            <a:off x="7096869" y="1458962"/>
            <a:ext cx="1267138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135" kern="0" dirty="0">
                <a:solidFill>
                  <a:srgbClr val="CACACB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SECONDAIRE</a:t>
            </a:r>
            <a:endParaRPr lang="en-US" sz="680" dirty="0"/>
          </a:p>
        </p:txBody>
      </p:sp>
      <p:sp>
        <p:nvSpPr>
          <p:cNvPr id="35" name="Texte 34 (b)"/>
          <p:cNvSpPr txBox="1"/>
          <p:nvPr/>
        </p:nvSpPr>
        <p:spPr>
          <a:xfrm>
            <a:off x="7096869" y="4082207"/>
            <a:ext cx="1237134" cy="18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GRAPHITE</a:t>
            </a:r>
            <a:endParaRPr lang="en-US" sz="1200" dirty="0"/>
          </a:p>
        </p:txBody>
      </p:sp>
      <p:sp>
        <p:nvSpPr>
          <p:cNvPr id="36" name="Texte 35 (dt)"/>
          <p:cNvSpPr txBox="1"/>
          <p:nvPr/>
        </p:nvSpPr>
        <p:spPr>
          <a:xfrm>
            <a:off x="6925419" y="4545062"/>
            <a:ext cx="444862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5D6066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HEX</a:t>
            </a:r>
            <a:endParaRPr lang="en-US" sz="680" dirty="0"/>
          </a:p>
        </p:txBody>
      </p:sp>
      <p:sp>
        <p:nvSpPr>
          <p:cNvPr id="37" name="Texte 36 (dd)"/>
          <p:cNvSpPr txBox="1"/>
          <p:nvPr/>
        </p:nvSpPr>
        <p:spPr>
          <a:xfrm>
            <a:off x="7458819" y="4526012"/>
            <a:ext cx="616506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#2A2C30</a:t>
            </a:r>
            <a:endParaRPr lang="en-US" sz="830" dirty="0"/>
          </a:p>
        </p:txBody>
      </p:sp>
      <p:sp>
        <p:nvSpPr>
          <p:cNvPr id="38" name="Texte 37 (dt)"/>
          <p:cNvSpPr txBox="1"/>
          <p:nvPr/>
        </p:nvSpPr>
        <p:spPr>
          <a:xfrm>
            <a:off x="6925419" y="4736009"/>
            <a:ext cx="433060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5D6066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RVB</a:t>
            </a:r>
            <a:endParaRPr lang="en-US" sz="680" dirty="0"/>
          </a:p>
        </p:txBody>
      </p:sp>
      <p:sp>
        <p:nvSpPr>
          <p:cNvPr id="39" name="Texte 38 (dd)"/>
          <p:cNvSpPr txBox="1"/>
          <p:nvPr/>
        </p:nvSpPr>
        <p:spPr>
          <a:xfrm>
            <a:off x="7458819" y="4716959"/>
            <a:ext cx="730776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· 44 · 48</a:t>
            </a:r>
            <a:endParaRPr lang="en-US" sz="830" dirty="0"/>
          </a:p>
        </p:txBody>
      </p:sp>
      <p:sp>
        <p:nvSpPr>
          <p:cNvPr id="40" name="Texte 39 (dt)"/>
          <p:cNvSpPr txBox="1"/>
          <p:nvPr/>
        </p:nvSpPr>
        <p:spPr>
          <a:xfrm>
            <a:off x="6925419" y="4926955"/>
            <a:ext cx="564237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5D6066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CMJN</a:t>
            </a:r>
            <a:endParaRPr lang="en-US" sz="680" dirty="0"/>
          </a:p>
        </p:txBody>
      </p:sp>
      <p:sp>
        <p:nvSpPr>
          <p:cNvPr id="41" name="Texte 40 (dd)"/>
          <p:cNvSpPr txBox="1"/>
          <p:nvPr/>
        </p:nvSpPr>
        <p:spPr>
          <a:xfrm>
            <a:off x="7458819" y="4907905"/>
            <a:ext cx="943273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 · 60 · 50 · 75</a:t>
            </a:r>
            <a:endParaRPr lang="en-US" sz="830" dirty="0"/>
          </a:p>
        </p:txBody>
      </p:sp>
      <p:sp>
        <p:nvSpPr>
          <p:cNvPr id="42" name="Texte 41 (dt)"/>
          <p:cNvSpPr txBox="1"/>
          <p:nvPr/>
        </p:nvSpPr>
        <p:spPr>
          <a:xfrm>
            <a:off x="6925419" y="5117902"/>
            <a:ext cx="732949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5D6066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Pantone</a:t>
            </a:r>
            <a:endParaRPr lang="en-US" sz="680" dirty="0"/>
          </a:p>
        </p:txBody>
      </p:sp>
      <p:sp>
        <p:nvSpPr>
          <p:cNvPr id="43" name="Texte 42 (dd)"/>
          <p:cNvSpPr txBox="1"/>
          <p:nvPr/>
        </p:nvSpPr>
        <p:spPr>
          <a:xfrm>
            <a:off x="7458819" y="5098852"/>
            <a:ext cx="428074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426 C</a:t>
            </a:r>
            <a:endParaRPr lang="en-US" sz="830" dirty="0"/>
          </a:p>
        </p:txBody>
      </p:sp>
      <p:sp>
        <p:nvSpPr>
          <p:cNvPr id="44" name="Texte 43 (sw-role)"/>
          <p:cNvSpPr txBox="1"/>
          <p:nvPr/>
        </p:nvSpPr>
        <p:spPr>
          <a:xfrm>
            <a:off x="8751540" y="1458962"/>
            <a:ext cx="1267138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135" kern="0" dirty="0">
                <a:solidFill>
                  <a:srgbClr val="2F3032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SECONDAIRE</a:t>
            </a:r>
            <a:endParaRPr lang="en-US" sz="680" dirty="0"/>
          </a:p>
        </p:txBody>
      </p:sp>
      <p:sp>
        <p:nvSpPr>
          <p:cNvPr id="45" name="Texte 44 (b)"/>
          <p:cNvSpPr txBox="1"/>
          <p:nvPr/>
        </p:nvSpPr>
        <p:spPr>
          <a:xfrm>
            <a:off x="8751540" y="4082207"/>
            <a:ext cx="1351077" cy="18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GRIS ACIER</a:t>
            </a:r>
            <a:endParaRPr lang="en-US" sz="1200" dirty="0"/>
          </a:p>
        </p:txBody>
      </p:sp>
      <p:sp>
        <p:nvSpPr>
          <p:cNvPr id="46" name="Texte 45 (dt)"/>
          <p:cNvSpPr txBox="1"/>
          <p:nvPr/>
        </p:nvSpPr>
        <p:spPr>
          <a:xfrm>
            <a:off x="8580090" y="4545062"/>
            <a:ext cx="444862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5D6066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HEX</a:t>
            </a:r>
            <a:endParaRPr lang="en-US" sz="680" dirty="0"/>
          </a:p>
        </p:txBody>
      </p:sp>
      <p:sp>
        <p:nvSpPr>
          <p:cNvPr id="47" name="Texte 46 (dd)"/>
          <p:cNvSpPr txBox="1"/>
          <p:nvPr/>
        </p:nvSpPr>
        <p:spPr>
          <a:xfrm>
            <a:off x="9113490" y="4526012"/>
            <a:ext cx="612085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#888B8D</a:t>
            </a:r>
            <a:endParaRPr lang="en-US" sz="830" dirty="0"/>
          </a:p>
        </p:txBody>
      </p:sp>
      <p:sp>
        <p:nvSpPr>
          <p:cNvPr id="48" name="Texte 47 (dt)"/>
          <p:cNvSpPr txBox="1"/>
          <p:nvPr/>
        </p:nvSpPr>
        <p:spPr>
          <a:xfrm>
            <a:off x="8580090" y="4736009"/>
            <a:ext cx="433060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5D6066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RVB</a:t>
            </a:r>
            <a:endParaRPr lang="en-US" sz="680" dirty="0"/>
          </a:p>
        </p:txBody>
      </p:sp>
      <p:sp>
        <p:nvSpPr>
          <p:cNvPr id="49" name="Texte 48 (dd)"/>
          <p:cNvSpPr txBox="1"/>
          <p:nvPr/>
        </p:nvSpPr>
        <p:spPr>
          <a:xfrm>
            <a:off x="9113490" y="4716959"/>
            <a:ext cx="836369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136 · 139 · 141</a:t>
            </a:r>
            <a:endParaRPr lang="en-US" sz="830" dirty="0"/>
          </a:p>
        </p:txBody>
      </p:sp>
      <p:sp>
        <p:nvSpPr>
          <p:cNvPr id="50" name="Texte 49 (dt)"/>
          <p:cNvSpPr txBox="1"/>
          <p:nvPr/>
        </p:nvSpPr>
        <p:spPr>
          <a:xfrm>
            <a:off x="8580090" y="4926955"/>
            <a:ext cx="564237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5D6066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CMJN</a:t>
            </a:r>
            <a:endParaRPr lang="en-US" sz="680" dirty="0"/>
          </a:p>
        </p:txBody>
      </p:sp>
      <p:sp>
        <p:nvSpPr>
          <p:cNvPr id="51" name="Texte 50 (dd)"/>
          <p:cNvSpPr txBox="1"/>
          <p:nvPr/>
        </p:nvSpPr>
        <p:spPr>
          <a:xfrm>
            <a:off x="9113490" y="4907905"/>
            <a:ext cx="724555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· 1 · 0 · 45</a:t>
            </a:r>
            <a:endParaRPr lang="en-US" sz="830" dirty="0"/>
          </a:p>
        </p:txBody>
      </p:sp>
      <p:sp>
        <p:nvSpPr>
          <p:cNvPr id="52" name="Texte 51 (dt)"/>
          <p:cNvSpPr txBox="1"/>
          <p:nvPr/>
        </p:nvSpPr>
        <p:spPr>
          <a:xfrm>
            <a:off x="8580090" y="5117902"/>
            <a:ext cx="732949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5D6066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Pantone</a:t>
            </a:r>
            <a:endParaRPr lang="en-US" sz="680" dirty="0"/>
          </a:p>
        </p:txBody>
      </p:sp>
      <p:sp>
        <p:nvSpPr>
          <p:cNvPr id="53" name="Texte 52 (dd)"/>
          <p:cNvSpPr txBox="1"/>
          <p:nvPr/>
        </p:nvSpPr>
        <p:spPr>
          <a:xfrm>
            <a:off x="9113490" y="5098852"/>
            <a:ext cx="855524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 Gray 8 C</a:t>
            </a:r>
            <a:endParaRPr lang="en-US" sz="830" dirty="0"/>
          </a:p>
        </p:txBody>
      </p:sp>
      <p:sp>
        <p:nvSpPr>
          <p:cNvPr id="54" name="Texte 53 (foot-note)"/>
          <p:cNvSpPr txBox="1"/>
          <p:nvPr/>
        </p:nvSpPr>
        <p:spPr>
          <a:xfrm>
            <a:off x="609600" y="6459438"/>
            <a:ext cx="9529911" cy="302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RVB/HEX pour les écrans · CMJN pour l'impression quadri · Pantone pour les tons directs, le textile et la signalétique. Les références Pantone sont les plus proches : validez-les sur nuancier imprimé avant toute production.</a:t>
            </a:r>
            <a:endParaRPr lang="en-US" sz="790" dirty="0"/>
          </a:p>
        </p:txBody>
      </p:sp>
      <p:sp>
        <p:nvSpPr>
          <p:cNvPr id="55" name="Texte 54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56" name="Texte 55 (span)"/>
          <p:cNvSpPr txBox="1"/>
          <p:nvPr/>
        </p:nvSpPr>
        <p:spPr>
          <a:xfrm>
            <a:off x="6535638" y="7188994"/>
            <a:ext cx="840715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PALETTE</a:t>
            </a:r>
            <a:endParaRPr lang="en-US" sz="680" dirty="0"/>
          </a:p>
        </p:txBody>
      </p:sp>
      <p:sp>
        <p:nvSpPr>
          <p:cNvPr id="57" name="Texte 56 (pn)"/>
          <p:cNvSpPr txBox="1"/>
          <p:nvPr/>
        </p:nvSpPr>
        <p:spPr>
          <a:xfrm>
            <a:off x="9939338" y="7188994"/>
            <a:ext cx="281181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17</a:t>
            </a:r>
            <a:endParaRPr lang="en-US" sz="6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kicker)"/>
          <p:cNvSpPr txBox="1"/>
          <p:nvPr/>
        </p:nvSpPr>
        <p:spPr>
          <a:xfrm>
            <a:off x="609600" y="514350"/>
            <a:ext cx="1859950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03 — COULEURS</a:t>
            </a:r>
            <a:endParaRPr lang="en-US" sz="750" dirty="0"/>
          </a:p>
        </p:txBody>
      </p:sp>
      <p:sp>
        <p:nvSpPr>
          <p:cNvPr id="3" name="Texte 2 (h2)"/>
          <p:cNvSpPr txBox="1"/>
          <p:nvPr/>
        </p:nvSpPr>
        <p:spPr>
          <a:xfrm>
            <a:off x="609600" y="719138"/>
            <a:ext cx="8883729" cy="40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PROPORTIONS &amp; CONTRASTES.</a:t>
            </a:r>
            <a:endParaRPr lang="en-US" sz="2550" dirty="0"/>
          </a:p>
        </p:txBody>
      </p:sp>
      <p:sp>
        <p:nvSpPr>
          <p:cNvPr id="4" name="Texte 3 (intro)"/>
          <p:cNvSpPr txBox="1"/>
          <p:nvPr/>
        </p:nvSpPr>
        <p:spPr>
          <a:xfrm>
            <a:off x="609600" y="1201787"/>
            <a:ext cx="6205597" cy="181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noir et la craie portent la marque ; l'orange ponctue. Trop d'orange, et il ne signale plus rien.</a:t>
            </a:r>
            <a:endParaRPr lang="en-US" sz="980" dirty="0"/>
          </a:p>
        </p:txBody>
      </p:sp>
      <p:sp>
        <p:nvSpPr>
          <p:cNvPr id="5" name="Texte 4 (div)"/>
          <p:cNvSpPr txBox="1"/>
          <p:nvPr/>
        </p:nvSpPr>
        <p:spPr>
          <a:xfrm>
            <a:off x="742950" y="1736527"/>
            <a:ext cx="1463323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60" kern="0" dirty="0">
                <a:solidFill>
                  <a:srgbClr val="FFFF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NOIR CARBONE</a:t>
            </a:r>
            <a:endParaRPr lang="en-US" sz="750" dirty="0"/>
          </a:p>
        </p:txBody>
      </p:sp>
      <p:sp>
        <p:nvSpPr>
          <p:cNvPr id="6" name="Texte 5 (b)"/>
          <p:cNvSpPr txBox="1"/>
          <p:nvPr/>
        </p:nvSpPr>
        <p:spPr>
          <a:xfrm>
            <a:off x="742950" y="2552849"/>
            <a:ext cx="915606" cy="324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2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50 %</a:t>
            </a:r>
            <a:endParaRPr lang="en-US" sz="1950" dirty="0"/>
          </a:p>
        </p:txBody>
      </p:sp>
      <p:sp>
        <p:nvSpPr>
          <p:cNvPr id="7" name="Texte 6 (div)"/>
          <p:cNvSpPr txBox="1"/>
          <p:nvPr/>
        </p:nvSpPr>
        <p:spPr>
          <a:xfrm>
            <a:off x="5069532" y="1736527"/>
            <a:ext cx="1285905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60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BLANC CRAIE</a:t>
            </a:r>
            <a:endParaRPr lang="en-US" sz="750" dirty="0"/>
          </a:p>
        </p:txBody>
      </p:sp>
      <p:sp>
        <p:nvSpPr>
          <p:cNvPr id="8" name="Texte 7 (b)"/>
          <p:cNvSpPr txBox="1"/>
          <p:nvPr/>
        </p:nvSpPr>
        <p:spPr>
          <a:xfrm>
            <a:off x="5069532" y="2552849"/>
            <a:ext cx="915606" cy="324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20"/>
              </a:lnSpc>
              <a:buNone/>
            </a:pPr>
            <a:r>
              <a:rPr lang="en-US" sz="195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30 %</a:t>
            </a:r>
            <a:endParaRPr lang="en-US" sz="1950" dirty="0"/>
          </a:p>
        </p:txBody>
      </p:sp>
      <p:sp>
        <p:nvSpPr>
          <p:cNvPr id="9" name="Texte 8 (div)"/>
          <p:cNvSpPr txBox="1"/>
          <p:nvPr/>
        </p:nvSpPr>
        <p:spPr>
          <a:xfrm>
            <a:off x="7772251" y="1736527"/>
            <a:ext cx="1002655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60" kern="0" dirty="0">
                <a:solidFill>
                  <a:srgbClr val="FFFF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GRAPHITE</a:t>
            </a:r>
            <a:endParaRPr lang="en-US" sz="750" dirty="0"/>
          </a:p>
        </p:txBody>
      </p:sp>
      <p:sp>
        <p:nvSpPr>
          <p:cNvPr id="10" name="Texte 9 (b)"/>
          <p:cNvSpPr txBox="1"/>
          <p:nvPr/>
        </p:nvSpPr>
        <p:spPr>
          <a:xfrm>
            <a:off x="7772251" y="2552849"/>
            <a:ext cx="892195" cy="324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2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10 %</a:t>
            </a:r>
            <a:endParaRPr lang="en-US" sz="1950" dirty="0"/>
          </a:p>
        </p:txBody>
      </p:sp>
      <p:sp>
        <p:nvSpPr>
          <p:cNvPr id="11" name="Texte 10 (div)"/>
          <p:cNvSpPr txBox="1"/>
          <p:nvPr/>
        </p:nvSpPr>
        <p:spPr>
          <a:xfrm>
            <a:off x="8850957" y="1736527"/>
            <a:ext cx="859289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60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ORANGE</a:t>
            </a:r>
            <a:endParaRPr lang="en-US" sz="750" dirty="0"/>
          </a:p>
        </p:txBody>
      </p:sp>
      <p:sp>
        <p:nvSpPr>
          <p:cNvPr id="12" name="Texte 11 (b)"/>
          <p:cNvSpPr txBox="1"/>
          <p:nvPr/>
        </p:nvSpPr>
        <p:spPr>
          <a:xfrm>
            <a:off x="8850957" y="2552849"/>
            <a:ext cx="684282" cy="324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20"/>
              </a:lnSpc>
              <a:buNone/>
            </a:pPr>
            <a:r>
              <a:rPr lang="en-US" sz="195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7 %</a:t>
            </a:r>
            <a:endParaRPr lang="en-US" sz="1950" dirty="0"/>
          </a:p>
        </p:txBody>
      </p:sp>
      <p:sp>
        <p:nvSpPr>
          <p:cNvPr id="13" name="Texte 12 (b)"/>
          <p:cNvSpPr txBox="1"/>
          <p:nvPr/>
        </p:nvSpPr>
        <p:spPr>
          <a:xfrm>
            <a:off x="9705380" y="1736527"/>
            <a:ext cx="300782" cy="33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3 %</a:t>
            </a:r>
            <a:endParaRPr lang="en-US" sz="900" dirty="0"/>
          </a:p>
        </p:txBody>
      </p:sp>
      <p:sp>
        <p:nvSpPr>
          <p:cNvPr id="14" name="Texte 13 (ct-a)"/>
          <p:cNvSpPr txBox="1"/>
          <p:nvPr/>
        </p:nvSpPr>
        <p:spPr>
          <a:xfrm>
            <a:off x="742950" y="3327202"/>
            <a:ext cx="990585" cy="59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750" dirty="0">
                <a:solidFill>
                  <a:srgbClr val="F3F1EC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Aa</a:t>
            </a:r>
            <a:endParaRPr lang="en-US" sz="3750" dirty="0"/>
          </a:p>
        </p:txBody>
      </p:sp>
      <p:sp>
        <p:nvSpPr>
          <p:cNvPr id="15" name="Texte 14 (ct-l)"/>
          <p:cNvSpPr txBox="1"/>
          <p:nvPr/>
        </p:nvSpPr>
        <p:spPr>
          <a:xfrm>
            <a:off x="742950" y="4355902"/>
            <a:ext cx="1273969" cy="267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3F1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Craie sur Noir</a:t>
            </a:r>
            <a:endParaRPr lang="en-US" sz="7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3F1E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16,6:1 · AAA</a:t>
            </a:r>
            <a:endParaRPr lang="en-US" sz="750" dirty="0"/>
          </a:p>
        </p:txBody>
      </p:sp>
      <p:sp>
        <p:nvSpPr>
          <p:cNvPr id="16" name="Texte 15 (ct-a)"/>
          <p:cNvSpPr txBox="1"/>
          <p:nvPr/>
        </p:nvSpPr>
        <p:spPr>
          <a:xfrm>
            <a:off x="2340769" y="3327202"/>
            <a:ext cx="990585" cy="59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75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Aa</a:t>
            </a:r>
            <a:endParaRPr lang="en-US" sz="3750" dirty="0"/>
          </a:p>
        </p:txBody>
      </p:sp>
      <p:sp>
        <p:nvSpPr>
          <p:cNvPr id="17" name="Texte 16 (ct-l)"/>
          <p:cNvSpPr txBox="1"/>
          <p:nvPr/>
        </p:nvSpPr>
        <p:spPr>
          <a:xfrm>
            <a:off x="2340769" y="4355902"/>
            <a:ext cx="1273969" cy="267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Noir sur Craie</a:t>
            </a:r>
            <a:endParaRPr lang="en-US" sz="7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16,6:1 · AAA</a:t>
            </a:r>
            <a:endParaRPr lang="en-US" sz="750" dirty="0"/>
          </a:p>
        </p:txBody>
      </p:sp>
      <p:sp>
        <p:nvSpPr>
          <p:cNvPr id="18" name="Texte 17 (ct-a)"/>
          <p:cNvSpPr txBox="1"/>
          <p:nvPr/>
        </p:nvSpPr>
        <p:spPr>
          <a:xfrm>
            <a:off x="3938588" y="3327202"/>
            <a:ext cx="990585" cy="59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75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Aa</a:t>
            </a:r>
            <a:endParaRPr lang="en-US" sz="3750" dirty="0"/>
          </a:p>
        </p:txBody>
      </p:sp>
      <p:sp>
        <p:nvSpPr>
          <p:cNvPr id="19" name="Texte 18 (ct-l)"/>
          <p:cNvSpPr txBox="1"/>
          <p:nvPr/>
        </p:nvSpPr>
        <p:spPr>
          <a:xfrm>
            <a:off x="3938588" y="4355902"/>
            <a:ext cx="1273969" cy="267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A46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Orange sur Noir</a:t>
            </a:r>
            <a:endParaRPr lang="en-US" sz="7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A461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5,3:1 · AA</a:t>
            </a:r>
            <a:endParaRPr lang="en-US" sz="750" dirty="0"/>
          </a:p>
        </p:txBody>
      </p:sp>
      <p:sp>
        <p:nvSpPr>
          <p:cNvPr id="20" name="Texte 19 (ct-a)"/>
          <p:cNvSpPr txBox="1"/>
          <p:nvPr/>
        </p:nvSpPr>
        <p:spPr>
          <a:xfrm>
            <a:off x="5536406" y="3327202"/>
            <a:ext cx="990585" cy="59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75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Aa</a:t>
            </a:r>
            <a:endParaRPr lang="en-US" sz="3750" dirty="0"/>
          </a:p>
        </p:txBody>
      </p:sp>
      <p:sp>
        <p:nvSpPr>
          <p:cNvPr id="21" name="Texte 20 (ct-l)"/>
          <p:cNvSpPr txBox="1"/>
          <p:nvPr/>
        </p:nvSpPr>
        <p:spPr>
          <a:xfrm>
            <a:off x="5536406" y="4355902"/>
            <a:ext cx="1273969" cy="267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Noir sur Orange</a:t>
            </a:r>
            <a:endParaRPr lang="en-US" sz="7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5,3:1 · AA</a:t>
            </a:r>
            <a:endParaRPr lang="en-US" sz="750" dirty="0"/>
          </a:p>
        </p:txBody>
      </p:sp>
      <p:sp>
        <p:nvSpPr>
          <p:cNvPr id="22" name="Texte 21 (ct-a)"/>
          <p:cNvSpPr txBox="1"/>
          <p:nvPr/>
        </p:nvSpPr>
        <p:spPr>
          <a:xfrm>
            <a:off x="7134225" y="3327202"/>
            <a:ext cx="990585" cy="59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750" dirty="0">
                <a:solidFill>
                  <a:srgbClr val="888B8D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Aa</a:t>
            </a:r>
            <a:endParaRPr lang="en-US" sz="3750" dirty="0"/>
          </a:p>
        </p:txBody>
      </p:sp>
      <p:sp>
        <p:nvSpPr>
          <p:cNvPr id="23" name="Texte 22 (ct-l)"/>
          <p:cNvSpPr txBox="1"/>
          <p:nvPr/>
        </p:nvSpPr>
        <p:spPr>
          <a:xfrm>
            <a:off x="7134225" y="4355902"/>
            <a:ext cx="1273969" cy="267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88B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Acier sur Noir</a:t>
            </a:r>
            <a:endParaRPr lang="en-US" sz="7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88B8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5,5:1 · AA</a:t>
            </a:r>
            <a:endParaRPr lang="en-US" sz="750" dirty="0"/>
          </a:p>
        </p:txBody>
      </p:sp>
      <p:sp>
        <p:nvSpPr>
          <p:cNvPr id="24" name="Texte 23 (ct-a)"/>
          <p:cNvSpPr txBox="1"/>
          <p:nvPr/>
        </p:nvSpPr>
        <p:spPr>
          <a:xfrm>
            <a:off x="8732044" y="3327202"/>
            <a:ext cx="990585" cy="59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75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Aa</a:t>
            </a:r>
            <a:endParaRPr lang="en-US" sz="3750" dirty="0"/>
          </a:p>
        </p:txBody>
      </p:sp>
      <p:sp>
        <p:nvSpPr>
          <p:cNvPr id="25" name="Texte 24 (ct-l)"/>
          <p:cNvSpPr txBox="1"/>
          <p:nvPr/>
        </p:nvSpPr>
        <p:spPr>
          <a:xfrm>
            <a:off x="8732044" y="4222552"/>
            <a:ext cx="1274118" cy="401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A46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Orange sur Craie</a:t>
            </a:r>
            <a:endParaRPr lang="en-US" sz="7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A461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3,1:1 · Grands titres uniquement</a:t>
            </a:r>
            <a:endParaRPr lang="en-US" sz="750" dirty="0"/>
          </a:p>
        </p:txBody>
      </p:sp>
      <p:sp>
        <p:nvSpPr>
          <p:cNvPr id="26" name="Texte 25 (foot-note)"/>
          <p:cNvSpPr txBox="1"/>
          <p:nvPr/>
        </p:nvSpPr>
        <p:spPr>
          <a:xfrm>
            <a:off x="609600" y="6614368"/>
            <a:ext cx="8943826" cy="14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Ratios calculés selon WCAG 2.1. L'orange n'est jamais utilisé pour du texte courant sur fond clair : réservez-le aux titres, chiffres clés, boutons sur fond noir et au symbole.</a:t>
            </a:r>
            <a:endParaRPr lang="en-US" sz="790" dirty="0"/>
          </a:p>
        </p:txBody>
      </p:sp>
      <p:sp>
        <p:nvSpPr>
          <p:cNvPr id="27" name="Texte 26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28" name="Texte 27 (span)"/>
          <p:cNvSpPr txBox="1"/>
          <p:nvPr/>
        </p:nvSpPr>
        <p:spPr>
          <a:xfrm>
            <a:off x="6345287" y="7188994"/>
            <a:ext cx="1326728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PROPORTIONS</a:t>
            </a:r>
            <a:endParaRPr lang="en-US" sz="680" dirty="0"/>
          </a:p>
        </p:txBody>
      </p:sp>
      <p:sp>
        <p:nvSpPr>
          <p:cNvPr id="29" name="Texte 28 (pn)"/>
          <p:cNvSpPr txBox="1"/>
          <p:nvPr/>
        </p:nvSpPr>
        <p:spPr>
          <a:xfrm>
            <a:off x="9932343" y="7188994"/>
            <a:ext cx="290274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18</a:t>
            </a:r>
            <a:endParaRPr lang="en-US" sz="6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h1)"/>
          <p:cNvSpPr txBox="1"/>
          <p:nvPr/>
        </p:nvSpPr>
        <p:spPr>
          <a:xfrm>
            <a:off x="666750" y="4944517"/>
            <a:ext cx="6320522" cy="72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TYPOGRAPHIE</a:t>
            </a:r>
            <a:endParaRPr lang="en-US" sz="4650" dirty="0"/>
          </a:p>
        </p:txBody>
      </p:sp>
      <p:sp>
        <p:nvSpPr>
          <p:cNvPr id="3" name="Texte 2 (p)"/>
          <p:cNvSpPr txBox="1"/>
          <p:nvPr/>
        </p:nvSpPr>
        <p:spPr>
          <a:xfrm>
            <a:off x="666750" y="5743575"/>
            <a:ext cx="4800139" cy="192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B9BC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Deux familles libres de droits : une pour frapper, une pour expliquer.</a:t>
            </a:r>
            <a:endParaRPr lang="en-US" sz="1050" dirty="0"/>
          </a:p>
        </p:txBody>
      </p:sp>
      <p:sp>
        <p:nvSpPr>
          <p:cNvPr id="4" name="Texte 3 (li)"/>
          <p:cNvSpPr txBox="1"/>
          <p:nvPr/>
        </p:nvSpPr>
        <p:spPr>
          <a:xfrm>
            <a:off x="771525" y="6178748"/>
            <a:ext cx="2907238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ARCHIVO EXPANDED — TITRES</a:t>
            </a:r>
            <a:endParaRPr lang="en-US" sz="750" dirty="0"/>
          </a:p>
        </p:txBody>
      </p:sp>
      <p:sp>
        <p:nvSpPr>
          <p:cNvPr id="5" name="Texte 4 (li)"/>
          <p:cNvSpPr txBox="1"/>
          <p:nvPr/>
        </p:nvSpPr>
        <p:spPr>
          <a:xfrm>
            <a:off x="3220343" y="6178748"/>
            <a:ext cx="1637645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INTER — TEXTES</a:t>
            </a:r>
            <a:endParaRPr lang="en-US" sz="750" dirty="0"/>
          </a:p>
        </p:txBody>
      </p:sp>
      <p:sp>
        <p:nvSpPr>
          <p:cNvPr id="6" name="Texte 5 (li)"/>
          <p:cNvSpPr txBox="1"/>
          <p:nvPr/>
        </p:nvSpPr>
        <p:spPr>
          <a:xfrm>
            <a:off x="771525" y="6516886"/>
            <a:ext cx="1224573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HIÉRARCHIE</a:t>
            </a:r>
            <a:endParaRPr lang="en-US" sz="750" dirty="0"/>
          </a:p>
        </p:txBody>
      </p:sp>
      <p:sp>
        <p:nvSpPr>
          <p:cNvPr id="7" name="Texte 6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8" name="Texte 7 (pn)"/>
          <p:cNvSpPr txBox="1"/>
          <p:nvPr/>
        </p:nvSpPr>
        <p:spPr>
          <a:xfrm>
            <a:off x="9933384" y="7188994"/>
            <a:ext cx="288920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19</a:t>
            </a:r>
            <a:endParaRPr lang="en-US" sz="6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kicker)"/>
          <p:cNvSpPr txBox="1"/>
          <p:nvPr/>
        </p:nvSpPr>
        <p:spPr>
          <a:xfrm>
            <a:off x="609600" y="514350"/>
            <a:ext cx="2233359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04 — TYPOGRAPHIE</a:t>
            </a:r>
            <a:endParaRPr lang="en-US" sz="750" dirty="0"/>
          </a:p>
        </p:txBody>
      </p:sp>
      <p:sp>
        <p:nvSpPr>
          <p:cNvPr id="3" name="Texte 2 (h2)"/>
          <p:cNvSpPr txBox="1"/>
          <p:nvPr/>
        </p:nvSpPr>
        <p:spPr>
          <a:xfrm>
            <a:off x="609600" y="719138"/>
            <a:ext cx="5990868" cy="40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ARCHIVO EXPANDED.</a:t>
            </a:r>
            <a:endParaRPr lang="en-US" sz="2550" dirty="0"/>
          </a:p>
        </p:txBody>
      </p:sp>
      <p:sp>
        <p:nvSpPr>
          <p:cNvPr id="4" name="Texte 3 (intro)"/>
          <p:cNvSpPr txBox="1"/>
          <p:nvPr/>
        </p:nvSpPr>
        <p:spPr>
          <a:xfrm>
            <a:off x="609600" y="1201787"/>
            <a:ext cx="6227371" cy="181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Titres, accroches, chiffres clés. Large, solide, toujours en capitales. C'est la police du logotype.</a:t>
            </a:r>
            <a:endParaRPr lang="en-US" sz="980" dirty="0"/>
          </a:p>
        </p:txBody>
      </p:sp>
      <p:sp>
        <p:nvSpPr>
          <p:cNvPr id="5" name="Texte 4 (aa)"/>
          <p:cNvSpPr txBox="1"/>
          <p:nvPr/>
        </p:nvSpPr>
        <p:spPr>
          <a:xfrm>
            <a:off x="609600" y="1422202"/>
            <a:ext cx="3318391" cy="20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0"/>
              </a:lnSpc>
              <a:buNone/>
            </a:pPr>
            <a:r>
              <a:rPr lang="en-US" sz="1350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Aa</a:t>
            </a:r>
            <a:endParaRPr lang="en-US" sz="13500" dirty="0"/>
          </a:p>
        </p:txBody>
      </p:sp>
      <p:sp>
        <p:nvSpPr>
          <p:cNvPr id="6" name="Texte 5 (alpha)"/>
          <p:cNvSpPr txBox="1"/>
          <p:nvPr/>
        </p:nvSpPr>
        <p:spPr>
          <a:xfrm>
            <a:off x="4229100" y="1612702"/>
            <a:ext cx="5910411" cy="873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30"/>
              </a:lnSpc>
              <a:buNone/>
            </a:pPr>
            <a:r>
              <a:rPr lang="en-US" sz="1730" spc="35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ABCDEFGHIJKLMNOPQRSTUVWXYZ</a:t>
            </a:r>
            <a:endParaRPr lang="en-US" sz="1730" dirty="0"/>
          </a:p>
          <a:p>
            <a:pPr algn="l" indent="0" marL="0">
              <a:lnSpc>
                <a:spcPts val="2330"/>
              </a:lnSpc>
              <a:buNone/>
            </a:pPr>
            <a:r>
              <a:rPr lang="en-US" sz="1730" spc="35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abcdefghijklmnopqrstuvwxyz</a:t>
            </a:r>
            <a:endParaRPr lang="en-US" sz="1730" dirty="0"/>
          </a:p>
          <a:p>
            <a:pPr algn="l" indent="0" marL="0">
              <a:lnSpc>
                <a:spcPts val="2330"/>
              </a:lnSpc>
              <a:buNone/>
            </a:pPr>
            <a:r>
              <a:rPr lang="en-US" sz="1730" spc="35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0123456789 — €%+ ! ? &amp;</a:t>
            </a:r>
            <a:endParaRPr lang="en-US" sz="1730" dirty="0"/>
          </a:p>
        </p:txBody>
      </p:sp>
      <p:sp>
        <p:nvSpPr>
          <p:cNvPr id="7" name="Texte 6 (archivo)"/>
          <p:cNvSpPr txBox="1"/>
          <p:nvPr/>
        </p:nvSpPr>
        <p:spPr>
          <a:xfrm>
            <a:off x="4229100" y="2890391"/>
            <a:ext cx="1119932" cy="49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350" dirty="0">
                <a:solidFill>
                  <a:srgbClr val="111214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MEDIUM 500</a:t>
            </a:r>
            <a:endParaRPr lang="en-US" sz="1350" dirty="0"/>
          </a:p>
        </p:txBody>
      </p:sp>
      <p:sp>
        <p:nvSpPr>
          <p:cNvPr id="8" name="Texte 7 (archivo)"/>
          <p:cNvSpPr txBox="1"/>
          <p:nvPr/>
        </p:nvSpPr>
        <p:spPr>
          <a:xfrm>
            <a:off x="5558582" y="2890391"/>
            <a:ext cx="890141" cy="49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350" b="1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BOLD 700</a:t>
            </a:r>
            <a:endParaRPr lang="en-US" sz="1350" dirty="0"/>
          </a:p>
        </p:txBody>
      </p:sp>
      <p:sp>
        <p:nvSpPr>
          <p:cNvPr id="9" name="Texte 8 (archivo)"/>
          <p:cNvSpPr txBox="1"/>
          <p:nvPr/>
        </p:nvSpPr>
        <p:spPr>
          <a:xfrm>
            <a:off x="6658273" y="2890391"/>
            <a:ext cx="1519833" cy="49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35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EXTRABOLD 800</a:t>
            </a:r>
            <a:endParaRPr lang="en-US" sz="1350" dirty="0"/>
          </a:p>
        </p:txBody>
      </p:sp>
      <p:sp>
        <p:nvSpPr>
          <p:cNvPr id="10" name="Texte 9 (archivo)"/>
          <p:cNvSpPr txBox="1"/>
          <p:nvPr/>
        </p:nvSpPr>
        <p:spPr>
          <a:xfrm>
            <a:off x="8387655" y="2890391"/>
            <a:ext cx="1751856" cy="49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350" i="1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EXTRABOLD ITALIC</a:t>
            </a:r>
            <a:endParaRPr lang="en-US" sz="1350" dirty="0"/>
          </a:p>
        </p:txBody>
      </p:sp>
      <p:sp>
        <p:nvSpPr>
          <p:cNvPr id="11" name="Texte 10 (li)"/>
          <p:cNvSpPr txBox="1"/>
          <p:nvPr/>
        </p:nvSpPr>
        <p:spPr>
          <a:xfrm>
            <a:off x="4438650" y="3812232"/>
            <a:ext cx="3819183" cy="15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Largeur </a:t>
            </a:r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Expanded (125)</a:t>
            </a:r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réglage « wdth » de la police variable.</a:t>
            </a:r>
            <a:endParaRPr lang="en-US" sz="860" dirty="0"/>
          </a:p>
        </p:txBody>
      </p:sp>
      <p:sp>
        <p:nvSpPr>
          <p:cNvPr id="12" name="Texte 11 (li)"/>
          <p:cNvSpPr txBox="1"/>
          <p:nvPr/>
        </p:nvSpPr>
        <p:spPr>
          <a:xfrm>
            <a:off x="4438650" y="4058096"/>
            <a:ext cx="3720792" cy="15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Titres en capitales, approche +1 à +4 %, interlignage 95–105 %.</a:t>
            </a:r>
            <a:endParaRPr lang="en-US" sz="860" dirty="0"/>
          </a:p>
        </p:txBody>
      </p:sp>
      <p:sp>
        <p:nvSpPr>
          <p:cNvPr id="13" name="Texte 12 (li)"/>
          <p:cNvSpPr txBox="1"/>
          <p:nvPr/>
        </p:nvSpPr>
        <p:spPr>
          <a:xfrm>
            <a:off x="4438650" y="4303961"/>
            <a:ext cx="4169852" cy="15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L'italique est réservé aux chiffres de performance (temps, kilos, séries).</a:t>
            </a:r>
            <a:endParaRPr lang="en-US" sz="860" dirty="0"/>
          </a:p>
        </p:txBody>
      </p:sp>
      <p:sp>
        <p:nvSpPr>
          <p:cNvPr id="14" name="Texte 13 (li)"/>
          <p:cNvSpPr txBox="1"/>
          <p:nvPr/>
        </p:nvSpPr>
        <p:spPr>
          <a:xfrm>
            <a:off x="4438650" y="4549825"/>
            <a:ext cx="4884122" cy="15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Licence SIL Open Font License · Google Fonts · gratuite, usage commercial autorisé.</a:t>
            </a:r>
            <a:endParaRPr lang="en-US" sz="860" dirty="0"/>
          </a:p>
        </p:txBody>
      </p:sp>
      <p:sp>
        <p:nvSpPr>
          <p:cNvPr id="15" name="Texte 14 (sample-line)"/>
          <p:cNvSpPr txBox="1"/>
          <p:nvPr/>
        </p:nvSpPr>
        <p:spPr>
          <a:xfrm>
            <a:off x="609600" y="6169223"/>
            <a:ext cx="6343933" cy="629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05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VISE PLUS HAUT.</a:t>
            </a:r>
            <a:endParaRPr lang="en-US" sz="4050" dirty="0"/>
          </a:p>
        </p:txBody>
      </p:sp>
      <p:sp>
        <p:nvSpPr>
          <p:cNvPr id="16" name="Texte 15 (span)"/>
          <p:cNvSpPr txBox="1"/>
          <p:nvPr/>
        </p:nvSpPr>
        <p:spPr>
          <a:xfrm>
            <a:off x="7067104" y="6397823"/>
            <a:ext cx="3412034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i="1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−12 KG · 5×5 · 42:15</a:t>
            </a:r>
            <a:endParaRPr lang="en-US" sz="1950" dirty="0"/>
          </a:p>
        </p:txBody>
      </p:sp>
      <p:sp>
        <p:nvSpPr>
          <p:cNvPr id="17" name="Texte 16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18" name="Texte 17 (span)"/>
          <p:cNvSpPr txBox="1"/>
          <p:nvPr/>
        </p:nvSpPr>
        <p:spPr>
          <a:xfrm>
            <a:off x="6522393" y="7188994"/>
            <a:ext cx="859095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ARCHIVO</a:t>
            </a:r>
            <a:endParaRPr lang="en-US" sz="680" dirty="0"/>
          </a:p>
        </p:txBody>
      </p:sp>
      <p:sp>
        <p:nvSpPr>
          <p:cNvPr id="19" name="Texte 18 (pn)"/>
          <p:cNvSpPr txBox="1"/>
          <p:nvPr/>
        </p:nvSpPr>
        <p:spPr>
          <a:xfrm>
            <a:off x="9926836" y="7188994"/>
            <a:ext cx="297433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20</a:t>
            </a:r>
            <a:endParaRPr lang="en-US" sz="6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kicker)"/>
          <p:cNvSpPr txBox="1"/>
          <p:nvPr/>
        </p:nvSpPr>
        <p:spPr>
          <a:xfrm>
            <a:off x="609600" y="514350"/>
            <a:ext cx="2233359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04 — TYPOGRAPHIE</a:t>
            </a:r>
            <a:endParaRPr lang="en-US" sz="750" dirty="0"/>
          </a:p>
        </p:txBody>
      </p:sp>
      <p:sp>
        <p:nvSpPr>
          <p:cNvPr id="3" name="Texte 2 (h2)"/>
          <p:cNvSpPr txBox="1"/>
          <p:nvPr/>
        </p:nvSpPr>
        <p:spPr>
          <a:xfrm>
            <a:off x="609600" y="719138"/>
            <a:ext cx="6093023" cy="40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INTER &amp; HIÉRARCHIE.</a:t>
            </a:r>
            <a:endParaRPr lang="en-US" sz="2550" dirty="0"/>
          </a:p>
        </p:txBody>
      </p:sp>
      <p:sp>
        <p:nvSpPr>
          <p:cNvPr id="4" name="Texte 3 (aa)"/>
          <p:cNvSpPr txBox="1"/>
          <p:nvPr/>
        </p:nvSpPr>
        <p:spPr>
          <a:xfrm>
            <a:off x="609600" y="1106537"/>
            <a:ext cx="1595661" cy="1417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825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Aa</a:t>
            </a:r>
            <a:endParaRPr lang="en-US" sz="8250" dirty="0"/>
          </a:p>
        </p:txBody>
      </p:sp>
      <p:sp>
        <p:nvSpPr>
          <p:cNvPr id="5" name="Texte 4 (alpha)"/>
          <p:cNvSpPr txBox="1"/>
          <p:nvPr/>
        </p:nvSpPr>
        <p:spPr>
          <a:xfrm>
            <a:off x="2076450" y="1287512"/>
            <a:ext cx="3272730" cy="660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0"/>
              </a:lnSpc>
              <a:buNone/>
            </a:pPr>
            <a:r>
              <a:rPr lang="en-US" sz="1280" spc="26" kern="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ABCDEFGHIJKLMNOPQRSTUVWXYZ</a:t>
            </a:r>
            <a:endParaRPr lang="en-US" sz="1280" dirty="0"/>
          </a:p>
          <a:p>
            <a:pPr algn="l" indent="0" marL="0">
              <a:lnSpc>
                <a:spcPts val="1720"/>
              </a:lnSpc>
              <a:buNone/>
            </a:pPr>
            <a:r>
              <a:rPr lang="en-US" sz="1280" spc="26" kern="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abcdefghijklmnopqrstuvwxyz</a:t>
            </a:r>
            <a:endParaRPr lang="en-US" sz="1280" dirty="0"/>
          </a:p>
          <a:p>
            <a:pPr algn="l" indent="0" marL="0">
              <a:lnSpc>
                <a:spcPts val="1720"/>
              </a:lnSpc>
              <a:buNone/>
            </a:pPr>
            <a:r>
              <a:rPr lang="en-US" sz="1280" spc="26" kern="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0123456789</a:t>
            </a:r>
            <a:endParaRPr lang="en-US" sz="1280" dirty="0"/>
          </a:p>
        </p:txBody>
      </p:sp>
      <p:sp>
        <p:nvSpPr>
          <p:cNvPr id="6" name="Texte 5 (note)"/>
          <p:cNvSpPr txBox="1"/>
          <p:nvPr/>
        </p:nvSpPr>
        <p:spPr>
          <a:xfrm>
            <a:off x="2076450" y="2057251"/>
            <a:ext cx="3272730" cy="48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— textes courants, interfaces, légendes. Regular 400, Medium 500, SemiBold 600. Licence SIL OFL · Google Fonts.</a:t>
            </a:r>
            <a:endParaRPr lang="en-US" sz="830" dirty="0"/>
          </a:p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Polices de secours : Arial / Helvetica.</a:t>
            </a:r>
            <a:endParaRPr lang="en-US" sz="830" dirty="0"/>
          </a:p>
        </p:txBody>
      </p:sp>
      <p:sp>
        <p:nvSpPr>
          <p:cNvPr id="7" name="Texte 6 (h-l)"/>
          <p:cNvSpPr txBox="1"/>
          <p:nvPr/>
        </p:nvSpPr>
        <p:spPr>
          <a:xfrm>
            <a:off x="6073080" y="1468487"/>
            <a:ext cx="511567" cy="153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Surtitre</a:t>
            </a:r>
            <a:endParaRPr lang="en-US" sz="830" dirty="0"/>
          </a:p>
        </p:txBody>
      </p:sp>
      <p:sp>
        <p:nvSpPr>
          <p:cNvPr id="8" name="Texte 7 (small)"/>
          <p:cNvSpPr txBox="1"/>
          <p:nvPr/>
        </p:nvSpPr>
        <p:spPr>
          <a:xfrm>
            <a:off x="6073080" y="1604665"/>
            <a:ext cx="1676400" cy="241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1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Archivo Exp. Medium 11 pt · capitales · +30 %</a:t>
            </a:r>
            <a:endParaRPr lang="en-US" sz="710" dirty="0"/>
          </a:p>
        </p:txBody>
      </p:sp>
      <p:sp>
        <p:nvSpPr>
          <p:cNvPr id="9" name="Texte 8 (kicker)"/>
          <p:cNvSpPr txBox="1"/>
          <p:nvPr/>
        </p:nvSpPr>
        <p:spPr>
          <a:xfrm>
            <a:off x="7882830" y="1525488"/>
            <a:ext cx="2009031" cy="274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FA461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PROGRAMME 12 SEMAINES</a:t>
            </a:r>
            <a:endParaRPr lang="en-US" sz="750" dirty="0"/>
          </a:p>
        </p:txBody>
      </p:sp>
      <p:sp>
        <p:nvSpPr>
          <p:cNvPr id="10" name="Texte 9 (h-l)"/>
          <p:cNvSpPr txBox="1"/>
          <p:nvPr/>
        </p:nvSpPr>
        <p:spPr>
          <a:xfrm>
            <a:off x="6073080" y="2177951"/>
            <a:ext cx="431349" cy="153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Titre 1</a:t>
            </a:r>
            <a:endParaRPr lang="en-US" sz="830" dirty="0"/>
          </a:p>
        </p:txBody>
      </p:sp>
      <p:sp>
        <p:nvSpPr>
          <p:cNvPr id="11" name="Texte 10 (small)"/>
          <p:cNvSpPr txBox="1"/>
          <p:nvPr/>
        </p:nvSpPr>
        <p:spPr>
          <a:xfrm>
            <a:off x="6073080" y="2314129"/>
            <a:ext cx="1676400" cy="241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1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Archivo Exp. ExtraBold 40 pt · capitales</a:t>
            </a:r>
            <a:endParaRPr lang="en-US" sz="710" dirty="0"/>
          </a:p>
        </p:txBody>
      </p:sp>
      <p:sp>
        <p:nvSpPr>
          <p:cNvPr id="12" name="Texte 11 (h1s)"/>
          <p:cNvSpPr txBox="1"/>
          <p:nvPr/>
        </p:nvSpPr>
        <p:spPr>
          <a:xfrm>
            <a:off x="7882830" y="2068413"/>
            <a:ext cx="2009031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VISE PLUS HAUT.</a:t>
            </a:r>
            <a:endParaRPr lang="en-US" sz="2250" dirty="0"/>
          </a:p>
        </p:txBody>
      </p:sp>
      <p:sp>
        <p:nvSpPr>
          <p:cNvPr id="13" name="Texte 12 (h-l)"/>
          <p:cNvSpPr txBox="1"/>
          <p:nvPr/>
        </p:nvSpPr>
        <p:spPr>
          <a:xfrm>
            <a:off x="6073080" y="2949178"/>
            <a:ext cx="454432" cy="153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Titre 2</a:t>
            </a:r>
            <a:endParaRPr lang="en-US" sz="830" dirty="0"/>
          </a:p>
        </p:txBody>
      </p:sp>
      <p:sp>
        <p:nvSpPr>
          <p:cNvPr id="14" name="Texte 13 (small)"/>
          <p:cNvSpPr txBox="1"/>
          <p:nvPr/>
        </p:nvSpPr>
        <p:spPr>
          <a:xfrm>
            <a:off x="6073080" y="3085356"/>
            <a:ext cx="11960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1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Archivo Exp. Bold 20 pt</a:t>
            </a:r>
            <a:endParaRPr lang="en-US" sz="710" dirty="0"/>
          </a:p>
        </p:txBody>
      </p:sp>
      <p:sp>
        <p:nvSpPr>
          <p:cNvPr id="15" name="Texte 14 (h2s)"/>
          <p:cNvSpPr txBox="1"/>
          <p:nvPr/>
        </p:nvSpPr>
        <p:spPr>
          <a:xfrm>
            <a:off x="7882830" y="2878038"/>
            <a:ext cx="2009031" cy="407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0"/>
              </a:lnSpc>
              <a:buNone/>
            </a:pPr>
            <a:r>
              <a:rPr lang="en-US" sz="1350" b="1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PRÉPARATION PHYSIQUE</a:t>
            </a:r>
            <a:endParaRPr lang="en-US" sz="1350" dirty="0"/>
          </a:p>
        </p:txBody>
      </p:sp>
      <p:sp>
        <p:nvSpPr>
          <p:cNvPr id="16" name="Texte 15 (h-l)"/>
          <p:cNvSpPr txBox="1"/>
          <p:nvPr/>
        </p:nvSpPr>
        <p:spPr>
          <a:xfrm>
            <a:off x="6073080" y="3537793"/>
            <a:ext cx="671676" cy="153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Chiffre clé</a:t>
            </a:r>
            <a:endParaRPr lang="en-US" sz="830" dirty="0"/>
          </a:p>
        </p:txBody>
      </p:sp>
      <p:sp>
        <p:nvSpPr>
          <p:cNvPr id="17" name="Texte 16 (small)"/>
          <p:cNvSpPr txBox="1"/>
          <p:nvPr/>
        </p:nvSpPr>
        <p:spPr>
          <a:xfrm>
            <a:off x="6073080" y="3673971"/>
            <a:ext cx="141525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1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Archivo Exp. ExtraBold Italic</a:t>
            </a:r>
            <a:endParaRPr lang="en-US" sz="710" dirty="0"/>
          </a:p>
        </p:txBody>
      </p:sp>
      <p:sp>
        <p:nvSpPr>
          <p:cNvPr id="18" name="Texte 17 (kpi)"/>
          <p:cNvSpPr txBox="1"/>
          <p:nvPr/>
        </p:nvSpPr>
        <p:spPr>
          <a:xfrm>
            <a:off x="7882830" y="3483769"/>
            <a:ext cx="1529194" cy="401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i="1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−12 kg</a:t>
            </a:r>
            <a:endParaRPr lang="en-US" sz="2550" dirty="0"/>
          </a:p>
        </p:txBody>
      </p:sp>
      <p:sp>
        <p:nvSpPr>
          <p:cNvPr id="19" name="Texte 18 (h-l)"/>
          <p:cNvSpPr txBox="1"/>
          <p:nvPr/>
        </p:nvSpPr>
        <p:spPr>
          <a:xfrm>
            <a:off x="6073080" y="4218384"/>
            <a:ext cx="403190" cy="153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Texte</a:t>
            </a:r>
            <a:endParaRPr lang="en-US" sz="830" dirty="0"/>
          </a:p>
        </p:txBody>
      </p:sp>
      <p:sp>
        <p:nvSpPr>
          <p:cNvPr id="20" name="Texte 19 (small)"/>
          <p:cNvSpPr txBox="1"/>
          <p:nvPr/>
        </p:nvSpPr>
        <p:spPr>
          <a:xfrm>
            <a:off x="6073080" y="4354562"/>
            <a:ext cx="1676400" cy="241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1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Regular 10–11 pt · interligne 150 %</a:t>
            </a:r>
            <a:endParaRPr lang="en-US" sz="710" dirty="0"/>
          </a:p>
        </p:txBody>
      </p:sp>
      <p:sp>
        <p:nvSpPr>
          <p:cNvPr id="21" name="Texte 20 (body-s)"/>
          <p:cNvSpPr txBox="1"/>
          <p:nvPr/>
        </p:nvSpPr>
        <p:spPr>
          <a:xfrm>
            <a:off x="7882830" y="4074319"/>
            <a:ext cx="2009031" cy="6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bilan complet, un plan d'entraînement sur mesure et un suivi chaque semaine pour progresser sans se blesser.</a:t>
            </a:r>
            <a:endParaRPr lang="en-US" sz="860" dirty="0"/>
          </a:p>
        </p:txBody>
      </p:sp>
      <p:sp>
        <p:nvSpPr>
          <p:cNvPr id="22" name="Texte 21 (h-l)"/>
          <p:cNvSpPr txBox="1"/>
          <p:nvPr/>
        </p:nvSpPr>
        <p:spPr>
          <a:xfrm>
            <a:off x="6073080" y="4981575"/>
            <a:ext cx="579507" cy="153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Légende</a:t>
            </a:r>
            <a:endParaRPr lang="en-US" sz="830" dirty="0"/>
          </a:p>
        </p:txBody>
      </p:sp>
      <p:sp>
        <p:nvSpPr>
          <p:cNvPr id="23" name="Texte 22 (small)"/>
          <p:cNvSpPr txBox="1"/>
          <p:nvPr/>
        </p:nvSpPr>
        <p:spPr>
          <a:xfrm>
            <a:off x="6073080" y="5117753"/>
            <a:ext cx="147320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1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Medium 8 pt · Gris Acier</a:t>
            </a:r>
            <a:endParaRPr lang="en-US" sz="710" dirty="0"/>
          </a:p>
        </p:txBody>
      </p:sp>
      <p:sp>
        <p:nvSpPr>
          <p:cNvPr id="24" name="Texte 23 (cap-s)"/>
          <p:cNvSpPr txBox="1"/>
          <p:nvPr/>
        </p:nvSpPr>
        <p:spPr>
          <a:xfrm>
            <a:off x="7882830" y="5044083"/>
            <a:ext cx="1669822" cy="136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dirty="0">
                <a:solidFill>
                  <a:srgbClr val="888B8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Séance small group — Paris 11e</a:t>
            </a:r>
            <a:endParaRPr lang="en-US" sz="750" dirty="0"/>
          </a:p>
        </p:txBody>
      </p:sp>
      <p:sp>
        <p:nvSpPr>
          <p:cNvPr id="25" name="Texte 24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26" name="Texte 25 (span)"/>
          <p:cNvSpPr txBox="1"/>
          <p:nvPr/>
        </p:nvSpPr>
        <p:spPr>
          <a:xfrm>
            <a:off x="6137672" y="7188994"/>
            <a:ext cx="186865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INTER &amp; HIÉRARCHIE</a:t>
            </a:r>
            <a:endParaRPr lang="en-US" sz="680" dirty="0"/>
          </a:p>
        </p:txBody>
      </p:sp>
      <p:sp>
        <p:nvSpPr>
          <p:cNvPr id="27" name="Texte 26 (pn)"/>
          <p:cNvSpPr txBox="1"/>
          <p:nvPr/>
        </p:nvSpPr>
        <p:spPr>
          <a:xfrm>
            <a:off x="9934129" y="7188994"/>
            <a:ext cx="287953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21</a:t>
            </a:r>
            <a:endParaRPr lang="en-US" sz="6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h1)"/>
          <p:cNvSpPr txBox="1"/>
          <p:nvPr/>
        </p:nvSpPr>
        <p:spPr>
          <a:xfrm>
            <a:off x="666750" y="4383584"/>
            <a:ext cx="5010150" cy="1283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ÉLÉMENTS</a:t>
            </a:r>
            <a:endParaRPr lang="en-US" sz="4650" dirty="0"/>
          </a:p>
          <a:p>
            <a:pPr algn="l" indent="0" marL="0">
              <a:lnSpc>
                <a:spcPts val="465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GRAPHIQUES</a:t>
            </a:r>
            <a:endParaRPr lang="en-US" sz="4650" dirty="0"/>
          </a:p>
        </p:txBody>
      </p:sp>
      <p:sp>
        <p:nvSpPr>
          <p:cNvPr id="3" name="Texte 2 (p)"/>
          <p:cNvSpPr txBox="1"/>
          <p:nvPr/>
        </p:nvSpPr>
        <p:spPr>
          <a:xfrm>
            <a:off x="666750" y="5743575"/>
            <a:ext cx="5351517" cy="192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B9BC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 outils dérivés du symbole pour reconnaître la marque, même sans logo.</a:t>
            </a:r>
            <a:endParaRPr lang="en-US" sz="1050" dirty="0"/>
          </a:p>
        </p:txBody>
      </p:sp>
      <p:sp>
        <p:nvSpPr>
          <p:cNvPr id="4" name="Texte 3 (li)"/>
          <p:cNvSpPr txBox="1"/>
          <p:nvPr/>
        </p:nvSpPr>
        <p:spPr>
          <a:xfrm>
            <a:off x="771525" y="6178748"/>
            <a:ext cx="2180927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L'ANGLE 15° &amp; LE TRAIT</a:t>
            </a:r>
            <a:endParaRPr lang="en-US" sz="750" dirty="0"/>
          </a:p>
        </p:txBody>
      </p:sp>
      <p:sp>
        <p:nvSpPr>
          <p:cNvPr id="5" name="Texte 4 (li)"/>
          <p:cNvSpPr txBox="1"/>
          <p:nvPr/>
        </p:nvSpPr>
        <p:spPr>
          <a:xfrm>
            <a:off x="2661642" y="6178748"/>
            <a:ext cx="1748120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LE MOTIF SILLAGE</a:t>
            </a:r>
            <a:endParaRPr lang="en-US" sz="750" dirty="0"/>
          </a:p>
        </p:txBody>
      </p:sp>
      <p:sp>
        <p:nvSpPr>
          <p:cNvPr id="6" name="Texte 5 (li)"/>
          <p:cNvSpPr txBox="1"/>
          <p:nvPr/>
        </p:nvSpPr>
        <p:spPr>
          <a:xfrm>
            <a:off x="4218831" y="6178748"/>
            <a:ext cx="1581343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PICTOGRAMMES</a:t>
            </a:r>
            <a:endParaRPr lang="en-US" sz="750" dirty="0"/>
          </a:p>
        </p:txBody>
      </p:sp>
      <p:sp>
        <p:nvSpPr>
          <p:cNvPr id="7" name="Texte 6 (li)"/>
          <p:cNvSpPr txBox="1"/>
          <p:nvPr/>
        </p:nvSpPr>
        <p:spPr>
          <a:xfrm>
            <a:off x="771525" y="6516886"/>
            <a:ext cx="1797070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DIRECTION PHOTO</a:t>
            </a:r>
            <a:endParaRPr lang="en-US" sz="750" dirty="0"/>
          </a:p>
        </p:txBody>
      </p:sp>
      <p:sp>
        <p:nvSpPr>
          <p:cNvPr id="8" name="Texte 7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9" name="Texte 8 (pn)"/>
          <p:cNvSpPr txBox="1"/>
          <p:nvPr/>
        </p:nvSpPr>
        <p:spPr>
          <a:xfrm>
            <a:off x="9927134" y="7188994"/>
            <a:ext cx="29704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22</a:t>
            </a:r>
            <a:endParaRPr lang="en-US" sz="6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kicker)"/>
          <p:cNvSpPr txBox="1"/>
          <p:nvPr/>
        </p:nvSpPr>
        <p:spPr>
          <a:xfrm>
            <a:off x="609600" y="514350"/>
            <a:ext cx="3337917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05 — ÉLÉMENTS GRAPHIQUES</a:t>
            </a:r>
            <a:endParaRPr lang="en-US" sz="750" dirty="0"/>
          </a:p>
        </p:txBody>
      </p:sp>
      <p:sp>
        <p:nvSpPr>
          <p:cNvPr id="3" name="Texte 2 (h2)"/>
          <p:cNvSpPr txBox="1"/>
          <p:nvPr/>
        </p:nvSpPr>
        <p:spPr>
          <a:xfrm>
            <a:off x="609600" y="719138"/>
            <a:ext cx="6557948" cy="40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L'ANGLE 15° &amp; LE TRAIT.</a:t>
            </a:r>
            <a:endParaRPr lang="en-US" sz="2550" dirty="0"/>
          </a:p>
        </p:txBody>
      </p:sp>
      <p:sp>
        <p:nvSpPr>
          <p:cNvPr id="4" name="Texte 3 (intro)"/>
          <p:cNvSpPr txBox="1"/>
          <p:nvPr/>
        </p:nvSpPr>
        <p:spPr>
          <a:xfrm>
            <a:off x="609600" y="1201787"/>
            <a:ext cx="6153150" cy="373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Deux signatures issues du symbole. L'angle de son arête supérieure découpe les images et les aplats ; sa pointe effilée devient un trait de soulignement.</a:t>
            </a:r>
            <a:endParaRPr lang="en-US" sz="980" dirty="0"/>
          </a:p>
        </p:txBody>
      </p:sp>
      <p:sp>
        <p:nvSpPr>
          <p:cNvPr id="5" name="Texte 4 (ang-txt)"/>
          <p:cNvSpPr txBox="1"/>
          <p:nvPr/>
        </p:nvSpPr>
        <p:spPr>
          <a:xfrm>
            <a:off x="838200" y="2185541"/>
            <a:ext cx="1364010" cy="79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4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15°</a:t>
            </a:r>
            <a:endParaRPr lang="en-US" sz="4800" dirty="0"/>
          </a:p>
        </p:txBody>
      </p:sp>
      <p:sp>
        <p:nvSpPr>
          <p:cNvPr id="6" name="Texte 5 (b)"/>
          <p:cNvSpPr txBox="1"/>
          <p:nvPr/>
        </p:nvSpPr>
        <p:spPr>
          <a:xfrm>
            <a:off x="609600" y="5566916"/>
            <a:ext cx="1519818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DÉCOUPE À 15°</a:t>
            </a:r>
            <a:endParaRPr lang="en-US" sz="830" dirty="0"/>
          </a:p>
        </p:txBody>
      </p:sp>
      <p:sp>
        <p:nvSpPr>
          <p:cNvPr id="7" name="Texte 6 (span)"/>
          <p:cNvSpPr txBox="1"/>
          <p:nvPr/>
        </p:nvSpPr>
        <p:spPr>
          <a:xfrm>
            <a:off x="609600" y="5719763"/>
            <a:ext cx="2983706" cy="302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Coins d'images, bandeaux et aplats sont coupés à 15°, montant vers la droite. Un seul angle par composition.</a:t>
            </a:r>
            <a:endParaRPr lang="en-US" sz="790" dirty="0"/>
          </a:p>
        </p:txBody>
      </p:sp>
      <p:sp>
        <p:nvSpPr>
          <p:cNvPr id="8" name="Texte 7 (t-title)"/>
          <p:cNvSpPr txBox="1"/>
          <p:nvPr/>
        </p:nvSpPr>
        <p:spPr>
          <a:xfrm>
            <a:off x="4107656" y="3033266"/>
            <a:ext cx="2533650" cy="724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FORCE &amp;</a:t>
            </a:r>
            <a:endParaRPr lang="en-US" sz="255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MOBILITÉ</a:t>
            </a:r>
            <a:endParaRPr lang="en-US" sz="2550" dirty="0"/>
          </a:p>
        </p:txBody>
      </p:sp>
      <p:sp>
        <p:nvSpPr>
          <p:cNvPr id="9" name="Texte 8 (b)"/>
          <p:cNvSpPr txBox="1"/>
          <p:nvPr/>
        </p:nvSpPr>
        <p:spPr>
          <a:xfrm>
            <a:off x="3783806" y="5566916"/>
            <a:ext cx="926619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LE TRAIT</a:t>
            </a:r>
            <a:endParaRPr lang="en-US" sz="830" dirty="0"/>
          </a:p>
        </p:txBody>
      </p:sp>
      <p:sp>
        <p:nvSpPr>
          <p:cNvPr id="10" name="Texte 9 (span)"/>
          <p:cNvSpPr txBox="1"/>
          <p:nvPr/>
        </p:nvSpPr>
        <p:spPr>
          <a:xfrm>
            <a:off x="3783806" y="5719763"/>
            <a:ext cx="3181350" cy="302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Souligne un titre, sépare deux blocs, marque une progression. Toujours effilé vers la gauche, pointe vers la droite.</a:t>
            </a:r>
            <a:endParaRPr lang="en-US" sz="790" dirty="0"/>
          </a:p>
        </p:txBody>
      </p:sp>
      <p:sp>
        <p:nvSpPr>
          <p:cNvPr id="11" name="Texte 10 (span)"/>
          <p:cNvSpPr txBox="1"/>
          <p:nvPr/>
        </p:nvSpPr>
        <p:spPr>
          <a:xfrm>
            <a:off x="7727156" y="3188047"/>
            <a:ext cx="938421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180" kern="0" dirty="0">
                <a:solidFill>
                  <a:srgbClr val="FA4616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SÉANCE</a:t>
            </a:r>
            <a:endParaRPr lang="en-US" sz="750" dirty="0"/>
          </a:p>
        </p:txBody>
      </p:sp>
      <p:sp>
        <p:nvSpPr>
          <p:cNvPr id="12" name="Texte 11 (b)"/>
          <p:cNvSpPr txBox="1"/>
          <p:nvPr/>
        </p:nvSpPr>
        <p:spPr>
          <a:xfrm>
            <a:off x="7727156" y="3402360"/>
            <a:ext cx="1656606" cy="498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000" i="1" spc="150" kern="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N°24</a:t>
            </a:r>
            <a:endParaRPr lang="en-US" sz="3000" dirty="0"/>
          </a:p>
        </p:txBody>
      </p:sp>
      <p:sp>
        <p:nvSpPr>
          <p:cNvPr id="13" name="Texte 12 (b)"/>
          <p:cNvSpPr txBox="1"/>
          <p:nvPr/>
        </p:nvSpPr>
        <p:spPr>
          <a:xfrm>
            <a:off x="7155656" y="5566916"/>
            <a:ext cx="1157436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ÉTIQUETTE</a:t>
            </a:r>
            <a:endParaRPr lang="en-US" sz="830" dirty="0"/>
          </a:p>
        </p:txBody>
      </p:sp>
      <p:sp>
        <p:nvSpPr>
          <p:cNvPr id="14" name="Texte 13 (span)"/>
          <p:cNvSpPr txBox="1"/>
          <p:nvPr/>
        </p:nvSpPr>
        <p:spPr>
          <a:xfrm>
            <a:off x="7155656" y="5719763"/>
            <a:ext cx="2983855" cy="302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Aplat noir, texte Archivo, trait orange ou craie. Pour numéroter séances, semaines, étapes.</a:t>
            </a:r>
            <a:endParaRPr lang="en-US" sz="790" dirty="0"/>
          </a:p>
        </p:txBody>
      </p:sp>
      <p:sp>
        <p:nvSpPr>
          <p:cNvPr id="15" name="Texte 14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16" name="Texte 15 (span)"/>
          <p:cNvSpPr txBox="1"/>
          <p:nvPr/>
        </p:nvSpPr>
        <p:spPr>
          <a:xfrm>
            <a:off x="6321475" y="7188994"/>
            <a:ext cx="1381095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ANGLE &amp; TRAIT</a:t>
            </a:r>
            <a:endParaRPr lang="en-US" sz="680" dirty="0"/>
          </a:p>
        </p:txBody>
      </p:sp>
      <p:sp>
        <p:nvSpPr>
          <p:cNvPr id="17" name="Texte 16 (pn)"/>
          <p:cNvSpPr txBox="1"/>
          <p:nvPr/>
        </p:nvSpPr>
        <p:spPr>
          <a:xfrm>
            <a:off x="9926538" y="7188994"/>
            <a:ext cx="297820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23</a:t>
            </a:r>
            <a:endParaRPr lang="en-US" sz="6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kicker)"/>
          <p:cNvSpPr txBox="1"/>
          <p:nvPr/>
        </p:nvSpPr>
        <p:spPr>
          <a:xfrm>
            <a:off x="609600" y="514350"/>
            <a:ext cx="3337917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05 — ÉLÉMENTS GRAPHIQUES</a:t>
            </a:r>
            <a:endParaRPr lang="en-US" sz="750" dirty="0"/>
          </a:p>
        </p:txBody>
      </p:sp>
      <p:sp>
        <p:nvSpPr>
          <p:cNvPr id="3" name="Texte 2 (h2)"/>
          <p:cNvSpPr txBox="1"/>
          <p:nvPr/>
        </p:nvSpPr>
        <p:spPr>
          <a:xfrm>
            <a:off x="609600" y="719138"/>
            <a:ext cx="6064195" cy="40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LE MOTIF « SILLAGE ».</a:t>
            </a:r>
            <a:endParaRPr lang="en-US" sz="2550" dirty="0"/>
          </a:p>
        </p:txBody>
      </p:sp>
      <p:sp>
        <p:nvSpPr>
          <p:cNvPr id="4" name="Texte 3 (intro)"/>
          <p:cNvSpPr txBox="1"/>
          <p:nvPr/>
        </p:nvSpPr>
        <p:spPr>
          <a:xfrm>
            <a:off x="609600" y="1201787"/>
            <a:ext cx="6153150" cy="373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 lames effilées en quinconce, comme une trace de vitesse. Il habille les fonds, les dos de cartes, le textile et les publications sans texte.</a:t>
            </a:r>
            <a:endParaRPr lang="en-US" sz="980" dirty="0"/>
          </a:p>
        </p:txBody>
      </p:sp>
      <p:sp>
        <p:nvSpPr>
          <p:cNvPr id="5" name="Texte 4 (b)"/>
          <p:cNvSpPr txBox="1"/>
          <p:nvPr/>
        </p:nvSpPr>
        <p:spPr>
          <a:xfrm>
            <a:off x="609600" y="5090666"/>
            <a:ext cx="1005557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SUR NOIR</a:t>
            </a:r>
            <a:endParaRPr lang="en-US" sz="830" dirty="0"/>
          </a:p>
        </p:txBody>
      </p:sp>
      <p:sp>
        <p:nvSpPr>
          <p:cNvPr id="6" name="Texte 5 (span)"/>
          <p:cNvSpPr txBox="1"/>
          <p:nvPr/>
        </p:nvSpPr>
        <p:spPr>
          <a:xfrm>
            <a:off x="609600" y="5243513"/>
            <a:ext cx="1471404" cy="14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Blanc à 10–15 % d'opacité.</a:t>
            </a:r>
            <a:endParaRPr lang="en-US" sz="790" dirty="0"/>
          </a:p>
        </p:txBody>
      </p:sp>
      <p:sp>
        <p:nvSpPr>
          <p:cNvPr id="7" name="Texte 6 (b)"/>
          <p:cNvSpPr txBox="1"/>
          <p:nvPr/>
        </p:nvSpPr>
        <p:spPr>
          <a:xfrm>
            <a:off x="3849737" y="5090666"/>
            <a:ext cx="1112743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SUR CRAIE</a:t>
            </a:r>
            <a:endParaRPr lang="en-US" sz="830" dirty="0"/>
          </a:p>
        </p:txBody>
      </p:sp>
      <p:sp>
        <p:nvSpPr>
          <p:cNvPr id="8" name="Texte 7 (span)"/>
          <p:cNvSpPr txBox="1"/>
          <p:nvPr/>
        </p:nvSpPr>
        <p:spPr>
          <a:xfrm>
            <a:off x="3849737" y="5243513"/>
            <a:ext cx="843900" cy="14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Noir à 6–10 %.</a:t>
            </a:r>
            <a:endParaRPr lang="en-US" sz="790" dirty="0"/>
          </a:p>
        </p:txBody>
      </p:sp>
      <p:sp>
        <p:nvSpPr>
          <p:cNvPr id="9" name="Texte 8 (b)"/>
          <p:cNvSpPr txBox="1"/>
          <p:nvPr/>
        </p:nvSpPr>
        <p:spPr>
          <a:xfrm>
            <a:off x="7089874" y="5090666"/>
            <a:ext cx="1997125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ORANGE IMPULSION</a:t>
            </a:r>
            <a:endParaRPr lang="en-US" sz="830" dirty="0"/>
          </a:p>
        </p:txBody>
      </p:sp>
      <p:sp>
        <p:nvSpPr>
          <p:cNvPr id="10" name="Texte 9 (span)"/>
          <p:cNvSpPr txBox="1"/>
          <p:nvPr/>
        </p:nvSpPr>
        <p:spPr>
          <a:xfrm>
            <a:off x="7089874" y="5243513"/>
            <a:ext cx="2137380" cy="14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Pleine intensité, pour textile et goodies.</a:t>
            </a:r>
            <a:endParaRPr lang="en-US" sz="790" dirty="0"/>
          </a:p>
        </p:txBody>
      </p:sp>
      <p:sp>
        <p:nvSpPr>
          <p:cNvPr id="11" name="Texte 10 (foot-note)"/>
          <p:cNvSpPr txBox="1"/>
          <p:nvPr/>
        </p:nvSpPr>
        <p:spPr>
          <a:xfrm>
            <a:off x="609600" y="6614368"/>
            <a:ext cx="6516484" cy="14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motif ne se combine jamais avec le logo dans la même zone : laissez toujours au logo sa zone de protection sur un aplat.</a:t>
            </a:r>
            <a:endParaRPr lang="en-US" sz="790" dirty="0"/>
          </a:p>
        </p:txBody>
      </p:sp>
      <p:sp>
        <p:nvSpPr>
          <p:cNvPr id="12" name="Texte 11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13" name="Texte 12 (span)"/>
          <p:cNvSpPr txBox="1"/>
          <p:nvPr/>
        </p:nvSpPr>
        <p:spPr>
          <a:xfrm>
            <a:off x="6614815" y="7188994"/>
            <a:ext cx="620345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MOTIF</a:t>
            </a:r>
            <a:endParaRPr lang="en-US" sz="680" dirty="0"/>
          </a:p>
        </p:txBody>
      </p:sp>
      <p:sp>
        <p:nvSpPr>
          <p:cNvPr id="14" name="Texte 13 (pn)"/>
          <p:cNvSpPr txBox="1"/>
          <p:nvPr/>
        </p:nvSpPr>
        <p:spPr>
          <a:xfrm>
            <a:off x="9928027" y="7188994"/>
            <a:ext cx="295885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24</a:t>
            </a:r>
            <a:endParaRPr lang="en-US" sz="6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kicker)"/>
          <p:cNvSpPr txBox="1"/>
          <p:nvPr/>
        </p:nvSpPr>
        <p:spPr>
          <a:xfrm>
            <a:off x="609600" y="514350"/>
            <a:ext cx="3337917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05 — ÉLÉMENTS GRAPHIQUES</a:t>
            </a:r>
            <a:endParaRPr lang="en-US" sz="750" dirty="0"/>
          </a:p>
        </p:txBody>
      </p:sp>
      <p:sp>
        <p:nvSpPr>
          <p:cNvPr id="3" name="Texte 2 (h2)"/>
          <p:cNvSpPr txBox="1"/>
          <p:nvPr/>
        </p:nvSpPr>
        <p:spPr>
          <a:xfrm>
            <a:off x="609600" y="719138"/>
            <a:ext cx="4851097" cy="40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PICTOGRAMMES.</a:t>
            </a:r>
            <a:endParaRPr lang="en-US" sz="2550" dirty="0"/>
          </a:p>
        </p:txBody>
      </p:sp>
      <p:sp>
        <p:nvSpPr>
          <p:cNvPr id="4" name="Texte 3 (intro)"/>
          <p:cNvSpPr txBox="1"/>
          <p:nvPr/>
        </p:nvSpPr>
        <p:spPr>
          <a:xfrm>
            <a:off x="609600" y="1201787"/>
            <a:ext cx="6153150" cy="373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jeu de pictogrammes linéaires, angles vifs et extrémités carrées, pour présenter l'offre et rythmer les supports.</a:t>
            </a:r>
            <a:endParaRPr lang="en-US" sz="980" dirty="0"/>
          </a:p>
        </p:txBody>
      </p:sp>
      <p:sp>
        <p:nvSpPr>
          <p:cNvPr id="5" name="Texte 4 (ic)"/>
          <p:cNvSpPr txBox="1"/>
          <p:nvPr/>
        </p:nvSpPr>
        <p:spPr>
          <a:xfrm>
            <a:off x="609600" y="3319016"/>
            <a:ext cx="717858" cy="13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50" spc="75" kern="0" dirty="0">
                <a:solidFill>
                  <a:srgbClr val="111214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FORCE</a:t>
            </a:r>
            <a:endParaRPr lang="en-US" sz="750" dirty="0"/>
          </a:p>
        </p:txBody>
      </p:sp>
      <p:sp>
        <p:nvSpPr>
          <p:cNvPr id="6" name="Texte 5 (ic)"/>
          <p:cNvSpPr txBox="1"/>
          <p:nvPr/>
        </p:nvSpPr>
        <p:spPr>
          <a:xfrm>
            <a:off x="1810345" y="3319016"/>
            <a:ext cx="791766" cy="13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50" spc="75" kern="0" dirty="0">
                <a:solidFill>
                  <a:srgbClr val="111214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CARDIO</a:t>
            </a:r>
            <a:endParaRPr lang="en-US" sz="750" dirty="0"/>
          </a:p>
        </p:txBody>
      </p:sp>
      <p:sp>
        <p:nvSpPr>
          <p:cNvPr id="7" name="Texte 6 (ic)"/>
          <p:cNvSpPr txBox="1"/>
          <p:nvPr/>
        </p:nvSpPr>
        <p:spPr>
          <a:xfrm>
            <a:off x="3011091" y="3319016"/>
            <a:ext cx="886956" cy="13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50" spc="75" kern="0" dirty="0">
                <a:solidFill>
                  <a:srgbClr val="111214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CHRONO</a:t>
            </a:r>
            <a:endParaRPr lang="en-US" sz="750" dirty="0"/>
          </a:p>
        </p:txBody>
      </p:sp>
      <p:sp>
        <p:nvSpPr>
          <p:cNvPr id="8" name="Texte 7 (ic)"/>
          <p:cNvSpPr txBox="1"/>
          <p:nvPr/>
        </p:nvSpPr>
        <p:spPr>
          <a:xfrm>
            <a:off x="4211836" y="3319016"/>
            <a:ext cx="968603" cy="13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50" spc="75" kern="0" dirty="0">
                <a:solidFill>
                  <a:srgbClr val="111214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OBJECTIF</a:t>
            </a:r>
            <a:endParaRPr lang="en-US" sz="750" dirty="0"/>
          </a:p>
        </p:txBody>
      </p:sp>
      <p:sp>
        <p:nvSpPr>
          <p:cNvPr id="9" name="Texte 8 (ic)"/>
          <p:cNvSpPr txBox="1"/>
          <p:nvPr/>
        </p:nvSpPr>
        <p:spPr>
          <a:xfrm>
            <a:off x="5412581" y="3319016"/>
            <a:ext cx="1010394" cy="13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50" spc="75" kern="0" dirty="0">
                <a:solidFill>
                  <a:srgbClr val="111214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PLANNING</a:t>
            </a:r>
            <a:endParaRPr lang="en-US" sz="750" dirty="0"/>
          </a:p>
        </p:txBody>
      </p:sp>
      <p:sp>
        <p:nvSpPr>
          <p:cNvPr id="10" name="Texte 9 (ic)"/>
          <p:cNvSpPr txBox="1"/>
          <p:nvPr/>
        </p:nvSpPr>
        <p:spPr>
          <a:xfrm>
            <a:off x="6613327" y="3319016"/>
            <a:ext cx="1413406" cy="13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50" spc="75" kern="0" dirty="0">
                <a:solidFill>
                  <a:srgbClr val="111214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PROGRESSION</a:t>
            </a:r>
            <a:endParaRPr lang="en-US" sz="750" dirty="0"/>
          </a:p>
        </p:txBody>
      </p:sp>
      <p:sp>
        <p:nvSpPr>
          <p:cNvPr id="11" name="Texte 10 (ic)"/>
          <p:cNvSpPr txBox="1"/>
          <p:nvPr/>
        </p:nvSpPr>
        <p:spPr>
          <a:xfrm>
            <a:off x="7814072" y="3319016"/>
            <a:ext cx="1069018" cy="13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50" spc="75" kern="0" dirty="0">
                <a:solidFill>
                  <a:srgbClr val="111214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NUTRITION</a:t>
            </a:r>
            <a:endParaRPr lang="en-US" sz="750" dirty="0"/>
          </a:p>
        </p:txBody>
      </p:sp>
      <p:sp>
        <p:nvSpPr>
          <p:cNvPr id="12" name="Texte 11 (ic)"/>
          <p:cNvSpPr txBox="1"/>
          <p:nvPr/>
        </p:nvSpPr>
        <p:spPr>
          <a:xfrm>
            <a:off x="9014817" y="3319016"/>
            <a:ext cx="571976" cy="13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50" spc="75" kern="0" dirty="0">
                <a:solidFill>
                  <a:srgbClr val="111214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VISIO</a:t>
            </a:r>
            <a:endParaRPr lang="en-US" sz="750" dirty="0"/>
          </a:p>
        </p:txBody>
      </p:sp>
      <p:sp>
        <p:nvSpPr>
          <p:cNvPr id="13" name="Texte 12 (li)"/>
          <p:cNvSpPr txBox="1"/>
          <p:nvPr/>
        </p:nvSpPr>
        <p:spPr>
          <a:xfrm>
            <a:off x="819150" y="3677096"/>
            <a:ext cx="4282485" cy="15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Grille de 48 × 48, trait de 3 unités, angles vifs, aucune courbe décorative.</a:t>
            </a:r>
            <a:endParaRPr lang="en-US" sz="860" dirty="0"/>
          </a:p>
        </p:txBody>
      </p:sp>
      <p:sp>
        <p:nvSpPr>
          <p:cNvPr id="14" name="Texte 13 (li)"/>
          <p:cNvSpPr txBox="1"/>
          <p:nvPr/>
        </p:nvSpPr>
        <p:spPr>
          <a:xfrm>
            <a:off x="819150" y="3922961"/>
            <a:ext cx="3858473" cy="15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seule couleur : Noir, Blanc ou Orange Impulsion selon le fond.</a:t>
            </a:r>
            <a:endParaRPr lang="en-US" sz="860" dirty="0"/>
          </a:p>
        </p:txBody>
      </p:sp>
      <p:sp>
        <p:nvSpPr>
          <p:cNvPr id="15" name="Texte 14 (li)"/>
          <p:cNvSpPr txBox="1"/>
          <p:nvPr/>
        </p:nvSpPr>
        <p:spPr>
          <a:xfrm>
            <a:off x="819150" y="4168825"/>
            <a:ext cx="1819617" cy="15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Taille minimale : 20 px / 6 mm.</a:t>
            </a:r>
            <a:endParaRPr lang="en-US" sz="860" dirty="0"/>
          </a:p>
        </p:txBody>
      </p:sp>
      <p:sp>
        <p:nvSpPr>
          <p:cNvPr id="16" name="Texte 15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17" name="Texte 16 (span)"/>
          <p:cNvSpPr txBox="1"/>
          <p:nvPr/>
        </p:nvSpPr>
        <p:spPr>
          <a:xfrm>
            <a:off x="6288435" y="7188994"/>
            <a:ext cx="1466805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PICTOGRAMMES</a:t>
            </a:r>
            <a:endParaRPr lang="en-US" sz="680" dirty="0"/>
          </a:p>
        </p:txBody>
      </p:sp>
      <p:sp>
        <p:nvSpPr>
          <p:cNvPr id="18" name="Texte 17 (pn)"/>
          <p:cNvSpPr txBox="1"/>
          <p:nvPr/>
        </p:nvSpPr>
        <p:spPr>
          <a:xfrm>
            <a:off x="9926538" y="7188994"/>
            <a:ext cx="297820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25</a:t>
            </a:r>
            <a:endParaRPr lang="en-US" sz="6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1" descr="jt-symbole-blan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697" y="5106888"/>
            <a:ext cx="857250" cy="421928"/>
          </a:xfrm>
          <a:prstGeom prst="rect">
            <a:avLst/>
          </a:prstGeom>
        </p:spPr>
      </p:pic>
      <p:sp>
        <p:nvSpPr>
          <p:cNvPr id="3" name="Texte 1 (kicker)"/>
          <p:cNvSpPr txBox="1"/>
          <p:nvPr/>
        </p:nvSpPr>
        <p:spPr>
          <a:xfrm>
            <a:off x="609600" y="514350"/>
            <a:ext cx="3337917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05 — ÉLÉMENTS GRAPHIQUES</a:t>
            </a:r>
            <a:endParaRPr lang="en-US" sz="750" dirty="0"/>
          </a:p>
        </p:txBody>
      </p:sp>
      <p:sp>
        <p:nvSpPr>
          <p:cNvPr id="4" name="Texte 2 (h2)"/>
          <p:cNvSpPr txBox="1"/>
          <p:nvPr/>
        </p:nvSpPr>
        <p:spPr>
          <a:xfrm>
            <a:off x="609600" y="719138"/>
            <a:ext cx="5405021" cy="40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DIRECTION PHOTO.</a:t>
            </a:r>
            <a:endParaRPr lang="en-US" sz="2550" dirty="0"/>
          </a:p>
        </p:txBody>
      </p:sp>
      <p:sp>
        <p:nvSpPr>
          <p:cNvPr id="5" name="Texte 3 (intro)"/>
          <p:cNvSpPr txBox="1"/>
          <p:nvPr/>
        </p:nvSpPr>
        <p:spPr>
          <a:xfrm>
            <a:off x="609600" y="1201787"/>
            <a:ext cx="6153150" cy="373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photos montrent l'effort réel, pas la pose. Lumière franche, contraste marqué, mouvement dans le cadre.</a:t>
            </a:r>
            <a:endParaRPr lang="en-US" sz="980" dirty="0"/>
          </a:p>
        </p:txBody>
      </p:sp>
      <p:sp>
        <p:nvSpPr>
          <p:cNvPr id="6" name="Texte 4 (kicker)"/>
          <p:cNvSpPr txBox="1"/>
          <p:nvPr/>
        </p:nvSpPr>
        <p:spPr>
          <a:xfrm>
            <a:off x="895350" y="2080766"/>
            <a:ext cx="5925666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FA461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EXEMPLE DE COMPOSITION · VISUEL D'ILLUSTRATION</a:t>
            </a:r>
            <a:endParaRPr lang="en-US" sz="750" dirty="0"/>
          </a:p>
        </p:txBody>
      </p:sp>
      <p:sp>
        <p:nvSpPr>
          <p:cNvPr id="7" name="Texte 5 (h2s)"/>
          <p:cNvSpPr txBox="1"/>
          <p:nvPr/>
        </p:nvSpPr>
        <p:spPr>
          <a:xfrm>
            <a:off x="895350" y="2304604"/>
            <a:ext cx="4542086" cy="57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L'EFFORT,</a:t>
            </a:r>
            <a:endParaRPr lang="en-US" sz="19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PAS LA POSE.</a:t>
            </a:r>
            <a:endParaRPr lang="en-US" sz="1950" dirty="0"/>
          </a:p>
        </p:txBody>
      </p:sp>
      <p:sp>
        <p:nvSpPr>
          <p:cNvPr id="8" name="Texte 6 (kicker)"/>
          <p:cNvSpPr txBox="1"/>
          <p:nvPr/>
        </p:nvSpPr>
        <p:spPr>
          <a:xfrm>
            <a:off x="6445597" y="1795016"/>
            <a:ext cx="1800165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À RECHERCHER</a:t>
            </a:r>
            <a:endParaRPr lang="en-US" sz="750" dirty="0"/>
          </a:p>
        </p:txBody>
      </p:sp>
      <p:sp>
        <p:nvSpPr>
          <p:cNvPr id="9" name="Texte 7 (li)"/>
          <p:cNvSpPr txBox="1"/>
          <p:nvPr/>
        </p:nvSpPr>
        <p:spPr>
          <a:xfrm>
            <a:off x="6655147" y="2066479"/>
            <a:ext cx="3101310" cy="15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Action</a:t>
            </a:r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en plein mouvement : sprint, levée, impact.</a:t>
            </a:r>
            <a:endParaRPr lang="en-US" sz="860" dirty="0"/>
          </a:p>
        </p:txBody>
      </p:sp>
      <p:sp>
        <p:nvSpPr>
          <p:cNvPr id="10" name="Texte 8 (li)"/>
          <p:cNvSpPr txBox="1"/>
          <p:nvPr/>
        </p:nvSpPr>
        <p:spPr>
          <a:xfrm>
            <a:off x="6655147" y="2312343"/>
            <a:ext cx="3857818" cy="15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Lumière latérale</a:t>
            </a:r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ombres franches, peau texturée, sueur visible.</a:t>
            </a:r>
            <a:endParaRPr lang="en-US" sz="860" dirty="0"/>
          </a:p>
        </p:txBody>
      </p:sp>
      <p:sp>
        <p:nvSpPr>
          <p:cNvPr id="11" name="Texte 9 (li)"/>
          <p:cNvSpPr txBox="1"/>
          <p:nvPr/>
        </p:nvSpPr>
        <p:spPr>
          <a:xfrm>
            <a:off x="6655147" y="2558207"/>
            <a:ext cx="3484215" cy="32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Diagonales</a:t>
            </a:r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corps et cadrage qui montent vers la droite, comme le symbole.</a:t>
            </a:r>
            <a:endParaRPr lang="en-US" sz="860" dirty="0"/>
          </a:p>
        </p:txBody>
      </p:sp>
      <p:sp>
        <p:nvSpPr>
          <p:cNvPr id="12" name="Texte 10 (li)"/>
          <p:cNvSpPr txBox="1"/>
          <p:nvPr/>
        </p:nvSpPr>
        <p:spPr>
          <a:xfrm>
            <a:off x="6655147" y="2973735"/>
            <a:ext cx="3484215" cy="32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Traitement</a:t>
            </a:r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tons neutres et froids désaturés ; l'orange vient des aplats, pas des filtres.</a:t>
            </a:r>
            <a:endParaRPr lang="en-US" sz="860" dirty="0"/>
          </a:p>
        </p:txBody>
      </p:sp>
      <p:sp>
        <p:nvSpPr>
          <p:cNvPr id="13" name="Texte 11 (kicker)"/>
          <p:cNvSpPr txBox="1"/>
          <p:nvPr/>
        </p:nvSpPr>
        <p:spPr>
          <a:xfrm>
            <a:off x="6445597" y="3532138"/>
            <a:ext cx="1103843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À ÉVITER</a:t>
            </a:r>
            <a:endParaRPr lang="en-US" sz="750" dirty="0"/>
          </a:p>
        </p:txBody>
      </p:sp>
      <p:sp>
        <p:nvSpPr>
          <p:cNvPr id="14" name="Texte 12 (li)"/>
          <p:cNvSpPr txBox="1"/>
          <p:nvPr/>
        </p:nvSpPr>
        <p:spPr>
          <a:xfrm>
            <a:off x="6655147" y="3803600"/>
            <a:ext cx="3681829" cy="15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Photos de banque d'images posées et souriantes face caméra.</a:t>
            </a:r>
            <a:endParaRPr lang="en-US" sz="860" dirty="0"/>
          </a:p>
        </p:txBody>
      </p:sp>
      <p:sp>
        <p:nvSpPr>
          <p:cNvPr id="15" name="Texte 13 (li)"/>
          <p:cNvSpPr txBox="1"/>
          <p:nvPr/>
        </p:nvSpPr>
        <p:spPr>
          <a:xfrm>
            <a:off x="6655147" y="4049464"/>
            <a:ext cx="2084338" cy="15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Filtres colorés, vignettages, néons.</a:t>
            </a:r>
            <a:endParaRPr lang="en-US" sz="860" dirty="0"/>
          </a:p>
        </p:txBody>
      </p:sp>
      <p:sp>
        <p:nvSpPr>
          <p:cNvPr id="16" name="Texte 14 (li)"/>
          <p:cNvSpPr txBox="1"/>
          <p:nvPr/>
        </p:nvSpPr>
        <p:spPr>
          <a:xfrm>
            <a:off x="6655147" y="4295329"/>
            <a:ext cx="3219673" cy="15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Selfies de miroir, avant/après sans consentement écrit.</a:t>
            </a:r>
            <a:endParaRPr lang="en-US" sz="860" dirty="0"/>
          </a:p>
        </p:txBody>
      </p:sp>
      <p:sp>
        <p:nvSpPr>
          <p:cNvPr id="17" name="Texte 15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18" name="Texte 16 (span)"/>
          <p:cNvSpPr txBox="1"/>
          <p:nvPr/>
        </p:nvSpPr>
        <p:spPr>
          <a:xfrm>
            <a:off x="6211491" y="7188994"/>
            <a:ext cx="1666667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DIRECTION PHOTO</a:t>
            </a:r>
            <a:endParaRPr lang="en-US" sz="680" dirty="0"/>
          </a:p>
        </p:txBody>
      </p:sp>
      <p:sp>
        <p:nvSpPr>
          <p:cNvPr id="19" name="Texte 17 (pn)"/>
          <p:cNvSpPr txBox="1"/>
          <p:nvPr/>
        </p:nvSpPr>
        <p:spPr>
          <a:xfrm>
            <a:off x="9926389" y="7188994"/>
            <a:ext cx="298013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26</a:t>
            </a:r>
            <a:endParaRPr lang="en-US" sz="6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h1)"/>
          <p:cNvSpPr txBox="1"/>
          <p:nvPr/>
        </p:nvSpPr>
        <p:spPr>
          <a:xfrm>
            <a:off x="666750" y="4944517"/>
            <a:ext cx="6326252" cy="72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APPLICATIONS</a:t>
            </a:r>
            <a:endParaRPr lang="en-US" sz="4650" dirty="0"/>
          </a:p>
        </p:txBody>
      </p:sp>
      <p:sp>
        <p:nvSpPr>
          <p:cNvPr id="3" name="Texte 2 (p)"/>
          <p:cNvSpPr txBox="1"/>
          <p:nvPr/>
        </p:nvSpPr>
        <p:spPr>
          <a:xfrm>
            <a:off x="666750" y="5743575"/>
            <a:ext cx="5225787" cy="192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B9BC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système en situation : ce que les gens verront, toucheront et porteront.</a:t>
            </a:r>
            <a:endParaRPr lang="en-US" sz="1050" dirty="0"/>
          </a:p>
        </p:txBody>
      </p:sp>
      <p:sp>
        <p:nvSpPr>
          <p:cNvPr id="4" name="Texte 3 (li)"/>
          <p:cNvSpPr txBox="1"/>
          <p:nvPr/>
        </p:nvSpPr>
        <p:spPr>
          <a:xfrm>
            <a:off x="771525" y="6178748"/>
            <a:ext cx="1111002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PAPETERIE</a:t>
            </a:r>
            <a:endParaRPr lang="en-US" sz="750" dirty="0"/>
          </a:p>
        </p:txBody>
      </p:sp>
      <p:sp>
        <p:nvSpPr>
          <p:cNvPr id="5" name="Texte 4 (li)"/>
          <p:cNvSpPr txBox="1"/>
          <p:nvPr/>
        </p:nvSpPr>
        <p:spPr>
          <a:xfrm>
            <a:off x="1838623" y="6178748"/>
            <a:ext cx="1850082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RÉSEAUX SOCIAUX</a:t>
            </a:r>
            <a:endParaRPr lang="en-US" sz="750" dirty="0"/>
          </a:p>
        </p:txBody>
      </p:sp>
      <p:sp>
        <p:nvSpPr>
          <p:cNvPr id="6" name="Texte 5 (li)"/>
          <p:cNvSpPr txBox="1"/>
          <p:nvPr/>
        </p:nvSpPr>
        <p:spPr>
          <a:xfrm>
            <a:off x="3474244" y="6178748"/>
            <a:ext cx="842070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TEXTILE</a:t>
            </a:r>
            <a:endParaRPr lang="en-US" sz="750" dirty="0"/>
          </a:p>
        </p:txBody>
      </p:sp>
      <p:sp>
        <p:nvSpPr>
          <p:cNvPr id="7" name="Texte 6 (li)"/>
          <p:cNvSpPr txBox="1"/>
          <p:nvPr/>
        </p:nvSpPr>
        <p:spPr>
          <a:xfrm>
            <a:off x="771525" y="6516886"/>
            <a:ext cx="3051185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ACCESSOIRES &amp; ÉVÉNEMENTIEL</a:t>
            </a:r>
            <a:endParaRPr lang="en-US" sz="750" dirty="0"/>
          </a:p>
        </p:txBody>
      </p:sp>
      <p:sp>
        <p:nvSpPr>
          <p:cNvPr id="8" name="Texte 7 (li)"/>
          <p:cNvSpPr txBox="1"/>
          <p:nvPr/>
        </p:nvSpPr>
        <p:spPr>
          <a:xfrm>
            <a:off x="3331071" y="6516886"/>
            <a:ext cx="499423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WEB</a:t>
            </a:r>
            <a:endParaRPr lang="en-US" sz="750" dirty="0"/>
          </a:p>
        </p:txBody>
      </p:sp>
      <p:sp>
        <p:nvSpPr>
          <p:cNvPr id="9" name="Texte 8 (li)"/>
          <p:cNvSpPr txBox="1"/>
          <p:nvPr/>
        </p:nvSpPr>
        <p:spPr>
          <a:xfrm>
            <a:off x="3927723" y="6516886"/>
            <a:ext cx="823883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MOTION</a:t>
            </a:r>
            <a:endParaRPr lang="en-US" sz="750" dirty="0"/>
          </a:p>
        </p:txBody>
      </p:sp>
      <p:sp>
        <p:nvSpPr>
          <p:cNvPr id="10" name="Texte 9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11" name="Texte 10 (pn)"/>
          <p:cNvSpPr txBox="1"/>
          <p:nvPr/>
        </p:nvSpPr>
        <p:spPr>
          <a:xfrm>
            <a:off x="9932194" y="7188994"/>
            <a:ext cx="290468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27</a:t>
            </a:r>
            <a:endParaRPr lang="en-US" sz="6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1" descr="jt-horizontal-noi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429" y="1525637"/>
            <a:ext cx="1428750" cy="219521"/>
          </a:xfrm>
          <a:prstGeom prst="rect">
            <a:avLst/>
          </a:prstGeom>
        </p:spPr>
      </p:pic>
      <p:sp>
        <p:nvSpPr>
          <p:cNvPr id="3" name="Texte 1 (kicker)"/>
          <p:cNvSpPr txBox="1"/>
          <p:nvPr/>
        </p:nvSpPr>
        <p:spPr>
          <a:xfrm>
            <a:off x="609600" y="514350"/>
            <a:ext cx="2270120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06 — APPLICATIONS</a:t>
            </a:r>
            <a:endParaRPr lang="en-US" sz="750" dirty="0"/>
          </a:p>
        </p:txBody>
      </p:sp>
      <p:sp>
        <p:nvSpPr>
          <p:cNvPr id="4" name="Texte 2 (h2)"/>
          <p:cNvSpPr txBox="1"/>
          <p:nvPr/>
        </p:nvSpPr>
        <p:spPr>
          <a:xfrm>
            <a:off x="609600" y="719138"/>
            <a:ext cx="3347978" cy="40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PAPETERIE.</a:t>
            </a:r>
            <a:endParaRPr lang="en-US" sz="2550" dirty="0"/>
          </a:p>
        </p:txBody>
      </p:sp>
      <p:sp>
        <p:nvSpPr>
          <p:cNvPr id="5" name="Texte 3 (bc-tag)"/>
          <p:cNvSpPr txBox="1"/>
          <p:nvPr/>
        </p:nvSpPr>
        <p:spPr>
          <a:xfrm>
            <a:off x="819150" y="2831157"/>
            <a:ext cx="1642095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135" kern="0" dirty="0">
                <a:solidFill>
                  <a:srgbClr val="FA4616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VISE PLUS HAUT.</a:t>
            </a:r>
            <a:endParaRPr lang="en-US" sz="680" dirty="0"/>
          </a:p>
        </p:txBody>
      </p:sp>
      <p:sp>
        <p:nvSpPr>
          <p:cNvPr id="6" name="Texte 4 (bc-name)"/>
          <p:cNvSpPr txBox="1"/>
          <p:nvPr/>
        </p:nvSpPr>
        <p:spPr>
          <a:xfrm>
            <a:off x="857250" y="3969097"/>
            <a:ext cx="2065020" cy="185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JONATHAN TEMAM</a:t>
            </a:r>
            <a:endParaRPr lang="en-US" sz="1130" dirty="0"/>
          </a:p>
        </p:txBody>
      </p:sp>
      <p:sp>
        <p:nvSpPr>
          <p:cNvPr id="7" name="Texte 5 (bc-role)"/>
          <p:cNvSpPr txBox="1"/>
          <p:nvPr/>
        </p:nvSpPr>
        <p:spPr>
          <a:xfrm>
            <a:off x="857250" y="4171504"/>
            <a:ext cx="1829931" cy="125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1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Coach sportif · Préparateur physique</a:t>
            </a:r>
            <a:endParaRPr lang="en-US" sz="710" dirty="0"/>
          </a:p>
        </p:txBody>
      </p:sp>
      <p:sp>
        <p:nvSpPr>
          <p:cNvPr id="8" name="Texte 6 (bc-info)"/>
          <p:cNvSpPr txBox="1"/>
          <p:nvPr/>
        </p:nvSpPr>
        <p:spPr>
          <a:xfrm>
            <a:off x="857250" y="4502200"/>
            <a:ext cx="2419350" cy="38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68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+33 6 00 00 00 00</a:t>
            </a:r>
            <a:endParaRPr lang="en-US" sz="680" dirty="0"/>
          </a:p>
          <a:p>
            <a:pPr algn="l" indent="0" marL="0">
              <a:lnSpc>
                <a:spcPts val="1010"/>
              </a:lnSpc>
              <a:buNone/>
            </a:pPr>
            <a:r>
              <a:rPr lang="en-US" sz="68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contact@jonathantemam.fr</a:t>
            </a:r>
            <a:endParaRPr lang="en-US" sz="680" dirty="0"/>
          </a:p>
          <a:p>
            <a:pPr algn="l" indent="0" marL="0">
              <a:lnSpc>
                <a:spcPts val="1010"/>
              </a:lnSpc>
              <a:buNone/>
            </a:pPr>
            <a:r>
              <a:rPr lang="en-US" sz="68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@jonathan.temam</a:t>
            </a:r>
            <a:endParaRPr lang="en-US" sz="680" dirty="0"/>
          </a:p>
        </p:txBody>
      </p:sp>
      <p:sp>
        <p:nvSpPr>
          <p:cNvPr id="9" name="Texte 7 (cap-s)"/>
          <p:cNvSpPr txBox="1"/>
          <p:nvPr/>
        </p:nvSpPr>
        <p:spPr>
          <a:xfrm>
            <a:off x="609600" y="5249912"/>
            <a:ext cx="3482429" cy="284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dirty="0">
                <a:solidFill>
                  <a:srgbClr val="888B8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Carte de visite 85 × 55 mm — recto Noir Carbone, verso Blanc Craie · papier 350 g non couché.</a:t>
            </a:r>
            <a:endParaRPr lang="en-US" sz="750" dirty="0"/>
          </a:p>
        </p:txBody>
      </p:sp>
      <p:sp>
        <p:nvSpPr>
          <p:cNvPr id="10" name="Texte 8 (lt-to)"/>
          <p:cNvSpPr txBox="1"/>
          <p:nvPr/>
        </p:nvSpPr>
        <p:spPr>
          <a:xfrm>
            <a:off x="5827365" y="2188964"/>
            <a:ext cx="10407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Madame Durand</a:t>
            </a:r>
            <a:endParaRPr lang="en-US" sz="600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RH — Atelier Nord</a:t>
            </a:r>
            <a:endParaRPr lang="en-US" sz="600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75011 Paris</a:t>
            </a:r>
            <a:endParaRPr lang="en-US" sz="600" dirty="0"/>
          </a:p>
        </p:txBody>
      </p:sp>
      <p:sp>
        <p:nvSpPr>
          <p:cNvPr id="11" name="Texte 9 (lt-obj)"/>
          <p:cNvSpPr txBox="1"/>
          <p:nvPr/>
        </p:nvSpPr>
        <p:spPr>
          <a:xfrm>
            <a:off x="4625429" y="2779514"/>
            <a:ext cx="17164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0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Objet : programme de coaching collectif</a:t>
            </a:r>
            <a:endParaRPr lang="en-US" sz="600" dirty="0"/>
          </a:p>
        </p:txBody>
      </p:sp>
      <p:sp>
        <p:nvSpPr>
          <p:cNvPr id="12" name="Texte 10 (span)"/>
          <p:cNvSpPr txBox="1"/>
          <p:nvPr/>
        </p:nvSpPr>
        <p:spPr>
          <a:xfrm>
            <a:off x="4986486" y="5396657"/>
            <a:ext cx="1881634" cy="174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5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Jonathan Temam · Coach sportif · contact@jonathantemam.fr · SIRET 000 000 000 00000</a:t>
            </a:r>
            <a:endParaRPr lang="en-US" sz="450" dirty="0"/>
          </a:p>
        </p:txBody>
      </p:sp>
      <p:sp>
        <p:nvSpPr>
          <p:cNvPr id="13" name="Texte 11 (kicker)"/>
          <p:cNvSpPr txBox="1"/>
          <p:nvPr/>
        </p:nvSpPr>
        <p:spPr>
          <a:xfrm>
            <a:off x="7401520" y="1297037"/>
            <a:ext cx="2157517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SIGNATURE E-MAIL</a:t>
            </a:r>
            <a:endParaRPr lang="en-US" sz="750" dirty="0"/>
          </a:p>
        </p:txBody>
      </p:sp>
      <p:sp>
        <p:nvSpPr>
          <p:cNvPr id="14" name="Texte 12 (b)"/>
          <p:cNvSpPr txBox="1"/>
          <p:nvPr/>
        </p:nvSpPr>
        <p:spPr>
          <a:xfrm>
            <a:off x="8377684" y="1730425"/>
            <a:ext cx="1634133" cy="15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JONATHAN TEMAM</a:t>
            </a:r>
            <a:endParaRPr lang="en-US" sz="900" dirty="0"/>
          </a:p>
        </p:txBody>
      </p:sp>
      <p:sp>
        <p:nvSpPr>
          <p:cNvPr id="15" name="Texte 13 (span)"/>
          <p:cNvSpPr txBox="1"/>
          <p:nvPr/>
        </p:nvSpPr>
        <p:spPr>
          <a:xfrm>
            <a:off x="8377684" y="1898005"/>
            <a:ext cx="767611" cy="136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Coach sportif</a:t>
            </a:r>
            <a:endParaRPr lang="en-US" sz="750" dirty="0"/>
          </a:p>
        </p:txBody>
      </p:sp>
      <p:sp>
        <p:nvSpPr>
          <p:cNvPr id="16" name="Texte 14 (o)"/>
          <p:cNvSpPr txBox="1"/>
          <p:nvPr/>
        </p:nvSpPr>
        <p:spPr>
          <a:xfrm>
            <a:off x="8377684" y="2045643"/>
            <a:ext cx="1571327" cy="284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dirty="0">
                <a:solidFill>
                  <a:srgbClr val="FA46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+33 6 00 00 00 00 · jonathantemam.fr</a:t>
            </a:r>
            <a:endParaRPr lang="en-US" sz="750" dirty="0"/>
          </a:p>
        </p:txBody>
      </p:sp>
      <p:sp>
        <p:nvSpPr>
          <p:cNvPr id="17" name="Texte 15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18" name="Texte 16 (span)"/>
          <p:cNvSpPr txBox="1"/>
          <p:nvPr/>
        </p:nvSpPr>
        <p:spPr>
          <a:xfrm>
            <a:off x="6453932" y="7188994"/>
            <a:ext cx="1035159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PAPETERIE</a:t>
            </a:r>
            <a:endParaRPr lang="en-US" sz="680" dirty="0"/>
          </a:p>
        </p:txBody>
      </p:sp>
      <p:sp>
        <p:nvSpPr>
          <p:cNvPr id="19" name="Texte 17 (pn)"/>
          <p:cNvSpPr txBox="1"/>
          <p:nvPr/>
        </p:nvSpPr>
        <p:spPr>
          <a:xfrm>
            <a:off x="9925348" y="7188994"/>
            <a:ext cx="299368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28</a:t>
            </a:r>
            <a:endParaRPr lang="en-US" sz="6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kicker)"/>
          <p:cNvSpPr txBox="1"/>
          <p:nvPr/>
        </p:nvSpPr>
        <p:spPr>
          <a:xfrm>
            <a:off x="609600" y="514350"/>
            <a:ext cx="2270120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06 — APPLICATIONS</a:t>
            </a:r>
            <a:endParaRPr lang="en-US" sz="750" dirty="0"/>
          </a:p>
        </p:txBody>
      </p:sp>
      <p:sp>
        <p:nvSpPr>
          <p:cNvPr id="3" name="Texte 2 (h2)"/>
          <p:cNvSpPr txBox="1"/>
          <p:nvPr/>
        </p:nvSpPr>
        <p:spPr>
          <a:xfrm>
            <a:off x="609600" y="719138"/>
            <a:ext cx="5610299" cy="40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RÉSEAUX SOCIAUX.</a:t>
            </a:r>
            <a:endParaRPr lang="en-US" sz="2550" dirty="0"/>
          </a:p>
        </p:txBody>
      </p:sp>
      <p:sp>
        <p:nvSpPr>
          <p:cNvPr id="4" name="Texte 3 (b)"/>
          <p:cNvSpPr txBox="1"/>
          <p:nvPr/>
        </p:nvSpPr>
        <p:spPr>
          <a:xfrm>
            <a:off x="1527215" y="1807666"/>
            <a:ext cx="31593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248</a:t>
            </a:r>
            <a:endParaRPr lang="en-US" sz="830" dirty="0"/>
          </a:p>
        </p:txBody>
      </p:sp>
      <p:sp>
        <p:nvSpPr>
          <p:cNvPr id="5" name="Texte 4 (ig-stats)"/>
          <p:cNvSpPr txBox="1"/>
          <p:nvPr/>
        </p:nvSpPr>
        <p:spPr>
          <a:xfrm>
            <a:off x="1397392" y="1933277"/>
            <a:ext cx="57557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publications</a:t>
            </a:r>
            <a:endParaRPr lang="en-US" sz="600" dirty="0"/>
          </a:p>
        </p:txBody>
      </p:sp>
      <p:sp>
        <p:nvSpPr>
          <p:cNvPr id="6" name="Texte 5 (b)"/>
          <p:cNvSpPr txBox="1"/>
          <p:nvPr/>
        </p:nvSpPr>
        <p:spPr>
          <a:xfrm>
            <a:off x="1960751" y="1807666"/>
            <a:ext cx="42398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12,4 k</a:t>
            </a:r>
            <a:endParaRPr lang="en-US" sz="830" dirty="0"/>
          </a:p>
        </p:txBody>
      </p:sp>
      <p:sp>
        <p:nvSpPr>
          <p:cNvPr id="7" name="Texte 6 (ig-stats)"/>
          <p:cNvSpPr txBox="1"/>
          <p:nvPr/>
        </p:nvSpPr>
        <p:spPr>
          <a:xfrm>
            <a:off x="1954694" y="1933277"/>
            <a:ext cx="43609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abonnés</a:t>
            </a:r>
            <a:endParaRPr lang="en-US" sz="600" dirty="0"/>
          </a:p>
        </p:txBody>
      </p:sp>
      <p:sp>
        <p:nvSpPr>
          <p:cNvPr id="8" name="Texte 7 (b)"/>
          <p:cNvSpPr txBox="1"/>
          <p:nvPr/>
        </p:nvSpPr>
        <p:spPr>
          <a:xfrm>
            <a:off x="2447106" y="1807666"/>
            <a:ext cx="2933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310</a:t>
            </a:r>
            <a:endParaRPr lang="en-US" sz="830" dirty="0"/>
          </a:p>
        </p:txBody>
      </p:sp>
      <p:sp>
        <p:nvSpPr>
          <p:cNvPr id="9" name="Texte 8 (ig-stats)"/>
          <p:cNvSpPr txBox="1"/>
          <p:nvPr/>
        </p:nvSpPr>
        <p:spPr>
          <a:xfrm>
            <a:off x="2379166" y="1933277"/>
            <a:ext cx="42922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suivi(e)s</a:t>
            </a:r>
            <a:endParaRPr lang="en-US" sz="600" dirty="0"/>
          </a:p>
        </p:txBody>
      </p:sp>
      <p:sp>
        <p:nvSpPr>
          <p:cNvPr id="10" name="Texte 9 (ig-bio)"/>
          <p:cNvSpPr txBox="1"/>
          <p:nvPr/>
        </p:nvSpPr>
        <p:spPr>
          <a:xfrm>
            <a:off x="819150" y="2287637"/>
            <a:ext cx="2019300" cy="340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0"/>
              </a:lnSpc>
              <a:buNone/>
            </a:pPr>
            <a:r>
              <a:rPr lang="en-US" sz="64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Jonathan Temam</a:t>
            </a:r>
            <a:endParaRPr lang="en-US" sz="640" dirty="0"/>
          </a:p>
          <a:p>
            <a:pPr algn="l" indent="0" marL="0">
              <a:lnSpc>
                <a:spcPts val="890"/>
              </a:lnSpc>
              <a:buNone/>
            </a:pPr>
            <a:r>
              <a:rPr lang="en-US" sz="6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Coach sportif · Préparation physique</a:t>
            </a:r>
            <a:endParaRPr lang="en-US" sz="640" dirty="0"/>
          </a:p>
          <a:p>
            <a:pPr algn="l" indent="0" marL="0">
              <a:lnSpc>
                <a:spcPts val="890"/>
              </a:lnSpc>
              <a:buNone/>
            </a:pPr>
            <a:r>
              <a:rPr lang="en-US" sz="6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Vise plus haut. </a:t>
            </a:r>
            <a:pPr algn="l" indent="0" marL="0">
              <a:lnSpc>
                <a:spcPts val="890"/>
              </a:lnSpc>
              <a:buNone/>
            </a:pPr>
            <a:r>
              <a:rPr lang="en-US" sz="640" dirty="0">
                <a:solidFill>
                  <a:srgbClr val="11121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pPr algn="l" indent="0" marL="0">
              <a:lnSpc>
                <a:spcPts val="890"/>
              </a:lnSpc>
              <a:buNone/>
            </a:pPr>
            <a:r>
              <a:rPr lang="en-US" sz="6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Bilan offert</a:t>
            </a:r>
            <a:endParaRPr lang="en-US" sz="640" dirty="0"/>
          </a:p>
        </p:txBody>
      </p:sp>
      <p:sp>
        <p:nvSpPr>
          <p:cNvPr id="11" name="Texte 10 (pq)"/>
          <p:cNvSpPr txBox="1"/>
          <p:nvPr/>
        </p:nvSpPr>
        <p:spPr>
          <a:xfrm>
            <a:off x="762000" y="2779812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LA DISCIPLINE</a:t>
            </a:r>
            <a:endParaRPr lang="en-US" sz="450" dirty="0"/>
          </a:p>
          <a:p>
            <a:pPr algn="l" indent="0" marL="0">
              <a:lnSpc>
                <a:spcPts val="45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BAT LA</a:t>
            </a:r>
            <a:endParaRPr lang="en-US" sz="450" dirty="0"/>
          </a:p>
          <a:p>
            <a:pPr algn="l" indent="0" marL="0">
              <a:lnSpc>
                <a:spcPts val="450"/>
              </a:lnSpc>
              <a:buNone/>
            </a:pPr>
            <a:r>
              <a:rPr lang="en-US" sz="45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MOTIVATION.</a:t>
            </a:r>
            <a:endParaRPr lang="en-US" sz="450" dirty="0"/>
          </a:p>
        </p:txBody>
      </p:sp>
      <p:sp>
        <p:nvSpPr>
          <p:cNvPr id="12" name="Texte 11 (p-k)"/>
          <p:cNvSpPr txBox="1"/>
          <p:nvPr/>
        </p:nvSpPr>
        <p:spPr>
          <a:xfrm>
            <a:off x="10416666.66422526" y="10416427.924479166"/>
            <a:ext cx="-24764999904750" cy="-19049999980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530" spc="126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NOUVEAU</a:t>
            </a:r>
            <a:endParaRPr lang="en-US" sz="530" dirty="0"/>
          </a:p>
        </p:txBody>
      </p:sp>
      <p:sp>
        <p:nvSpPr>
          <p:cNvPr id="13" name="Texte 12 (pq)"/>
          <p:cNvSpPr txBox="1"/>
          <p:nvPr/>
        </p:nvSpPr>
        <p:spPr>
          <a:xfrm>
            <a:off x="2235101" y="2779812"/>
            <a:ext cx="647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"/>
              </a:lnSpc>
              <a:buNone/>
            </a:pPr>
            <a:r>
              <a:rPr lang="en-US" sz="45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PROGRAMME</a:t>
            </a:r>
            <a:endParaRPr lang="en-US" sz="450" dirty="0"/>
          </a:p>
          <a:p>
            <a:pPr algn="l" indent="0" marL="0">
              <a:lnSpc>
                <a:spcPts val="450"/>
              </a:lnSpc>
              <a:buNone/>
            </a:pPr>
            <a:r>
              <a:rPr lang="en-US" sz="45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12 SEMAINES</a:t>
            </a:r>
            <a:endParaRPr lang="en-US" sz="450" dirty="0"/>
          </a:p>
        </p:txBody>
      </p:sp>
      <p:sp>
        <p:nvSpPr>
          <p:cNvPr id="14" name="Texte 13 (p-s)"/>
          <p:cNvSpPr txBox="1"/>
          <p:nvPr/>
        </p:nvSpPr>
        <p:spPr>
          <a:xfrm>
            <a:off x="10416666.66422526" y="10416427.924479166"/>
            <a:ext cx="-20954999904750" cy="-19049999980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Force · Cardio · Mobilité</a:t>
            </a:r>
            <a:endParaRPr lang="en-US" sz="60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Démarrage le 4 novembre</a:t>
            </a:r>
            <a:endParaRPr lang="en-US" sz="600" dirty="0"/>
          </a:p>
        </p:txBody>
      </p:sp>
      <p:sp>
        <p:nvSpPr>
          <p:cNvPr id="15" name="Texte 14 (p-k)"/>
          <p:cNvSpPr txBox="1"/>
          <p:nvPr/>
        </p:nvSpPr>
        <p:spPr>
          <a:xfrm>
            <a:off x="10416666.66422526" y="10416427.924479166"/>
            <a:ext cx="-24764999904750" cy="-19049999980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530" spc="126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RÉSULTATS</a:t>
            </a:r>
            <a:endParaRPr lang="en-US" sz="530" dirty="0"/>
          </a:p>
        </p:txBody>
      </p:sp>
      <p:sp>
        <p:nvSpPr>
          <p:cNvPr id="16" name="Texte 15 (pkpi)"/>
          <p:cNvSpPr txBox="1"/>
          <p:nvPr/>
        </p:nvSpPr>
        <p:spPr>
          <a:xfrm>
            <a:off x="762000" y="3560862"/>
            <a:ext cx="750585" cy="21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00" i="1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−12</a:t>
            </a:r>
            <a:pPr algn="l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kg</a:t>
            </a:r>
            <a:endParaRPr lang="en-US" sz="1200" dirty="0"/>
          </a:p>
        </p:txBody>
      </p:sp>
      <p:sp>
        <p:nvSpPr>
          <p:cNvPr id="17" name="Texte 16 (p-s)"/>
          <p:cNvSpPr txBox="1"/>
          <p:nvPr/>
        </p:nvSpPr>
        <p:spPr>
          <a:xfrm>
            <a:off x="10416666.66422526" y="10416427.924479166"/>
            <a:ext cx="-20954999904750" cy="-19049999980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semaines · 3 séances / semaine</a:t>
            </a:r>
            <a:endParaRPr lang="en-US" sz="60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Témoignage client (exemple)</a:t>
            </a:r>
            <a:endParaRPr lang="en-US" sz="600" dirty="0"/>
          </a:p>
        </p:txBody>
      </p:sp>
      <p:sp>
        <p:nvSpPr>
          <p:cNvPr id="18" name="Texte 17 (p-k)"/>
          <p:cNvSpPr txBox="1"/>
          <p:nvPr/>
        </p:nvSpPr>
        <p:spPr>
          <a:xfrm>
            <a:off x="10416666.66422526" y="10416427.924479166"/>
            <a:ext cx="-24764999904750" cy="-19049999980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530" spc="126" kern="0" dirty="0">
                <a:solidFill>
                  <a:srgbClr val="FFFF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CONSEIL N°08</a:t>
            </a:r>
            <a:endParaRPr lang="en-US" sz="530" dirty="0"/>
          </a:p>
        </p:txBody>
      </p:sp>
      <p:sp>
        <p:nvSpPr>
          <p:cNvPr id="19" name="Texte 18 (pq)"/>
          <p:cNvSpPr txBox="1"/>
          <p:nvPr/>
        </p:nvSpPr>
        <p:spPr>
          <a:xfrm>
            <a:off x="2235101" y="3494187"/>
            <a:ext cx="647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"/>
              </a:lnSpc>
              <a:buNone/>
            </a:pPr>
            <a:r>
              <a:rPr lang="en-US" sz="41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DORMIR</a:t>
            </a:r>
            <a:endParaRPr lang="en-US" sz="410" dirty="0"/>
          </a:p>
          <a:p>
            <a:pPr algn="l" indent="0" marL="0">
              <a:lnSpc>
                <a:spcPts val="410"/>
              </a:lnSpc>
              <a:buNone/>
            </a:pPr>
            <a:r>
              <a:rPr lang="en-US" sz="41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EST UN</a:t>
            </a:r>
            <a:endParaRPr lang="en-US" sz="410" dirty="0"/>
          </a:p>
          <a:p>
            <a:pPr algn="l" indent="0" marL="0">
              <a:lnSpc>
                <a:spcPts val="410"/>
              </a:lnSpc>
              <a:buNone/>
            </a:pPr>
            <a:r>
              <a:rPr lang="en-US" sz="41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ENTRAÎNEMENT.</a:t>
            </a:r>
            <a:endParaRPr lang="en-US" sz="410" dirty="0"/>
          </a:p>
        </p:txBody>
      </p:sp>
      <p:sp>
        <p:nvSpPr>
          <p:cNvPr id="20" name="Texte 19 (pq)"/>
          <p:cNvSpPr txBox="1"/>
          <p:nvPr/>
        </p:nvSpPr>
        <p:spPr>
          <a:xfrm>
            <a:off x="1498550" y="4227612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LA DISCIPLINE</a:t>
            </a:r>
            <a:endParaRPr lang="en-US" sz="450" dirty="0"/>
          </a:p>
          <a:p>
            <a:pPr algn="l" indent="0" marL="0">
              <a:lnSpc>
                <a:spcPts val="45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BAT LA</a:t>
            </a:r>
            <a:endParaRPr lang="en-US" sz="450" dirty="0"/>
          </a:p>
          <a:p>
            <a:pPr algn="l" indent="0" marL="0">
              <a:lnSpc>
                <a:spcPts val="450"/>
              </a:lnSpc>
              <a:buNone/>
            </a:pPr>
            <a:r>
              <a:rPr lang="en-US" sz="45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MOTIVATION.</a:t>
            </a:r>
            <a:endParaRPr lang="en-US" sz="450" dirty="0"/>
          </a:p>
        </p:txBody>
      </p:sp>
      <p:sp>
        <p:nvSpPr>
          <p:cNvPr id="21" name="Texte 20 (p-k)"/>
          <p:cNvSpPr txBox="1"/>
          <p:nvPr/>
        </p:nvSpPr>
        <p:spPr>
          <a:xfrm>
            <a:off x="10416666.66422526" y="10416427.924479166"/>
            <a:ext cx="-24764999904750" cy="-19049999980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530" spc="126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RÉSULTATS</a:t>
            </a:r>
            <a:endParaRPr lang="en-US" sz="530" dirty="0"/>
          </a:p>
        </p:txBody>
      </p:sp>
      <p:sp>
        <p:nvSpPr>
          <p:cNvPr id="22" name="Texte 21 (pkpi)"/>
          <p:cNvSpPr txBox="1"/>
          <p:nvPr/>
        </p:nvSpPr>
        <p:spPr>
          <a:xfrm>
            <a:off x="2235101" y="4284762"/>
            <a:ext cx="750585" cy="21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00" i="1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−12</a:t>
            </a:r>
            <a:pPr algn="l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kg</a:t>
            </a:r>
            <a:endParaRPr lang="en-US" sz="1200" dirty="0"/>
          </a:p>
        </p:txBody>
      </p:sp>
      <p:sp>
        <p:nvSpPr>
          <p:cNvPr id="23" name="Texte 22 (p-s)"/>
          <p:cNvSpPr txBox="1"/>
          <p:nvPr/>
        </p:nvSpPr>
        <p:spPr>
          <a:xfrm>
            <a:off x="10416666.66422526" y="10416427.924479166"/>
            <a:ext cx="-20954999904750" cy="-19049999980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semaines · 3 séances / semaine</a:t>
            </a:r>
            <a:endParaRPr lang="en-US" sz="60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Témoignage client (exemple)</a:t>
            </a:r>
            <a:endParaRPr lang="en-US" sz="600" dirty="0"/>
          </a:p>
        </p:txBody>
      </p:sp>
      <p:sp>
        <p:nvSpPr>
          <p:cNvPr id="24" name="Texte 23 (p-k)"/>
          <p:cNvSpPr txBox="1"/>
          <p:nvPr/>
        </p:nvSpPr>
        <p:spPr>
          <a:xfrm>
            <a:off x="10416666.66422526" y="10416427.924479166"/>
            <a:ext cx="-24764999904750" cy="-19049999980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530" spc="126" kern="0" dirty="0">
                <a:solidFill>
                  <a:srgbClr val="FFFF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CONSEIL N°08</a:t>
            </a:r>
            <a:endParaRPr lang="en-US" sz="530" dirty="0"/>
          </a:p>
        </p:txBody>
      </p:sp>
      <p:sp>
        <p:nvSpPr>
          <p:cNvPr id="25" name="Texte 24 (pq)"/>
          <p:cNvSpPr txBox="1"/>
          <p:nvPr/>
        </p:nvSpPr>
        <p:spPr>
          <a:xfrm>
            <a:off x="762000" y="4941987"/>
            <a:ext cx="647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"/>
              </a:lnSpc>
              <a:buNone/>
            </a:pPr>
            <a:r>
              <a:rPr lang="en-US" sz="41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DORMIR</a:t>
            </a:r>
            <a:endParaRPr lang="en-US" sz="410" dirty="0"/>
          </a:p>
          <a:p>
            <a:pPr algn="l" indent="0" marL="0">
              <a:lnSpc>
                <a:spcPts val="410"/>
              </a:lnSpc>
              <a:buNone/>
            </a:pPr>
            <a:r>
              <a:rPr lang="en-US" sz="41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EST UN</a:t>
            </a:r>
            <a:endParaRPr lang="en-US" sz="410" dirty="0"/>
          </a:p>
          <a:p>
            <a:pPr algn="l" indent="0" marL="0">
              <a:lnSpc>
                <a:spcPts val="410"/>
              </a:lnSpc>
              <a:buNone/>
            </a:pPr>
            <a:r>
              <a:rPr lang="en-US" sz="41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ENTRAÎNEMENT.</a:t>
            </a:r>
            <a:endParaRPr lang="en-US" sz="410" dirty="0"/>
          </a:p>
        </p:txBody>
      </p:sp>
      <p:sp>
        <p:nvSpPr>
          <p:cNvPr id="26" name="Texte 25 (p-k)"/>
          <p:cNvSpPr txBox="1"/>
          <p:nvPr/>
        </p:nvSpPr>
        <p:spPr>
          <a:xfrm>
            <a:off x="10416666.66422526" y="10416427.924479166"/>
            <a:ext cx="-24764999904750" cy="-19049999980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530" spc="126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NOUVEAU</a:t>
            </a:r>
            <a:endParaRPr lang="en-US" sz="530" dirty="0"/>
          </a:p>
        </p:txBody>
      </p:sp>
      <p:sp>
        <p:nvSpPr>
          <p:cNvPr id="27" name="Texte 26 (pq)"/>
          <p:cNvSpPr txBox="1"/>
          <p:nvPr/>
        </p:nvSpPr>
        <p:spPr>
          <a:xfrm>
            <a:off x="1498550" y="4951512"/>
            <a:ext cx="647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"/>
              </a:lnSpc>
              <a:buNone/>
            </a:pPr>
            <a:r>
              <a:rPr lang="en-US" sz="45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PROGRAMME</a:t>
            </a:r>
            <a:endParaRPr lang="en-US" sz="450" dirty="0"/>
          </a:p>
          <a:p>
            <a:pPr algn="l" indent="0" marL="0">
              <a:lnSpc>
                <a:spcPts val="450"/>
              </a:lnSpc>
              <a:buNone/>
            </a:pPr>
            <a:r>
              <a:rPr lang="en-US" sz="45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12 SEMAINES</a:t>
            </a:r>
            <a:endParaRPr lang="en-US" sz="450" dirty="0"/>
          </a:p>
        </p:txBody>
      </p:sp>
      <p:sp>
        <p:nvSpPr>
          <p:cNvPr id="28" name="Texte 27 (p-s)"/>
          <p:cNvSpPr txBox="1"/>
          <p:nvPr/>
        </p:nvSpPr>
        <p:spPr>
          <a:xfrm>
            <a:off x="10416666.66422526" y="10416427.924479166"/>
            <a:ext cx="-20954999904750" cy="-19049999980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Force · Cardio · Mobilité</a:t>
            </a:r>
            <a:endParaRPr lang="en-US" sz="60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Démarrage le 4 novembre</a:t>
            </a:r>
            <a:endParaRPr lang="en-US" sz="600" dirty="0"/>
          </a:p>
        </p:txBody>
      </p:sp>
      <p:sp>
        <p:nvSpPr>
          <p:cNvPr id="29" name="Texte 28 (pq)"/>
          <p:cNvSpPr txBox="1"/>
          <p:nvPr/>
        </p:nvSpPr>
        <p:spPr>
          <a:xfrm>
            <a:off x="3486150" y="1439912"/>
            <a:ext cx="1262063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LA DISCIPLINE</a:t>
            </a:r>
            <a:endParaRPr lang="en-US" sz="1130" dirty="0"/>
          </a:p>
          <a:p>
            <a:pPr algn="l" indent="0" marL="0">
              <a:lnSpc>
                <a:spcPts val="113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BAT LA</a:t>
            </a:r>
            <a:endParaRPr lang="en-US" sz="1130" dirty="0"/>
          </a:p>
          <a:p>
            <a:pPr algn="l" indent="0" marL="0">
              <a:lnSpc>
                <a:spcPts val="1130"/>
              </a:lnSpc>
              <a:buNone/>
            </a:pPr>
            <a:r>
              <a:rPr lang="en-US" sz="113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MOTIVATION.</a:t>
            </a:r>
            <a:endParaRPr lang="en-US" sz="1130" dirty="0"/>
          </a:p>
        </p:txBody>
      </p:sp>
      <p:sp>
        <p:nvSpPr>
          <p:cNvPr id="30" name="Texte 29 (p-k)"/>
          <p:cNvSpPr txBox="1"/>
          <p:nvPr/>
        </p:nvSpPr>
        <p:spPr>
          <a:xfrm>
            <a:off x="5148263" y="1458962"/>
            <a:ext cx="80376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530" spc="126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NOUVEAU</a:t>
            </a:r>
            <a:endParaRPr lang="en-US" sz="530" dirty="0"/>
          </a:p>
        </p:txBody>
      </p:sp>
      <p:sp>
        <p:nvSpPr>
          <p:cNvPr id="31" name="Texte 30 (pq)"/>
          <p:cNvSpPr txBox="1"/>
          <p:nvPr/>
        </p:nvSpPr>
        <p:spPr>
          <a:xfrm>
            <a:off x="5148263" y="1619399"/>
            <a:ext cx="126206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98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PROGRAMME</a:t>
            </a:r>
            <a:endParaRPr lang="en-US" sz="98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98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12 SEMAINES</a:t>
            </a:r>
            <a:endParaRPr lang="en-US" sz="980" dirty="0"/>
          </a:p>
        </p:txBody>
      </p:sp>
      <p:sp>
        <p:nvSpPr>
          <p:cNvPr id="32" name="Texte 31 (p-s)"/>
          <p:cNvSpPr txBox="1"/>
          <p:nvPr/>
        </p:nvSpPr>
        <p:spPr>
          <a:xfrm>
            <a:off x="5148263" y="1971824"/>
            <a:ext cx="1262063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Force · Cardio · Mobilité</a:t>
            </a:r>
            <a:endParaRPr lang="en-US" sz="60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Démarrage le 4 novembre</a:t>
            </a:r>
            <a:endParaRPr lang="en-US" sz="600" dirty="0"/>
          </a:p>
        </p:txBody>
      </p:sp>
      <p:sp>
        <p:nvSpPr>
          <p:cNvPr id="33" name="Texte 32 (p-k)"/>
          <p:cNvSpPr txBox="1"/>
          <p:nvPr/>
        </p:nvSpPr>
        <p:spPr>
          <a:xfrm>
            <a:off x="6810375" y="1458962"/>
            <a:ext cx="91114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530" spc="126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RÉSULTATS</a:t>
            </a:r>
            <a:endParaRPr lang="en-US" sz="530" dirty="0"/>
          </a:p>
        </p:txBody>
      </p:sp>
      <p:sp>
        <p:nvSpPr>
          <p:cNvPr id="34" name="Texte 33 (pkpi)"/>
          <p:cNvSpPr txBox="1"/>
          <p:nvPr/>
        </p:nvSpPr>
        <p:spPr>
          <a:xfrm>
            <a:off x="6810375" y="1638449"/>
            <a:ext cx="1635279" cy="621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050" i="1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−12</a:t>
            </a:r>
            <a:pPr algn="l" indent="0" marL="0">
              <a:lnSpc>
                <a:spcPts val="4050"/>
              </a:lnSpc>
              <a:buNone/>
            </a:pPr>
            <a:r>
              <a:rPr lang="en-US" sz="1350" i="1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kg</a:t>
            </a:r>
            <a:endParaRPr lang="en-US" sz="4050" dirty="0"/>
          </a:p>
        </p:txBody>
      </p:sp>
      <p:sp>
        <p:nvSpPr>
          <p:cNvPr id="35" name="Texte 34 (p-s)"/>
          <p:cNvSpPr txBox="1"/>
          <p:nvPr/>
        </p:nvSpPr>
        <p:spPr>
          <a:xfrm>
            <a:off x="6810375" y="2225129"/>
            <a:ext cx="1262063" cy="327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semaines · 3 séances / semaine</a:t>
            </a:r>
            <a:endParaRPr lang="en-US" sz="60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Témoignage client (exemple)</a:t>
            </a:r>
            <a:endParaRPr lang="en-US" sz="600" dirty="0"/>
          </a:p>
        </p:txBody>
      </p:sp>
      <p:sp>
        <p:nvSpPr>
          <p:cNvPr id="36" name="Texte 35 (b)"/>
          <p:cNvSpPr txBox="1"/>
          <p:nvPr/>
        </p:nvSpPr>
        <p:spPr>
          <a:xfrm>
            <a:off x="3314700" y="2921050"/>
            <a:ext cx="712113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CITATION</a:t>
            </a:r>
            <a:endParaRPr lang="en-US" sz="750" dirty="0"/>
          </a:p>
        </p:txBody>
      </p:sp>
      <p:sp>
        <p:nvSpPr>
          <p:cNvPr id="37" name="Texte 36 (span)"/>
          <p:cNvSpPr txBox="1"/>
          <p:nvPr/>
        </p:nvSpPr>
        <p:spPr>
          <a:xfrm>
            <a:off x="3314700" y="3059162"/>
            <a:ext cx="1266602" cy="136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Noir, mot-clé en orange</a:t>
            </a:r>
            <a:endParaRPr lang="en-US" sz="750" dirty="0"/>
          </a:p>
        </p:txBody>
      </p:sp>
      <p:sp>
        <p:nvSpPr>
          <p:cNvPr id="38" name="Texte 37 (b)"/>
          <p:cNvSpPr txBox="1"/>
          <p:nvPr/>
        </p:nvSpPr>
        <p:spPr>
          <a:xfrm>
            <a:off x="4976813" y="2921050"/>
            <a:ext cx="790367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ANNONCE</a:t>
            </a:r>
            <a:endParaRPr lang="en-US" sz="750" dirty="0"/>
          </a:p>
        </p:txBody>
      </p:sp>
      <p:sp>
        <p:nvSpPr>
          <p:cNvPr id="39" name="Texte 38 (span)"/>
          <p:cNvSpPr txBox="1"/>
          <p:nvPr/>
        </p:nvSpPr>
        <p:spPr>
          <a:xfrm>
            <a:off x="4976813" y="3059162"/>
            <a:ext cx="985183" cy="136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Orange, texte noir</a:t>
            </a:r>
            <a:endParaRPr lang="en-US" sz="750" dirty="0"/>
          </a:p>
        </p:txBody>
      </p:sp>
      <p:sp>
        <p:nvSpPr>
          <p:cNvPr id="40" name="Texte 39 (b)"/>
          <p:cNvSpPr txBox="1"/>
          <p:nvPr/>
        </p:nvSpPr>
        <p:spPr>
          <a:xfrm>
            <a:off x="6638925" y="2921050"/>
            <a:ext cx="765974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RÉSULTAT</a:t>
            </a:r>
            <a:endParaRPr lang="en-US" sz="750" dirty="0"/>
          </a:p>
        </p:txBody>
      </p:sp>
      <p:sp>
        <p:nvSpPr>
          <p:cNvPr id="41" name="Texte 40 (span)"/>
          <p:cNvSpPr txBox="1"/>
          <p:nvPr/>
        </p:nvSpPr>
        <p:spPr>
          <a:xfrm>
            <a:off x="6638925" y="3059162"/>
            <a:ext cx="1274624" cy="136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Craie, chiffre en italique</a:t>
            </a:r>
            <a:endParaRPr lang="en-US" sz="750" dirty="0"/>
          </a:p>
        </p:txBody>
      </p:sp>
      <p:sp>
        <p:nvSpPr>
          <p:cNvPr id="42" name="Texte 41 (li)"/>
          <p:cNvSpPr txBox="1"/>
          <p:nvPr/>
        </p:nvSpPr>
        <p:spPr>
          <a:xfrm>
            <a:off x="3524250" y="3416350"/>
            <a:ext cx="4679975" cy="15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Symbole toujours en bas à droite, même taille et même marge sur tous les posts.</a:t>
            </a:r>
            <a:endParaRPr lang="en-US" sz="860" dirty="0"/>
          </a:p>
        </p:txBody>
      </p:sp>
      <p:sp>
        <p:nvSpPr>
          <p:cNvPr id="43" name="Texte 42 (li)"/>
          <p:cNvSpPr txBox="1"/>
          <p:nvPr/>
        </p:nvSpPr>
        <p:spPr>
          <a:xfrm>
            <a:off x="3524250" y="3662214"/>
            <a:ext cx="4832226" cy="15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Alterner photo / aplat pour un profil rythmé ; jamais deux aplats orange côte à côte.</a:t>
            </a:r>
            <a:endParaRPr lang="en-US" sz="860" dirty="0"/>
          </a:p>
        </p:txBody>
      </p:sp>
      <p:sp>
        <p:nvSpPr>
          <p:cNvPr id="44" name="Texte 43 (li)"/>
          <p:cNvSpPr txBox="1"/>
          <p:nvPr/>
        </p:nvSpPr>
        <p:spPr>
          <a:xfrm>
            <a:off x="3524250" y="3908078"/>
            <a:ext cx="3042865" cy="15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Formats : 1080 × 1350 (post) et 1080 × 1920 (story).</a:t>
            </a:r>
            <a:endParaRPr lang="en-US" sz="860" dirty="0"/>
          </a:p>
        </p:txBody>
      </p:sp>
      <p:sp>
        <p:nvSpPr>
          <p:cNvPr id="45" name="Texte 44 (kicker)"/>
          <p:cNvSpPr txBox="1"/>
          <p:nvPr/>
        </p:nvSpPr>
        <p:spPr>
          <a:xfrm>
            <a:off x="3314700" y="4296817"/>
            <a:ext cx="2124239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STORIES À LA UNE</a:t>
            </a:r>
            <a:endParaRPr lang="en-US" sz="750" dirty="0"/>
          </a:p>
        </p:txBody>
      </p:sp>
      <p:sp>
        <p:nvSpPr>
          <p:cNvPr id="46" name="Texte 45 (small)"/>
          <p:cNvSpPr txBox="1"/>
          <p:nvPr/>
        </p:nvSpPr>
        <p:spPr>
          <a:xfrm>
            <a:off x="3403253" y="5177879"/>
            <a:ext cx="549875" cy="125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10" dirty="0">
                <a:solidFill>
                  <a:srgbClr val="11121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Coaching</a:t>
            </a:r>
            <a:endParaRPr lang="en-US" sz="710" dirty="0"/>
          </a:p>
        </p:txBody>
      </p:sp>
      <p:sp>
        <p:nvSpPr>
          <p:cNvPr id="47" name="Texte 46 (small)"/>
          <p:cNvSpPr txBox="1"/>
          <p:nvPr/>
        </p:nvSpPr>
        <p:spPr>
          <a:xfrm>
            <a:off x="4210348" y="5177879"/>
            <a:ext cx="534486" cy="125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10" dirty="0">
                <a:solidFill>
                  <a:srgbClr val="11121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Résultats</a:t>
            </a:r>
            <a:endParaRPr lang="en-US" sz="710" dirty="0"/>
          </a:p>
        </p:txBody>
      </p:sp>
      <p:sp>
        <p:nvSpPr>
          <p:cNvPr id="48" name="Texte 47 (small)"/>
          <p:cNvSpPr txBox="1"/>
          <p:nvPr/>
        </p:nvSpPr>
        <p:spPr>
          <a:xfrm>
            <a:off x="4934843" y="5177879"/>
            <a:ext cx="700980" cy="125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10" dirty="0">
                <a:solidFill>
                  <a:srgbClr val="11121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Programmes</a:t>
            </a:r>
            <a:endParaRPr lang="en-US" sz="710" dirty="0"/>
          </a:p>
        </p:txBody>
      </p:sp>
      <p:sp>
        <p:nvSpPr>
          <p:cNvPr id="49" name="Texte 48 (small)"/>
          <p:cNvSpPr txBox="1"/>
          <p:nvPr/>
        </p:nvSpPr>
        <p:spPr>
          <a:xfrm>
            <a:off x="5822752" y="5177879"/>
            <a:ext cx="507638" cy="125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10" dirty="0">
                <a:solidFill>
                  <a:srgbClr val="11121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Nutrition</a:t>
            </a:r>
            <a:endParaRPr lang="en-US" sz="710" dirty="0"/>
          </a:p>
        </p:txBody>
      </p:sp>
      <p:sp>
        <p:nvSpPr>
          <p:cNvPr id="50" name="Texte 49 (small)"/>
          <p:cNvSpPr txBox="1"/>
          <p:nvPr/>
        </p:nvSpPr>
        <p:spPr>
          <a:xfrm>
            <a:off x="6639074" y="5177879"/>
            <a:ext cx="471949" cy="125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10" dirty="0">
                <a:solidFill>
                  <a:srgbClr val="11121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 ligne</a:t>
            </a:r>
            <a:endParaRPr lang="en-US" sz="710" dirty="0"/>
          </a:p>
        </p:txBody>
      </p:sp>
      <p:sp>
        <p:nvSpPr>
          <p:cNvPr id="51" name="Texte 50 (kicker)"/>
          <p:cNvSpPr txBox="1"/>
          <p:nvPr/>
        </p:nvSpPr>
        <p:spPr>
          <a:xfrm>
            <a:off x="8644086" y="1468487"/>
            <a:ext cx="815757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FA461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STORY</a:t>
            </a:r>
            <a:endParaRPr lang="en-US" sz="750" dirty="0"/>
          </a:p>
        </p:txBody>
      </p:sp>
      <p:sp>
        <p:nvSpPr>
          <p:cNvPr id="52" name="Texte 51 (pq)"/>
          <p:cNvSpPr txBox="1"/>
          <p:nvPr/>
        </p:nvSpPr>
        <p:spPr>
          <a:xfrm>
            <a:off x="8644086" y="1682800"/>
            <a:ext cx="837605" cy="296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SÉANCE</a:t>
            </a:r>
            <a:endParaRPr lang="en-US" sz="10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DU JOUR</a:t>
            </a:r>
            <a:endParaRPr lang="en-US" sz="1050" dirty="0"/>
          </a:p>
        </p:txBody>
      </p:sp>
      <p:sp>
        <p:nvSpPr>
          <p:cNvPr id="53" name="Texte 52 (st-list)"/>
          <p:cNvSpPr txBox="1"/>
          <p:nvPr/>
        </p:nvSpPr>
        <p:spPr>
          <a:xfrm>
            <a:off x="8644086" y="2063800"/>
            <a:ext cx="837605" cy="399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6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× 5 Squat</a:t>
            </a:r>
            <a:endParaRPr lang="en-US" sz="68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6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× 8 Rowing</a:t>
            </a:r>
            <a:endParaRPr lang="en-US" sz="68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6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× 12 Fentes</a:t>
            </a:r>
            <a:endParaRPr lang="en-US" sz="680" dirty="0"/>
          </a:p>
        </p:txBody>
      </p:sp>
      <p:sp>
        <p:nvSpPr>
          <p:cNvPr id="54" name="Texte 53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55" name="Texte 54 (span)"/>
          <p:cNvSpPr txBox="1"/>
          <p:nvPr/>
        </p:nvSpPr>
        <p:spPr>
          <a:xfrm>
            <a:off x="6193482" y="7188994"/>
            <a:ext cx="1713681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RÉSEAUX SOCIAUX</a:t>
            </a:r>
            <a:endParaRPr lang="en-US" sz="680" dirty="0"/>
          </a:p>
        </p:txBody>
      </p:sp>
      <p:sp>
        <p:nvSpPr>
          <p:cNvPr id="56" name="Texte 55 (pn)"/>
          <p:cNvSpPr txBox="1"/>
          <p:nvPr/>
        </p:nvSpPr>
        <p:spPr>
          <a:xfrm>
            <a:off x="9926389" y="7188994"/>
            <a:ext cx="298013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29</a:t>
            </a:r>
            <a:endParaRPr lang="en-US" sz="6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kicker)"/>
          <p:cNvSpPr txBox="1"/>
          <p:nvPr/>
        </p:nvSpPr>
        <p:spPr>
          <a:xfrm>
            <a:off x="609600" y="514350"/>
            <a:ext cx="2270120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06 — APPLICATIONS</a:t>
            </a:r>
            <a:endParaRPr lang="en-US" sz="750" dirty="0"/>
          </a:p>
        </p:txBody>
      </p:sp>
      <p:sp>
        <p:nvSpPr>
          <p:cNvPr id="3" name="Texte 2 (h2)"/>
          <p:cNvSpPr txBox="1"/>
          <p:nvPr/>
        </p:nvSpPr>
        <p:spPr>
          <a:xfrm>
            <a:off x="609600" y="719138"/>
            <a:ext cx="2557433" cy="40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TEXTILE.</a:t>
            </a:r>
            <a:endParaRPr lang="en-US" sz="2550" dirty="0"/>
          </a:p>
        </p:txBody>
      </p:sp>
      <p:sp>
        <p:nvSpPr>
          <p:cNvPr id="4" name="Texte 3 (intro)"/>
          <p:cNvSpPr txBox="1"/>
          <p:nvPr/>
        </p:nvSpPr>
        <p:spPr>
          <a:xfrm>
            <a:off x="609600" y="1201787"/>
            <a:ext cx="6153150" cy="373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textile est le premier support de visibilité d'un coach : il doit se reconnaître de loin, à l'entraînement comme en dehors.</a:t>
            </a:r>
            <a:endParaRPr lang="en-US" sz="980" dirty="0"/>
          </a:p>
        </p:txBody>
      </p:sp>
      <p:sp>
        <p:nvSpPr>
          <p:cNvPr id="5" name="Texte 4 (b)"/>
          <p:cNvSpPr txBox="1"/>
          <p:nvPr/>
        </p:nvSpPr>
        <p:spPr>
          <a:xfrm>
            <a:off x="609600" y="4801046"/>
            <a:ext cx="1607850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T-SHIRT — FACE</a:t>
            </a:r>
            <a:endParaRPr lang="en-US" sz="830" dirty="0"/>
          </a:p>
        </p:txBody>
      </p:sp>
      <p:sp>
        <p:nvSpPr>
          <p:cNvPr id="6" name="Texte 5 (span)"/>
          <p:cNvSpPr txBox="1"/>
          <p:nvPr/>
        </p:nvSpPr>
        <p:spPr>
          <a:xfrm>
            <a:off x="609600" y="4953893"/>
            <a:ext cx="2239566" cy="302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Symbole blanc côté cœur, 8 cm, sérigraphie ou flex.</a:t>
            </a:r>
            <a:endParaRPr lang="en-US" sz="790" dirty="0"/>
          </a:p>
        </p:txBody>
      </p:sp>
      <p:sp>
        <p:nvSpPr>
          <p:cNvPr id="7" name="Texte 6 (b)"/>
          <p:cNvSpPr txBox="1"/>
          <p:nvPr/>
        </p:nvSpPr>
        <p:spPr>
          <a:xfrm>
            <a:off x="3039666" y="4801046"/>
            <a:ext cx="1519624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T-SHIRT — DOS</a:t>
            </a:r>
            <a:endParaRPr lang="en-US" sz="830" dirty="0"/>
          </a:p>
        </p:txBody>
      </p:sp>
      <p:sp>
        <p:nvSpPr>
          <p:cNvPr id="8" name="Texte 7 (span)"/>
          <p:cNvSpPr txBox="1"/>
          <p:nvPr/>
        </p:nvSpPr>
        <p:spPr>
          <a:xfrm>
            <a:off x="3039666" y="4953893"/>
            <a:ext cx="2239566" cy="302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Symbole Orange Impulsion 25 cm et signature.</a:t>
            </a:r>
            <a:endParaRPr lang="en-US" sz="790" dirty="0"/>
          </a:p>
        </p:txBody>
      </p:sp>
      <p:sp>
        <p:nvSpPr>
          <p:cNvPr id="9" name="Texte 8 (b)"/>
          <p:cNvSpPr txBox="1"/>
          <p:nvPr/>
        </p:nvSpPr>
        <p:spPr>
          <a:xfrm>
            <a:off x="5469731" y="4801046"/>
            <a:ext cx="1687175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T-SHIRT CLIENTS</a:t>
            </a:r>
            <a:endParaRPr lang="en-US" sz="830" dirty="0"/>
          </a:p>
        </p:txBody>
      </p:sp>
      <p:sp>
        <p:nvSpPr>
          <p:cNvPr id="10" name="Texte 9 (span)"/>
          <p:cNvSpPr txBox="1"/>
          <p:nvPr/>
        </p:nvSpPr>
        <p:spPr>
          <a:xfrm>
            <a:off x="5469731" y="4953893"/>
            <a:ext cx="2239566" cy="302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Craie, symbole noir centré : tenue offerte aux élèves.</a:t>
            </a:r>
            <a:endParaRPr lang="en-US" sz="790" dirty="0"/>
          </a:p>
        </p:txBody>
      </p:sp>
      <p:sp>
        <p:nvSpPr>
          <p:cNvPr id="11" name="Texte 10 (b)"/>
          <p:cNvSpPr txBox="1"/>
          <p:nvPr/>
        </p:nvSpPr>
        <p:spPr>
          <a:xfrm>
            <a:off x="7899797" y="4801046"/>
            <a:ext cx="1249918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CASQUETTE</a:t>
            </a:r>
            <a:endParaRPr lang="en-US" sz="830" dirty="0"/>
          </a:p>
        </p:txBody>
      </p:sp>
      <p:sp>
        <p:nvSpPr>
          <p:cNvPr id="12" name="Texte 11 (span)"/>
          <p:cNvSpPr txBox="1"/>
          <p:nvPr/>
        </p:nvSpPr>
        <p:spPr>
          <a:xfrm>
            <a:off x="7899797" y="4953893"/>
            <a:ext cx="2239714" cy="302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Broderie blanche, version petite taille sous 4 cm.</a:t>
            </a:r>
            <a:endParaRPr lang="en-US" sz="790" dirty="0"/>
          </a:p>
        </p:txBody>
      </p:sp>
      <p:sp>
        <p:nvSpPr>
          <p:cNvPr id="13" name="Texte 12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14" name="Texte 13 (span)"/>
          <p:cNvSpPr txBox="1"/>
          <p:nvPr/>
        </p:nvSpPr>
        <p:spPr>
          <a:xfrm>
            <a:off x="6549033" y="7188994"/>
            <a:ext cx="789057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TEXTILE</a:t>
            </a:r>
            <a:endParaRPr lang="en-US" sz="680" dirty="0"/>
          </a:p>
        </p:txBody>
      </p:sp>
      <p:sp>
        <p:nvSpPr>
          <p:cNvPr id="15" name="Texte 14 (pn)"/>
          <p:cNvSpPr txBox="1"/>
          <p:nvPr/>
        </p:nvSpPr>
        <p:spPr>
          <a:xfrm>
            <a:off x="9926241" y="7188994"/>
            <a:ext cx="298207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30</a:t>
            </a:r>
            <a:endParaRPr lang="en-US" sz="6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1" descr="jt-logotype-blan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455" y="2497485"/>
            <a:ext cx="1181100" cy="121295"/>
          </a:xfrm>
          <a:prstGeom prst="rect">
            <a:avLst/>
          </a:prstGeom>
        </p:spPr>
      </p:pic>
      <p:sp>
        <p:nvSpPr>
          <p:cNvPr id="3" name="Texte 1 (kicker)"/>
          <p:cNvSpPr txBox="1"/>
          <p:nvPr/>
        </p:nvSpPr>
        <p:spPr>
          <a:xfrm>
            <a:off x="609600" y="514350"/>
            <a:ext cx="2270120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06 — APPLICATIONS</a:t>
            </a:r>
            <a:endParaRPr lang="en-US" sz="750" dirty="0"/>
          </a:p>
        </p:txBody>
      </p:sp>
      <p:sp>
        <p:nvSpPr>
          <p:cNvPr id="4" name="Texte 2 (h2)"/>
          <p:cNvSpPr txBox="1"/>
          <p:nvPr/>
        </p:nvSpPr>
        <p:spPr>
          <a:xfrm>
            <a:off x="609600" y="719138"/>
            <a:ext cx="9287128" cy="40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ACCESSOIRES &amp; ÉVÉNEMENTIEL.</a:t>
            </a:r>
            <a:endParaRPr lang="en-US" sz="2550" dirty="0"/>
          </a:p>
        </p:txBody>
      </p:sp>
      <p:sp>
        <p:nvSpPr>
          <p:cNvPr id="5" name="Texte 3 (b)"/>
          <p:cNvSpPr txBox="1"/>
          <p:nvPr/>
        </p:nvSpPr>
        <p:spPr>
          <a:xfrm>
            <a:off x="609600" y="5541318"/>
            <a:ext cx="911915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GOURDE</a:t>
            </a:r>
            <a:endParaRPr lang="en-US" sz="830" dirty="0"/>
          </a:p>
        </p:txBody>
      </p:sp>
      <p:sp>
        <p:nvSpPr>
          <p:cNvPr id="6" name="Texte 4 (span)"/>
          <p:cNvSpPr txBox="1"/>
          <p:nvPr/>
        </p:nvSpPr>
        <p:spPr>
          <a:xfrm>
            <a:off x="609600" y="5694164"/>
            <a:ext cx="1983819" cy="14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Inox noir mat, marquage laser blanc.</a:t>
            </a:r>
            <a:endParaRPr lang="en-US" sz="790" dirty="0"/>
          </a:p>
        </p:txBody>
      </p:sp>
      <p:sp>
        <p:nvSpPr>
          <p:cNvPr id="7" name="Texte 5 (b)"/>
          <p:cNvSpPr txBox="1"/>
          <p:nvPr/>
        </p:nvSpPr>
        <p:spPr>
          <a:xfrm>
            <a:off x="3039666" y="5541318"/>
            <a:ext cx="1043092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TOTE BAG</a:t>
            </a:r>
            <a:endParaRPr lang="en-US" sz="830" dirty="0"/>
          </a:p>
        </p:txBody>
      </p:sp>
      <p:sp>
        <p:nvSpPr>
          <p:cNvPr id="8" name="Texte 6 (span)"/>
          <p:cNvSpPr txBox="1"/>
          <p:nvPr/>
        </p:nvSpPr>
        <p:spPr>
          <a:xfrm>
            <a:off x="3039666" y="5694164"/>
            <a:ext cx="2259345" cy="14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Coton naturel, sérigraphie noire 1 couleur.</a:t>
            </a:r>
            <a:endParaRPr lang="en-US" sz="790" dirty="0"/>
          </a:p>
        </p:txBody>
      </p:sp>
      <p:sp>
        <p:nvSpPr>
          <p:cNvPr id="9" name="Texte 7 (b)"/>
          <p:cNvSpPr txBox="1"/>
          <p:nvPr/>
        </p:nvSpPr>
        <p:spPr>
          <a:xfrm>
            <a:off x="5469731" y="5541318"/>
            <a:ext cx="1137508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SERVIETTE</a:t>
            </a:r>
            <a:endParaRPr lang="en-US" sz="830" dirty="0"/>
          </a:p>
        </p:txBody>
      </p:sp>
      <p:sp>
        <p:nvSpPr>
          <p:cNvPr id="10" name="Texte 8 (span)"/>
          <p:cNvSpPr txBox="1"/>
          <p:nvPr/>
        </p:nvSpPr>
        <p:spPr>
          <a:xfrm>
            <a:off x="5469731" y="5694164"/>
            <a:ext cx="1849249" cy="14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Microfibre orange, broderie noire.</a:t>
            </a:r>
            <a:endParaRPr lang="en-US" sz="790" dirty="0"/>
          </a:p>
        </p:txBody>
      </p:sp>
      <p:sp>
        <p:nvSpPr>
          <p:cNvPr id="11" name="Texte 9 (ru-t)"/>
          <p:cNvSpPr txBox="1"/>
          <p:nvPr/>
        </p:nvSpPr>
        <p:spPr>
          <a:xfrm>
            <a:off x="8400455" y="2990255"/>
            <a:ext cx="1238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COACHING</a:t>
            </a:r>
            <a:endParaRPr lang="en-US" sz="98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INDIVIDUEL</a:t>
            </a:r>
            <a:endParaRPr lang="en-US" sz="98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&amp; COLLECTIF</a:t>
            </a:r>
            <a:endParaRPr lang="en-US" sz="980" dirty="0"/>
          </a:p>
        </p:txBody>
      </p:sp>
      <p:sp>
        <p:nvSpPr>
          <p:cNvPr id="12" name="Texte 10 (ru-b)"/>
          <p:cNvSpPr txBox="1"/>
          <p:nvPr/>
        </p:nvSpPr>
        <p:spPr>
          <a:xfrm>
            <a:off x="8499887" y="4812357"/>
            <a:ext cx="98223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680" b="1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BILAN OFFERT</a:t>
            </a:r>
            <a:endParaRPr lang="en-US" sz="680" dirty="0"/>
          </a:p>
        </p:txBody>
      </p:sp>
      <p:sp>
        <p:nvSpPr>
          <p:cNvPr id="13" name="Texte 11 (b)"/>
          <p:cNvSpPr txBox="1"/>
          <p:nvPr/>
        </p:nvSpPr>
        <p:spPr>
          <a:xfrm>
            <a:off x="7937897" y="5488037"/>
            <a:ext cx="2050331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spc="41" kern="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ROLL-UP 85 × 200 CM</a:t>
            </a:r>
            <a:endParaRPr lang="en-US" sz="830" dirty="0"/>
          </a:p>
        </p:txBody>
      </p:sp>
      <p:sp>
        <p:nvSpPr>
          <p:cNvPr id="14" name="Texte 12 (span)"/>
          <p:cNvSpPr txBox="1"/>
          <p:nvPr/>
        </p:nvSpPr>
        <p:spPr>
          <a:xfrm>
            <a:off x="7937897" y="5640884"/>
            <a:ext cx="2147694" cy="14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Salons, salles partenaires, événements.</a:t>
            </a:r>
            <a:endParaRPr lang="en-US" sz="790" dirty="0"/>
          </a:p>
        </p:txBody>
      </p:sp>
      <p:sp>
        <p:nvSpPr>
          <p:cNvPr id="15" name="Texte 13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16" name="Texte 14 (span)"/>
          <p:cNvSpPr txBox="1"/>
          <p:nvPr/>
        </p:nvSpPr>
        <p:spPr>
          <a:xfrm>
            <a:off x="6354812" y="7188994"/>
            <a:ext cx="1303318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ACCESSOIRES</a:t>
            </a:r>
            <a:endParaRPr lang="en-US" sz="680" dirty="0"/>
          </a:p>
        </p:txBody>
      </p:sp>
      <p:sp>
        <p:nvSpPr>
          <p:cNvPr id="17" name="Texte 15 (pn)"/>
          <p:cNvSpPr txBox="1"/>
          <p:nvPr/>
        </p:nvSpPr>
        <p:spPr>
          <a:xfrm>
            <a:off x="9933533" y="7188994"/>
            <a:ext cx="288727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31</a:t>
            </a:r>
            <a:endParaRPr lang="en-US" sz="6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1" descr="jt-horizontal-blan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1715244"/>
            <a:ext cx="1619250" cy="248841"/>
          </a:xfrm>
          <a:prstGeom prst="rect">
            <a:avLst/>
          </a:prstGeom>
        </p:spPr>
      </p:pic>
      <p:pic>
        <p:nvPicPr>
          <p:cNvPr id="3" name="Logo 2" descr="jt-symbole-blan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961" y="1525637"/>
            <a:ext cx="381000" cy="187523"/>
          </a:xfrm>
          <a:prstGeom prst="rect">
            <a:avLst/>
          </a:prstGeom>
        </p:spPr>
      </p:pic>
      <p:sp>
        <p:nvSpPr>
          <p:cNvPr id="4" name="Texte 1 (kicker)"/>
          <p:cNvSpPr txBox="1"/>
          <p:nvPr/>
        </p:nvSpPr>
        <p:spPr>
          <a:xfrm>
            <a:off x="609600" y="514350"/>
            <a:ext cx="2270120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06 — APPLICATIONS</a:t>
            </a:r>
            <a:endParaRPr lang="en-US" sz="750" dirty="0"/>
          </a:p>
        </p:txBody>
      </p:sp>
      <p:sp>
        <p:nvSpPr>
          <p:cNvPr id="5" name="Texte 2 (h2)"/>
          <p:cNvSpPr txBox="1"/>
          <p:nvPr/>
        </p:nvSpPr>
        <p:spPr>
          <a:xfrm>
            <a:off x="609600" y="719138"/>
            <a:ext cx="1509564" cy="40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WEB.</a:t>
            </a:r>
            <a:endParaRPr lang="en-US" sz="2550" dirty="0"/>
          </a:p>
        </p:txBody>
      </p:sp>
      <p:sp>
        <p:nvSpPr>
          <p:cNvPr id="6" name="Texte 3 (span)"/>
          <p:cNvSpPr txBox="1"/>
          <p:nvPr/>
        </p:nvSpPr>
        <p:spPr>
          <a:xfrm>
            <a:off x="1571625" y="1344960"/>
            <a:ext cx="879262" cy="124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jonathantemam.fr</a:t>
            </a:r>
            <a:endParaRPr lang="en-US" sz="680" dirty="0"/>
          </a:p>
        </p:txBody>
      </p:sp>
      <p:sp>
        <p:nvSpPr>
          <p:cNvPr id="7" name="Texte 4 (span)"/>
          <p:cNvSpPr txBox="1"/>
          <p:nvPr/>
        </p:nvSpPr>
        <p:spPr>
          <a:xfrm>
            <a:off x="3935462" y="1775371"/>
            <a:ext cx="567883" cy="136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dirty="0">
                <a:solidFill>
                  <a:srgbClr val="C7C9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Coaching</a:t>
            </a:r>
            <a:endParaRPr lang="en-US" sz="750" dirty="0"/>
          </a:p>
        </p:txBody>
      </p:sp>
      <p:sp>
        <p:nvSpPr>
          <p:cNvPr id="8" name="Texte 5 (span)"/>
          <p:cNvSpPr txBox="1"/>
          <p:nvPr/>
        </p:nvSpPr>
        <p:spPr>
          <a:xfrm>
            <a:off x="4574679" y="1775371"/>
            <a:ext cx="725210" cy="136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dirty="0">
                <a:solidFill>
                  <a:srgbClr val="C7C9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Programmes</a:t>
            </a:r>
            <a:endParaRPr lang="en-US" sz="750" dirty="0"/>
          </a:p>
        </p:txBody>
      </p:sp>
      <p:sp>
        <p:nvSpPr>
          <p:cNvPr id="9" name="Texte 6 (span)"/>
          <p:cNvSpPr txBox="1"/>
          <p:nvPr/>
        </p:nvSpPr>
        <p:spPr>
          <a:xfrm>
            <a:off x="5356920" y="1775371"/>
            <a:ext cx="548729" cy="136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dirty="0">
                <a:solidFill>
                  <a:srgbClr val="C7C9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Résultats</a:t>
            </a:r>
            <a:endParaRPr lang="en-US" sz="750" dirty="0"/>
          </a:p>
        </p:txBody>
      </p:sp>
      <p:sp>
        <p:nvSpPr>
          <p:cNvPr id="10" name="Texte 7 (span)"/>
          <p:cNvSpPr txBox="1"/>
          <p:nvPr/>
        </p:nvSpPr>
        <p:spPr>
          <a:xfrm>
            <a:off x="5978723" y="1775371"/>
            <a:ext cx="484391" cy="136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dirty="0">
                <a:solidFill>
                  <a:srgbClr val="C7C9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</a:t>
            </a:r>
            <a:endParaRPr lang="en-US" sz="750" dirty="0"/>
          </a:p>
        </p:txBody>
      </p:sp>
      <p:sp>
        <p:nvSpPr>
          <p:cNvPr id="11" name="Texte 8 (btn)"/>
          <p:cNvSpPr txBox="1"/>
          <p:nvPr/>
        </p:nvSpPr>
        <p:spPr>
          <a:xfrm>
            <a:off x="6751588" y="1782812"/>
            <a:ext cx="958155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54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RÉSERVER</a:t>
            </a:r>
            <a:endParaRPr lang="en-US" sz="680" dirty="0"/>
          </a:p>
        </p:txBody>
      </p:sp>
      <p:sp>
        <p:nvSpPr>
          <p:cNvPr id="12" name="Texte 9 (kicker)"/>
          <p:cNvSpPr txBox="1"/>
          <p:nvPr/>
        </p:nvSpPr>
        <p:spPr>
          <a:xfrm>
            <a:off x="895350" y="2420392"/>
            <a:ext cx="4060746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FA461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COACH SPORTIF · PARIS &amp; EN LIGNE</a:t>
            </a:r>
            <a:endParaRPr lang="en-US" sz="750" dirty="0"/>
          </a:p>
        </p:txBody>
      </p:sp>
      <p:sp>
        <p:nvSpPr>
          <p:cNvPr id="13" name="Texte 10 (h-big)"/>
          <p:cNvSpPr txBox="1"/>
          <p:nvPr/>
        </p:nvSpPr>
        <p:spPr>
          <a:xfrm>
            <a:off x="895350" y="2596604"/>
            <a:ext cx="3486150" cy="1465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VISE</a:t>
            </a:r>
            <a:endParaRPr lang="en-US" sz="3750" dirty="0"/>
          </a:p>
          <a:p>
            <a:pPr algn="l" indent="0" marL="0">
              <a:lnSpc>
                <a:spcPts val="375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PLUS HAUT.</a:t>
            </a:r>
            <a:endParaRPr lang="en-US" sz="3750" dirty="0"/>
          </a:p>
        </p:txBody>
      </p:sp>
      <p:sp>
        <p:nvSpPr>
          <p:cNvPr id="14" name="Texte 11 (p)"/>
          <p:cNvSpPr txBox="1"/>
          <p:nvPr/>
        </p:nvSpPr>
        <p:spPr>
          <a:xfrm>
            <a:off x="895350" y="4101554"/>
            <a:ext cx="3200400" cy="346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B9BC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Coaching individuel, small group et préparation physique. Un plan clair, un suivi chaque semaine.</a:t>
            </a:r>
            <a:endParaRPr lang="en-US" sz="900" dirty="0"/>
          </a:p>
        </p:txBody>
      </p:sp>
      <p:sp>
        <p:nvSpPr>
          <p:cNvPr id="15" name="Texte 12 (btn)"/>
          <p:cNvSpPr txBox="1"/>
          <p:nvPr/>
        </p:nvSpPr>
        <p:spPr>
          <a:xfrm>
            <a:off x="1085850" y="4751040"/>
            <a:ext cx="3125867" cy="13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b="1" spc="66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RÉSERVER MON BILAN OFFERT</a:t>
            </a:r>
            <a:endParaRPr lang="en-US" sz="830" dirty="0"/>
          </a:p>
        </p:txBody>
      </p:sp>
      <p:sp>
        <p:nvSpPr>
          <p:cNvPr id="16" name="Texte 13 (span)"/>
          <p:cNvSpPr txBox="1"/>
          <p:nvPr/>
        </p:nvSpPr>
        <p:spPr>
          <a:xfrm>
            <a:off x="1238250" y="5612160"/>
            <a:ext cx="666780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81" kern="0" dirty="0">
                <a:solidFill>
                  <a:srgbClr val="FFFFFF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FORCE</a:t>
            </a:r>
            <a:endParaRPr lang="en-US" sz="680" dirty="0"/>
          </a:p>
        </p:txBody>
      </p:sp>
      <p:sp>
        <p:nvSpPr>
          <p:cNvPr id="17" name="Texte 14 (span)"/>
          <p:cNvSpPr txBox="1"/>
          <p:nvPr/>
        </p:nvSpPr>
        <p:spPr>
          <a:xfrm>
            <a:off x="3044428" y="5612160"/>
            <a:ext cx="735464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81" kern="0" dirty="0">
                <a:solidFill>
                  <a:srgbClr val="FFFFFF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CARDIO</a:t>
            </a:r>
            <a:endParaRPr lang="en-US" sz="680" dirty="0"/>
          </a:p>
        </p:txBody>
      </p:sp>
      <p:sp>
        <p:nvSpPr>
          <p:cNvPr id="18" name="Texte 15 (span)"/>
          <p:cNvSpPr txBox="1"/>
          <p:nvPr/>
        </p:nvSpPr>
        <p:spPr>
          <a:xfrm>
            <a:off x="4850606" y="5612160"/>
            <a:ext cx="991627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81" kern="0" dirty="0">
                <a:solidFill>
                  <a:srgbClr val="FFFFFF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NUTRITION</a:t>
            </a:r>
            <a:endParaRPr lang="en-US" sz="680" dirty="0"/>
          </a:p>
        </p:txBody>
      </p:sp>
      <p:sp>
        <p:nvSpPr>
          <p:cNvPr id="19" name="Texte 16 (span)"/>
          <p:cNvSpPr txBox="1"/>
          <p:nvPr/>
        </p:nvSpPr>
        <p:spPr>
          <a:xfrm>
            <a:off x="6656784" y="5612160"/>
            <a:ext cx="535603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81" kern="0" dirty="0">
                <a:solidFill>
                  <a:srgbClr val="FFFFFF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VISIO</a:t>
            </a:r>
            <a:endParaRPr lang="en-US" sz="680" dirty="0"/>
          </a:p>
        </p:txBody>
      </p:sp>
      <p:sp>
        <p:nvSpPr>
          <p:cNvPr id="20" name="Texte 17 (span)"/>
          <p:cNvSpPr txBox="1"/>
          <p:nvPr/>
        </p:nvSpPr>
        <p:spPr>
          <a:xfrm>
            <a:off x="9751219" y="1540371"/>
            <a:ext cx="208047" cy="16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900" dirty="0"/>
          </a:p>
        </p:txBody>
      </p:sp>
      <p:sp>
        <p:nvSpPr>
          <p:cNvPr id="21" name="Texte 18 (kicker)"/>
          <p:cNvSpPr txBox="1"/>
          <p:nvPr/>
        </p:nvSpPr>
        <p:spPr>
          <a:xfrm>
            <a:off x="8405961" y="2008436"/>
            <a:ext cx="120928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00" spc="168" kern="0" dirty="0">
                <a:solidFill>
                  <a:srgbClr val="FA461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PROGRAMME</a:t>
            </a:r>
            <a:endParaRPr lang="en-US" sz="600" dirty="0"/>
          </a:p>
        </p:txBody>
      </p:sp>
      <p:sp>
        <p:nvSpPr>
          <p:cNvPr id="22" name="Texte 19 (m-h)"/>
          <p:cNvSpPr txBox="1"/>
          <p:nvPr/>
        </p:nvSpPr>
        <p:spPr>
          <a:xfrm>
            <a:off x="8405961" y="2202656"/>
            <a:ext cx="1504950" cy="951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43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12 SEMAINES</a:t>
            </a:r>
            <a:endParaRPr lang="en-US" sz="143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43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POUR CHANGER</a:t>
            </a:r>
            <a:endParaRPr lang="en-US" sz="143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43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DE NIVEAU.</a:t>
            </a:r>
            <a:endParaRPr lang="en-US" sz="1430" dirty="0"/>
          </a:p>
        </p:txBody>
      </p:sp>
      <p:sp>
        <p:nvSpPr>
          <p:cNvPr id="23" name="Texte 20 (b)"/>
          <p:cNvSpPr txBox="1"/>
          <p:nvPr/>
        </p:nvSpPr>
        <p:spPr>
          <a:xfrm>
            <a:off x="8520261" y="3882777"/>
            <a:ext cx="1187857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i="1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−12</a:t>
            </a:r>
            <a:pPr algn="l" indent="0" marL="0">
              <a:lnSpc>
                <a:spcPts val="2100"/>
              </a:lnSpc>
              <a:buNone/>
            </a:pPr>
            <a:r>
              <a:rPr lang="en-US" sz="1750" i="1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 kg</a:t>
            </a:r>
            <a:endParaRPr lang="en-US" sz="2100" dirty="0"/>
          </a:p>
        </p:txBody>
      </p:sp>
      <p:sp>
        <p:nvSpPr>
          <p:cNvPr id="24" name="Texte 21 (m-card)"/>
          <p:cNvSpPr txBox="1"/>
          <p:nvPr/>
        </p:nvSpPr>
        <p:spPr>
          <a:xfrm>
            <a:off x="8520261" y="4216152"/>
            <a:ext cx="1282318" cy="12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600" dirty="0">
                <a:solidFill>
                  <a:srgbClr val="B9BC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moyenne sur 16 semaines*</a:t>
            </a:r>
            <a:endParaRPr lang="en-US" sz="600" dirty="0"/>
          </a:p>
        </p:txBody>
      </p:sp>
      <p:sp>
        <p:nvSpPr>
          <p:cNvPr id="25" name="Texte 22 (btn)"/>
          <p:cNvSpPr txBox="1"/>
          <p:nvPr/>
        </p:nvSpPr>
        <p:spPr>
          <a:xfrm>
            <a:off x="8552520" y="4640907"/>
            <a:ext cx="1154534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680" b="1" spc="54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COMMENCER</a:t>
            </a:r>
            <a:endParaRPr lang="en-US" sz="680" dirty="0"/>
          </a:p>
        </p:txBody>
      </p:sp>
      <p:sp>
        <p:nvSpPr>
          <p:cNvPr id="26" name="Texte 23 (foot-note)"/>
          <p:cNvSpPr txBox="1"/>
          <p:nvPr/>
        </p:nvSpPr>
        <p:spPr>
          <a:xfrm>
            <a:off x="609600" y="6614368"/>
            <a:ext cx="8517195" cy="14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79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Boutons Orange Impulsion avec texte Noir Carbone · fond de site Noir Carbone · favicon et icônes d'application fournis (dossier logo/web). *Chiffres d'illustration.</a:t>
            </a:r>
            <a:endParaRPr lang="en-US" sz="790" dirty="0"/>
          </a:p>
        </p:txBody>
      </p:sp>
      <p:sp>
        <p:nvSpPr>
          <p:cNvPr id="27" name="Texte 24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28" name="Texte 25 (span)"/>
          <p:cNvSpPr txBox="1"/>
          <p:nvPr/>
        </p:nvSpPr>
        <p:spPr>
          <a:xfrm>
            <a:off x="6672411" y="7188994"/>
            <a:ext cx="46846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WEB</a:t>
            </a:r>
            <a:endParaRPr lang="en-US" sz="680" dirty="0"/>
          </a:p>
        </p:txBody>
      </p:sp>
      <p:sp>
        <p:nvSpPr>
          <p:cNvPr id="29" name="Texte 26 (pn)"/>
          <p:cNvSpPr txBox="1"/>
          <p:nvPr/>
        </p:nvSpPr>
        <p:spPr>
          <a:xfrm>
            <a:off x="9926538" y="7188994"/>
            <a:ext cx="297820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32</a:t>
            </a:r>
            <a:endParaRPr lang="en-US" sz="6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1" descr="jt-logotype-blan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523" y="3032968"/>
            <a:ext cx="1547813" cy="159097"/>
          </a:xfrm>
          <a:prstGeom prst="rect">
            <a:avLst/>
          </a:prstGeom>
        </p:spPr>
      </p:pic>
      <p:sp>
        <p:nvSpPr>
          <p:cNvPr id="3" name="Texte 1 (kicker)"/>
          <p:cNvSpPr txBox="1"/>
          <p:nvPr/>
        </p:nvSpPr>
        <p:spPr>
          <a:xfrm>
            <a:off x="609600" y="514350"/>
            <a:ext cx="2270120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06 — APPLICATIONS</a:t>
            </a:r>
            <a:endParaRPr lang="en-US" sz="750" dirty="0"/>
          </a:p>
        </p:txBody>
      </p:sp>
      <p:sp>
        <p:nvSpPr>
          <p:cNvPr id="4" name="Texte 2 (h2)"/>
          <p:cNvSpPr txBox="1"/>
          <p:nvPr/>
        </p:nvSpPr>
        <p:spPr>
          <a:xfrm>
            <a:off x="609600" y="719138"/>
            <a:ext cx="9407857" cy="40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MOTION — L'ANIMATION DU LOGO.</a:t>
            </a:r>
            <a:endParaRPr lang="en-US" sz="2550" dirty="0"/>
          </a:p>
        </p:txBody>
      </p:sp>
      <p:sp>
        <p:nvSpPr>
          <p:cNvPr id="5" name="Texte 3 (intro)"/>
          <p:cNvSpPr txBox="1"/>
          <p:nvPr/>
        </p:nvSpPr>
        <p:spPr>
          <a:xfrm>
            <a:off x="609600" y="1201787"/>
            <a:ext cx="5149334" cy="181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les vidéos, reels et l'ouverture du site. 1,6 seconde, du trait à la signature.</a:t>
            </a:r>
            <a:endParaRPr lang="en-US" sz="980" dirty="0"/>
          </a:p>
        </p:txBody>
      </p:sp>
      <p:sp>
        <p:nvSpPr>
          <p:cNvPr id="6" name="Texte 4 (b)"/>
          <p:cNvSpPr txBox="1"/>
          <p:nvPr/>
        </p:nvSpPr>
        <p:spPr>
          <a:xfrm>
            <a:off x="609600" y="3612952"/>
            <a:ext cx="525810" cy="173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0,0 s</a:t>
            </a:r>
            <a:endParaRPr lang="en-US" sz="1050" dirty="0"/>
          </a:p>
        </p:txBody>
      </p:sp>
      <p:sp>
        <p:nvSpPr>
          <p:cNvPr id="7" name="Texte 5 (mf)"/>
          <p:cNvSpPr txBox="1"/>
          <p:nvPr/>
        </p:nvSpPr>
        <p:spPr>
          <a:xfrm>
            <a:off x="609600" y="3810000"/>
            <a:ext cx="2523247" cy="15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pointe entre par la droite et trace la barre.</a:t>
            </a:r>
            <a:endParaRPr lang="en-US" sz="830" dirty="0"/>
          </a:p>
        </p:txBody>
      </p:sp>
      <p:sp>
        <p:nvSpPr>
          <p:cNvPr id="8" name="Texte 6 (b)"/>
          <p:cNvSpPr txBox="1"/>
          <p:nvPr/>
        </p:nvSpPr>
        <p:spPr>
          <a:xfrm>
            <a:off x="3020616" y="3612952"/>
            <a:ext cx="525155" cy="173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0,4 s</a:t>
            </a:r>
            <a:endParaRPr lang="en-US" sz="1050" dirty="0"/>
          </a:p>
        </p:txBody>
      </p:sp>
      <p:sp>
        <p:nvSpPr>
          <p:cNvPr id="9" name="Texte 7 (mf)"/>
          <p:cNvSpPr txBox="1"/>
          <p:nvPr/>
        </p:nvSpPr>
        <p:spPr>
          <a:xfrm>
            <a:off x="3020616" y="3810000"/>
            <a:ext cx="1906548" cy="15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lame descend : le T est formé.</a:t>
            </a:r>
            <a:endParaRPr lang="en-US" sz="830" dirty="0"/>
          </a:p>
        </p:txBody>
      </p:sp>
      <p:sp>
        <p:nvSpPr>
          <p:cNvPr id="10" name="Texte 8 (b)"/>
          <p:cNvSpPr txBox="1"/>
          <p:nvPr/>
        </p:nvSpPr>
        <p:spPr>
          <a:xfrm>
            <a:off x="5431631" y="3612952"/>
            <a:ext cx="528265" cy="173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0,8 s</a:t>
            </a:r>
            <a:endParaRPr lang="en-US" sz="1050" dirty="0"/>
          </a:p>
        </p:txBody>
      </p:sp>
      <p:sp>
        <p:nvSpPr>
          <p:cNvPr id="11" name="Texte 9 (mf)"/>
          <p:cNvSpPr txBox="1"/>
          <p:nvPr/>
        </p:nvSpPr>
        <p:spPr>
          <a:xfrm>
            <a:off x="5431631" y="3810000"/>
            <a:ext cx="2296716" cy="33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J glisse en contre-mouvement, en orange.</a:t>
            </a:r>
            <a:endParaRPr lang="en-US" sz="830" dirty="0"/>
          </a:p>
        </p:txBody>
      </p:sp>
      <p:sp>
        <p:nvSpPr>
          <p:cNvPr id="12" name="Texte 10 (b)"/>
          <p:cNvSpPr txBox="1"/>
          <p:nvPr/>
        </p:nvSpPr>
        <p:spPr>
          <a:xfrm>
            <a:off x="7842647" y="3612952"/>
            <a:ext cx="514350" cy="173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FA4616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1,6 s</a:t>
            </a:r>
            <a:endParaRPr lang="en-US" sz="1050" dirty="0"/>
          </a:p>
        </p:txBody>
      </p:sp>
      <p:sp>
        <p:nvSpPr>
          <p:cNvPr id="13" name="Texte 11 (mf)"/>
          <p:cNvSpPr txBox="1"/>
          <p:nvPr/>
        </p:nvSpPr>
        <p:spPr>
          <a:xfrm>
            <a:off x="7842647" y="3810000"/>
            <a:ext cx="2176507" cy="15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Tout se fige en blanc, le nom apparaît.</a:t>
            </a:r>
            <a:endParaRPr lang="en-US" sz="830" dirty="0"/>
          </a:p>
        </p:txBody>
      </p:sp>
      <p:sp>
        <p:nvSpPr>
          <p:cNvPr id="14" name="Texte 12 (li)"/>
          <p:cNvSpPr txBox="1"/>
          <p:nvPr/>
        </p:nvSpPr>
        <p:spPr>
          <a:xfrm>
            <a:off x="819150" y="4364236"/>
            <a:ext cx="4393406" cy="32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Courbe d'accélération « expo-out » : départ rapide, arrivée douce — l'élan, pas le rebond.</a:t>
            </a:r>
            <a:endParaRPr lang="en-US" sz="860" dirty="0"/>
          </a:p>
        </p:txBody>
      </p:sp>
      <p:sp>
        <p:nvSpPr>
          <p:cNvPr id="15" name="Texte 13 (li)"/>
          <p:cNvSpPr txBox="1"/>
          <p:nvPr/>
        </p:nvSpPr>
        <p:spPr>
          <a:xfrm>
            <a:off x="5745956" y="4364236"/>
            <a:ext cx="4393555" cy="32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Toujours terminer sur le logo statique exact. Pas de rotation, pas de rebond, pas d'effet 3D.</a:t>
            </a:r>
            <a:endParaRPr lang="en-US" sz="860" dirty="0"/>
          </a:p>
        </p:txBody>
      </p:sp>
      <p:sp>
        <p:nvSpPr>
          <p:cNvPr id="16" name="Texte 14 (li)"/>
          <p:cNvSpPr txBox="1"/>
          <p:nvPr/>
        </p:nvSpPr>
        <p:spPr>
          <a:xfrm>
            <a:off x="819150" y="4779764"/>
            <a:ext cx="4479920" cy="15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 (optionnel) : un « whoosh » court et sec, synchronisé sur la lame à 0,4 s.</a:t>
            </a:r>
            <a:endParaRPr lang="en-US" sz="860" dirty="0"/>
          </a:p>
        </p:txBody>
      </p:sp>
      <p:sp>
        <p:nvSpPr>
          <p:cNvPr id="17" name="Texte 15 (li)"/>
          <p:cNvSpPr txBox="1"/>
          <p:nvPr/>
        </p:nvSpPr>
        <p:spPr>
          <a:xfrm>
            <a:off x="5745956" y="4779764"/>
            <a:ext cx="4561121" cy="15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Livrable conseillé : MP4 / MOV avec transparence et fichier Lottie pour le web.</a:t>
            </a:r>
            <a:endParaRPr lang="en-US" sz="860" dirty="0"/>
          </a:p>
        </p:txBody>
      </p:sp>
      <p:sp>
        <p:nvSpPr>
          <p:cNvPr id="18" name="Texte 16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19" name="Texte 17 (span)"/>
          <p:cNvSpPr txBox="1"/>
          <p:nvPr/>
        </p:nvSpPr>
        <p:spPr>
          <a:xfrm>
            <a:off x="6556623" y="7188994"/>
            <a:ext cx="768742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MOTION</a:t>
            </a:r>
            <a:endParaRPr lang="en-US" sz="680" dirty="0"/>
          </a:p>
        </p:txBody>
      </p:sp>
      <p:sp>
        <p:nvSpPr>
          <p:cNvPr id="20" name="Texte 18 (pn)"/>
          <p:cNvSpPr txBox="1"/>
          <p:nvPr/>
        </p:nvSpPr>
        <p:spPr>
          <a:xfrm>
            <a:off x="9925943" y="7188994"/>
            <a:ext cx="298594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33</a:t>
            </a:r>
            <a:endParaRPr lang="en-US" sz="6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h1)"/>
          <p:cNvSpPr txBox="1"/>
          <p:nvPr/>
        </p:nvSpPr>
        <p:spPr>
          <a:xfrm>
            <a:off x="666750" y="3822650"/>
            <a:ext cx="5010150" cy="1844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FICHIERS</a:t>
            </a:r>
            <a:endParaRPr lang="en-US" sz="4650" dirty="0"/>
          </a:p>
          <a:p>
            <a:pPr algn="l" indent="0" marL="0">
              <a:lnSpc>
                <a:spcPts val="465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&amp; CONTACTS</a:t>
            </a:r>
            <a:endParaRPr lang="en-US" sz="4650" dirty="0"/>
          </a:p>
        </p:txBody>
      </p:sp>
      <p:sp>
        <p:nvSpPr>
          <p:cNvPr id="3" name="Texte 2 (p)"/>
          <p:cNvSpPr txBox="1"/>
          <p:nvPr/>
        </p:nvSpPr>
        <p:spPr>
          <a:xfrm>
            <a:off x="666750" y="5743575"/>
            <a:ext cx="2166193" cy="192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B9BC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bon fichier, au bon endroit.</a:t>
            </a:r>
            <a:endParaRPr lang="en-US" sz="1050" dirty="0"/>
          </a:p>
        </p:txBody>
      </p:sp>
      <p:sp>
        <p:nvSpPr>
          <p:cNvPr id="4" name="Texte 3 (li)"/>
          <p:cNvSpPr txBox="1"/>
          <p:nvPr/>
        </p:nvSpPr>
        <p:spPr>
          <a:xfrm>
            <a:off x="771525" y="6178748"/>
            <a:ext cx="3097232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ARBORESCENCE DES LIVRABLES</a:t>
            </a:r>
            <a:endParaRPr lang="en-US" sz="750" dirty="0"/>
          </a:p>
        </p:txBody>
      </p:sp>
      <p:sp>
        <p:nvSpPr>
          <p:cNvPr id="5" name="Texte 4 (li)"/>
          <p:cNvSpPr txBox="1"/>
          <p:nvPr/>
        </p:nvSpPr>
        <p:spPr>
          <a:xfrm>
            <a:off x="771525" y="6516886"/>
            <a:ext cx="3203644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90" kern="0" dirty="0">
                <a:solidFill>
                  <a:srgbClr val="D9DBE0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QUEL FORMAT POUR QUEL USAGE</a:t>
            </a:r>
            <a:endParaRPr lang="en-US" sz="750" dirty="0"/>
          </a:p>
        </p:txBody>
      </p:sp>
      <p:sp>
        <p:nvSpPr>
          <p:cNvPr id="6" name="Texte 5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7" name="Texte 6 (pn)"/>
          <p:cNvSpPr txBox="1"/>
          <p:nvPr/>
        </p:nvSpPr>
        <p:spPr>
          <a:xfrm>
            <a:off x="9927431" y="7188994"/>
            <a:ext cx="296659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34</a:t>
            </a:r>
            <a:endParaRPr lang="en-US" sz="6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1 (kicker)"/>
          <p:cNvSpPr txBox="1"/>
          <p:nvPr/>
        </p:nvSpPr>
        <p:spPr>
          <a:xfrm>
            <a:off x="609600" y="514350"/>
            <a:ext cx="3154695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07 — FICHIERS &amp; CONTACTS</a:t>
            </a:r>
            <a:endParaRPr lang="en-US" sz="750" dirty="0"/>
          </a:p>
        </p:txBody>
      </p:sp>
      <p:sp>
        <p:nvSpPr>
          <p:cNvPr id="3" name="Texte 2 (h2)"/>
          <p:cNvSpPr txBox="1"/>
          <p:nvPr/>
        </p:nvSpPr>
        <p:spPr>
          <a:xfrm>
            <a:off x="609600" y="719138"/>
            <a:ext cx="6146036" cy="40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550" spc="13" kern="0" dirty="0">
                <a:solidFill>
                  <a:srgbClr val="11121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LES FICHIERS LIVRÉS.</a:t>
            </a:r>
            <a:endParaRPr lang="en-US" sz="2550" dirty="0"/>
          </a:p>
        </p:txBody>
      </p:sp>
      <p:sp>
        <p:nvSpPr>
          <p:cNvPr id="4" name="Texte 3 (tree)"/>
          <p:cNvSpPr txBox="1"/>
          <p:nvPr/>
        </p:nvSpPr>
        <p:spPr>
          <a:xfrm>
            <a:off x="857250" y="1516112"/>
            <a:ext cx="3461802" cy="2557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790" dirty="0">
                <a:solidFill>
                  <a:srgbClr val="D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jonathan-temam/</a:t>
            </a:r>
            <a:endParaRPr lang="en-US" sz="79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790" dirty="0">
                <a:solidFill>
                  <a:srgbClr val="D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Jonathan-Temam_Charte-graphique.pdf</a:t>
            </a:r>
            <a:endParaRPr lang="en-US" sz="79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790" dirty="0">
                <a:solidFill>
                  <a:srgbClr val="D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Jonathan-Temam_Charte-graphique.pptx  modifiable</a:t>
            </a:r>
            <a:endParaRPr lang="en-US" sz="79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790" dirty="0">
                <a:solidFill>
                  <a:srgbClr val="D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Jonathan-Temam_Logos-vectoriels.zip</a:t>
            </a:r>
            <a:endParaRPr lang="en-US" sz="79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790" dirty="0">
                <a:solidFill>
                  <a:srgbClr val="D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polices/   Archivo Expanded + Inter (.ttf)</a:t>
            </a:r>
            <a:endParaRPr lang="en-US" sz="79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790" dirty="0">
                <a:solidFill>
                  <a:srgbClr val="D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logo/</a:t>
            </a:r>
            <a:endParaRPr lang="en-US" sz="79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790" dirty="0">
                <a:solidFill>
                  <a:srgbClr val="D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svg/ pdf/ eps/   masters vectoriels</a:t>
            </a:r>
            <a:endParaRPr lang="en-US" sz="79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790" dirty="0">
                <a:solidFill>
                  <a:srgbClr val="D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├─ jt-horizontal-{noir|blanc|accent-…}</a:t>
            </a:r>
            <a:endParaRPr lang="en-US" sz="79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790" dirty="0">
                <a:solidFill>
                  <a:srgbClr val="D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├─ jt-vertical-{…} · jt-logotype-{…}</a:t>
            </a:r>
            <a:endParaRPr lang="en-US" sz="79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790" dirty="0">
                <a:solidFill>
                  <a:srgbClr val="D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├─ jt-symbole-{noir|blanc|orange|…}</a:t>
            </a:r>
            <a:endParaRPr lang="en-US" sz="79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790" dirty="0">
                <a:solidFill>
                  <a:srgbClr val="D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├─ jt-symbole-petite-taille</a:t>
            </a:r>
            <a:endParaRPr lang="en-US" sz="79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790" dirty="0">
                <a:solidFill>
                  <a:srgbClr val="D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└─ jt-avatar-{noir|orange}</a:t>
            </a:r>
            <a:endParaRPr lang="en-US" sz="79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790" dirty="0">
                <a:solidFill>
                  <a:srgbClr val="D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png/   mêmes fichiers, fond transparent</a:t>
            </a:r>
            <a:endParaRPr lang="en-US" sz="79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790" dirty="0">
                <a:solidFill>
                  <a:srgbClr val="D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web/   favicon, icônes, webmanifest</a:t>
            </a:r>
            <a:endParaRPr lang="en-US" sz="79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790" dirty="0">
                <a:solidFill>
                  <a:srgbClr val="D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presentation/   planche de présentation</a:t>
            </a:r>
            <a:endParaRPr lang="en-US" sz="79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790" dirty="0">
                <a:solidFill>
                  <a:srgbClr val="D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source/   scripts de génération</a:t>
            </a:r>
            <a:endParaRPr lang="en-US" sz="790" dirty="0"/>
          </a:p>
        </p:txBody>
      </p:sp>
      <p:sp>
        <p:nvSpPr>
          <p:cNvPr id="5" name="Texte 4 (th)"/>
          <p:cNvSpPr txBox="1"/>
          <p:nvPr/>
        </p:nvSpPr>
        <p:spPr>
          <a:xfrm>
            <a:off x="5825430" y="1373237"/>
            <a:ext cx="747459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b="1" spc="105" kern="0" dirty="0">
                <a:solidFill>
                  <a:srgbClr val="5D6066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USAGE</a:t>
            </a:r>
            <a:endParaRPr lang="en-US" sz="750" dirty="0"/>
          </a:p>
        </p:txBody>
      </p:sp>
      <p:sp>
        <p:nvSpPr>
          <p:cNvPr id="6" name="Texte 5 (th)"/>
          <p:cNvSpPr txBox="1"/>
          <p:nvPr/>
        </p:nvSpPr>
        <p:spPr>
          <a:xfrm>
            <a:off x="7694563" y="1373237"/>
            <a:ext cx="876702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b="1" spc="105" kern="0" dirty="0">
                <a:solidFill>
                  <a:srgbClr val="5D6066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FORMAT</a:t>
            </a:r>
            <a:endParaRPr lang="en-US" sz="750" dirty="0"/>
          </a:p>
        </p:txBody>
      </p:sp>
      <p:sp>
        <p:nvSpPr>
          <p:cNvPr id="7" name="Texte 6 (td)"/>
          <p:cNvSpPr txBox="1"/>
          <p:nvPr/>
        </p:nvSpPr>
        <p:spPr>
          <a:xfrm>
            <a:off x="5825430" y="1701850"/>
            <a:ext cx="1433423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Web, réseaux, Canva</a:t>
            </a:r>
            <a:endParaRPr lang="en-US" sz="940" dirty="0"/>
          </a:p>
        </p:txBody>
      </p:sp>
      <p:sp>
        <p:nvSpPr>
          <p:cNvPr id="8" name="Texte 7 (td)"/>
          <p:cNvSpPr txBox="1"/>
          <p:nvPr/>
        </p:nvSpPr>
        <p:spPr>
          <a:xfrm>
            <a:off x="7694563" y="1701850"/>
            <a:ext cx="872713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SVG ou PNG</a:t>
            </a:r>
            <a:endParaRPr lang="en-US" sz="940" dirty="0"/>
          </a:p>
        </p:txBody>
      </p:sp>
      <p:sp>
        <p:nvSpPr>
          <p:cNvPr id="9" name="Texte 8 (td)"/>
          <p:cNvSpPr txBox="1"/>
          <p:nvPr/>
        </p:nvSpPr>
        <p:spPr>
          <a:xfrm>
            <a:off x="5825430" y="2067371"/>
            <a:ext cx="2134106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Imprimeur, sérigraphie, broderie</a:t>
            </a:r>
            <a:endParaRPr lang="en-US" sz="940" dirty="0"/>
          </a:p>
        </p:txBody>
      </p:sp>
      <p:sp>
        <p:nvSpPr>
          <p:cNvPr id="10" name="Texte 9 (td)"/>
          <p:cNvSpPr txBox="1"/>
          <p:nvPr/>
        </p:nvSpPr>
        <p:spPr>
          <a:xfrm>
            <a:off x="7694563" y="2067371"/>
            <a:ext cx="2699564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/ EPS / SVG + codes CMJN / Pantone</a:t>
            </a:r>
            <a:endParaRPr lang="en-US" sz="940" dirty="0"/>
          </a:p>
        </p:txBody>
      </p:sp>
      <p:sp>
        <p:nvSpPr>
          <p:cNvPr id="11" name="Texte 10 (td)"/>
          <p:cNvSpPr txBox="1"/>
          <p:nvPr/>
        </p:nvSpPr>
        <p:spPr>
          <a:xfrm>
            <a:off x="5825430" y="2432893"/>
            <a:ext cx="1423109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Modifier cette charte</a:t>
            </a:r>
            <a:endParaRPr lang="en-US" sz="940" dirty="0"/>
          </a:p>
        </p:txBody>
      </p:sp>
      <p:sp>
        <p:nvSpPr>
          <p:cNvPr id="12" name="Texte 11 (td)"/>
          <p:cNvSpPr txBox="1"/>
          <p:nvPr/>
        </p:nvSpPr>
        <p:spPr>
          <a:xfrm>
            <a:off x="7694563" y="2432893"/>
            <a:ext cx="1627912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.pptx + polices installées</a:t>
            </a:r>
            <a:endParaRPr lang="en-US" sz="940" dirty="0"/>
          </a:p>
        </p:txBody>
      </p:sp>
      <p:sp>
        <p:nvSpPr>
          <p:cNvPr id="13" name="Texte 12 (td)"/>
          <p:cNvSpPr txBox="1"/>
          <p:nvPr/>
        </p:nvSpPr>
        <p:spPr>
          <a:xfrm>
            <a:off x="5825430" y="2798415"/>
            <a:ext cx="1020381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Photo de profil</a:t>
            </a:r>
            <a:endParaRPr lang="en-US" sz="940" dirty="0"/>
          </a:p>
        </p:txBody>
      </p:sp>
      <p:sp>
        <p:nvSpPr>
          <p:cNvPr id="14" name="Texte 13 (td)"/>
          <p:cNvSpPr txBox="1"/>
          <p:nvPr/>
        </p:nvSpPr>
        <p:spPr>
          <a:xfrm>
            <a:off x="7694563" y="2798415"/>
            <a:ext cx="1171486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jt-avatar-noir.png</a:t>
            </a:r>
            <a:endParaRPr lang="en-US" sz="940" dirty="0"/>
          </a:p>
        </p:txBody>
      </p:sp>
      <p:sp>
        <p:nvSpPr>
          <p:cNvPr id="15" name="Texte 14 (td)"/>
          <p:cNvSpPr txBox="1"/>
          <p:nvPr/>
        </p:nvSpPr>
        <p:spPr>
          <a:xfrm>
            <a:off x="5825430" y="3163937"/>
            <a:ext cx="1619399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Navigateur, smartphone</a:t>
            </a:r>
            <a:endParaRPr lang="en-US" sz="940" dirty="0"/>
          </a:p>
        </p:txBody>
      </p:sp>
      <p:sp>
        <p:nvSpPr>
          <p:cNvPr id="16" name="Texte 15 (td)"/>
          <p:cNvSpPr txBox="1"/>
          <p:nvPr/>
        </p:nvSpPr>
        <p:spPr>
          <a:xfrm>
            <a:off x="7694563" y="3163937"/>
            <a:ext cx="895142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dossier web/</a:t>
            </a:r>
            <a:endParaRPr lang="en-US" sz="940" dirty="0"/>
          </a:p>
        </p:txBody>
      </p:sp>
      <p:sp>
        <p:nvSpPr>
          <p:cNvPr id="17" name="Texte 16 (td)"/>
          <p:cNvSpPr txBox="1"/>
          <p:nvPr/>
        </p:nvSpPr>
        <p:spPr>
          <a:xfrm>
            <a:off x="5825430" y="3529459"/>
            <a:ext cx="920681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Fond sombre</a:t>
            </a:r>
            <a:endParaRPr lang="en-US" sz="940" dirty="0"/>
          </a:p>
        </p:txBody>
      </p:sp>
      <p:sp>
        <p:nvSpPr>
          <p:cNvPr id="18" name="Texte 17 (td)"/>
          <p:cNvSpPr txBox="1"/>
          <p:nvPr/>
        </p:nvSpPr>
        <p:spPr>
          <a:xfrm>
            <a:off x="7694563" y="3529459"/>
            <a:ext cx="2618036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versions « blanc » ou « accent-sombre »</a:t>
            </a:r>
            <a:endParaRPr lang="en-US" sz="940" dirty="0"/>
          </a:p>
        </p:txBody>
      </p:sp>
      <p:sp>
        <p:nvSpPr>
          <p:cNvPr id="19" name="Texte 18 (kicker)"/>
          <p:cNvSpPr txBox="1"/>
          <p:nvPr/>
        </p:nvSpPr>
        <p:spPr>
          <a:xfrm>
            <a:off x="5825430" y="3980706"/>
            <a:ext cx="1861498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NOMENCLATURE</a:t>
            </a:r>
            <a:endParaRPr lang="en-US" sz="750" dirty="0"/>
          </a:p>
        </p:txBody>
      </p:sp>
      <p:sp>
        <p:nvSpPr>
          <p:cNvPr id="20" name="Texte 19 (note)"/>
          <p:cNvSpPr txBox="1"/>
          <p:nvPr/>
        </p:nvSpPr>
        <p:spPr>
          <a:xfrm>
            <a:off x="5825430" y="4214068"/>
            <a:ext cx="4314081" cy="488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760" dirty="0">
                <a:solidFill>
                  <a:srgbClr val="1112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jt-[version]-[couleur].[format]</a:t>
            </a:r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ex. </a:t>
            </a:r>
            <a:pPr algn="l" indent="0" marL="0">
              <a:lnSpc>
                <a:spcPts val="1280"/>
              </a:lnSpc>
              <a:buNone/>
            </a:pPr>
            <a:r>
              <a:rPr lang="en-US" sz="760" dirty="0">
                <a:solidFill>
                  <a:srgbClr val="1112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jt-vertical-blanc.png</a:t>
            </a:r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5D60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Les PNG sont exportés à 2400 px de large ; pour une impression grand format, utilisez toujours le SVG.</a:t>
            </a:r>
            <a:endParaRPr lang="en-US" sz="760" dirty="0"/>
          </a:p>
        </p:txBody>
      </p:sp>
      <p:sp>
        <p:nvSpPr>
          <p:cNvPr id="21" name="Texte 20 (kicker)"/>
          <p:cNvSpPr txBox="1"/>
          <p:nvPr/>
        </p:nvSpPr>
        <p:spPr>
          <a:xfrm>
            <a:off x="6054030" y="5078760"/>
            <a:ext cx="2102956" cy="126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0" spc="210" kern="0" dirty="0">
                <a:solidFill>
                  <a:srgbClr val="5D606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CONTACT MARQUE</a:t>
            </a:r>
            <a:endParaRPr lang="en-US" sz="750" dirty="0"/>
          </a:p>
        </p:txBody>
      </p:sp>
      <p:sp>
        <p:nvSpPr>
          <p:cNvPr id="22" name="Texte 21 (b)"/>
          <p:cNvSpPr txBox="1"/>
          <p:nvPr/>
        </p:nvSpPr>
        <p:spPr>
          <a:xfrm>
            <a:off x="6054030" y="5321647"/>
            <a:ext cx="1634133" cy="15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11214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JONATHAN TEMAM</a:t>
            </a:r>
            <a:endParaRPr lang="en-US" sz="900" dirty="0"/>
          </a:p>
        </p:txBody>
      </p:sp>
      <p:sp>
        <p:nvSpPr>
          <p:cNvPr id="23" name="Texte 22 (span)"/>
          <p:cNvSpPr txBox="1"/>
          <p:nvPr/>
        </p:nvSpPr>
        <p:spPr>
          <a:xfrm>
            <a:off x="6054030" y="5489228"/>
            <a:ext cx="2704966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1112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contact@jonathantemam.fr · +33 6 00 00 00 00</a:t>
            </a:r>
            <a:endParaRPr lang="en-US" sz="830" dirty="0"/>
          </a:p>
        </p:txBody>
      </p:sp>
      <p:sp>
        <p:nvSpPr>
          <p:cNvPr id="24" name="Texte 23 (cap-s)"/>
          <p:cNvSpPr txBox="1"/>
          <p:nvPr/>
        </p:nvSpPr>
        <p:spPr>
          <a:xfrm>
            <a:off x="6054030" y="5651599"/>
            <a:ext cx="2509004" cy="157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30" dirty="0">
                <a:solidFill>
                  <a:srgbClr val="888B8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Coordonnées à confirmer avant impression.</a:t>
            </a:r>
            <a:endParaRPr lang="en-US" sz="830" dirty="0"/>
          </a:p>
        </p:txBody>
      </p:sp>
      <p:sp>
        <p:nvSpPr>
          <p:cNvPr id="25" name="Texte 24 (span)"/>
          <p:cNvSpPr txBox="1"/>
          <p:nvPr/>
        </p:nvSpPr>
        <p:spPr>
          <a:xfrm>
            <a:off x="952500" y="7188994"/>
            <a:ext cx="367398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JONATHAN TEMAM — CHARTE GRAPHIQUE</a:t>
            </a:r>
            <a:endParaRPr lang="en-US" sz="680" dirty="0"/>
          </a:p>
        </p:txBody>
      </p:sp>
      <p:sp>
        <p:nvSpPr>
          <p:cNvPr id="26" name="Texte 25 (span)"/>
          <p:cNvSpPr txBox="1"/>
          <p:nvPr/>
        </p:nvSpPr>
        <p:spPr>
          <a:xfrm>
            <a:off x="6511230" y="7188994"/>
            <a:ext cx="886956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spc="95" kern="0" dirty="0">
                <a:solidFill>
                  <a:srgbClr val="888B8D"/>
                </a:solidFill>
                <a:latin typeface="Archivo Expanded Medium" pitchFamily="34" charset="0"/>
                <a:ea typeface="Archivo Expanded Medium" pitchFamily="34" charset="-122"/>
                <a:cs typeface="Archivo Expanded Medium" pitchFamily="34" charset="-120"/>
              </a:rPr>
              <a:t>FICHIERS</a:t>
            </a:r>
            <a:endParaRPr lang="en-US" sz="680" dirty="0"/>
          </a:p>
        </p:txBody>
      </p:sp>
      <p:sp>
        <p:nvSpPr>
          <p:cNvPr id="27" name="Texte 26 (pn)"/>
          <p:cNvSpPr txBox="1"/>
          <p:nvPr/>
        </p:nvSpPr>
        <p:spPr>
          <a:xfrm>
            <a:off x="9925943" y="7188994"/>
            <a:ext cx="298594" cy="1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80" b="1" spc="95" kern="0" dirty="0">
                <a:solidFill>
                  <a:srgbClr val="111214"/>
                </a:solidFill>
                <a:latin typeface="Archivo Expanded" pitchFamily="34" charset="0"/>
                <a:ea typeface="Archivo Expanded" pitchFamily="34" charset="-122"/>
                <a:cs typeface="Archivo Expanded" pitchFamily="34" charset="-120"/>
              </a:rPr>
              <a:t>35</a:t>
            </a:r>
            <a:endParaRPr lang="en-US" sz="6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1" descr="jt-vertical-accent-somb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156" y="2702421"/>
            <a:ext cx="3619500" cy="1450181"/>
          </a:xfrm>
          <a:prstGeom prst="rect">
            <a:avLst/>
          </a:prstGeom>
        </p:spPr>
      </p:pic>
      <p:sp>
        <p:nvSpPr>
          <p:cNvPr id="3" name="Texte 1 (signature)"/>
          <p:cNvSpPr txBox="1"/>
          <p:nvPr/>
        </p:nvSpPr>
        <p:spPr>
          <a:xfrm>
            <a:off x="3767882" y="4562177"/>
            <a:ext cx="3566904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VISE PLUS HAUT.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onathan Temam">
  <a:themeElements>
    <a:clrScheme name="Jonathan Temam">
      <a:dk1>
        <a:srgbClr val="111214"/>
      </a:dk1>
      <a:lt1>
        <a:srgbClr val="FFFFFF"/>
      </a:lt1>
      <a:dk2>
        <a:srgbClr val="2A2C30"/>
      </a:dk2>
      <a:lt2>
        <a:srgbClr val="F3F1EC"/>
      </a:lt2>
      <a:accent1>
        <a:srgbClr val="FA4616"/>
      </a:accent1>
      <a:accent2>
        <a:srgbClr val="111214"/>
      </a:accent2>
      <a:accent3>
        <a:srgbClr val="2A2C30"/>
      </a:accent3>
      <a:accent4>
        <a:srgbClr val="888B8D"/>
      </a:accent4>
      <a:accent5>
        <a:srgbClr val="F3F1EC"/>
      </a:accent5>
      <a:accent6>
        <a:srgbClr val="FA4616"/>
      </a:accent6>
      <a:hlink>
        <a:srgbClr val="FA4616"/>
      </a:hlink>
      <a:folHlink>
        <a:srgbClr val="888B8D"/>
      </a:folHlink>
    </a:clrScheme>
    <a:fontScheme name="Jonathan Temam">
      <a:majorFont>
        <a:latin typeface="Archivo Expanded Extra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Jonathan Temam — Charte graphique</dc:title>
  <dc:subject>Identité visuelle — version 1.0</dc:subject>
  <dc:creator>Jonathan Temam</dc:creator>
  <cp:lastModifiedBy>Jonathan Temam</cp:lastModifiedBy>
  <cp:revision>1</cp:revision>
  <dcterms:created xsi:type="dcterms:W3CDTF">2026-10-29T05:16:36Z</dcterms:created>
  <dcterms:modified xsi:type="dcterms:W3CDTF">2026-10-29T05:16:36Z</dcterms:modified>
</cp:coreProperties>
</file>