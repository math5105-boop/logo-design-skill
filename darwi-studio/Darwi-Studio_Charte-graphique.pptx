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uverture" id="{f3115f5f-a3e0-0d31-fa20-5451f0071997}">
          <p14:sldIdLst>
            <p14:sldId id="256"/>
          </p14:sldIdLst>
        </p14:section>
        <p14:section name="Sommaire" id="{bf9b8ad2-3be7-c7d3-a9cd-5452de0335da}">
          <p14:sldIdLst>
            <p14:sldId id="257"/>
          </p14:sldIdLst>
        </p14:section>
        <p14:section name="01 · Logo" id="{4cd9ad50-f4f1-4f49-074f-434ea3fb4e3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02 · Couleurs" id="{38797c0b-1fec-54cf-fefd-ffdf89ce0a92}">
          <p14:sldIdLst>
            <p14:sldId id="264"/>
            <p14:sldId id="265"/>
            <p14:sldId id="266"/>
            <p14:sldId id="267"/>
          </p14:sldIdLst>
        </p14:section>
        <p14:section name="03 · Typographie" id="{4ca2d9be-2a0b-be3f-f77e-d376e23c00be}">
          <p14:sldIdLst>
            <p14:sldId id="268"/>
            <p14:sldId id="269"/>
            <p14:sldId id="270"/>
          </p14:sldIdLst>
        </p14:section>
        <p14:section name="04 · Applications" id="{508b837a-0c29-db82-cec6-46887a0f3e2d}">
          <p14:sldIdLst>
            <p14:sldId id="271"/>
            <p14:sldId id="272"/>
            <p14:sldId id="273"/>
          </p14:sldIdLst>
        </p14:section>
        <p14:section name="Fin" id="{44ab6eb7-062e-799e-378b-22a6b803a01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/logos/monogramme-bordeau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059168"/>
            <a:ext cx="155448" cy="1673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70591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DARWI STUDIO — CHARTE GRAPHIQUE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CALAIR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/logos/monogramme-cr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059168"/>
            <a:ext cx="155448" cy="1673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70591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DARWI STUDIO — CHARTE GRAPHIQUE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bg2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3.png"/><Relationship Id="rId5" Type="http://schemas.openxmlformats.org/officeDocument/2006/relationships/image" Target="../media/image-4-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5.png"/><Relationship Id="rId6" Type="http://schemas.openxmlformats.org/officeDocument/2006/relationships/image" Target="../media/image-8-1.png"/><Relationship Id="rId7" Type="http://schemas.openxmlformats.org/officeDocument/2006/relationships/image" Target="../media/image-8-7.png"/><Relationship Id="rId8" Type="http://schemas.openxmlformats.org/officeDocument/2006/relationships/image" Target="../media/image-8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1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2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2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2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.png"/><Relationship Id="rId12" Type="http://schemas.openxmlformats.org/officeDocument/2006/relationships/image" Target="../media/image-18-1.png"/><Relationship Id="rId13" Type="http://schemas.openxmlformats.org/officeDocument/2006/relationships/image" Target="../media/image-18-1.png"/><Relationship Id="rId14" Type="http://schemas.openxmlformats.org/officeDocument/2006/relationships/image" Target="../media/image-18-1.png"/><Relationship Id="rId15" Type="http://schemas.openxmlformats.org/officeDocument/2006/relationships/image" Target="../media/image-18-1.png"/><Relationship Id="rId16" Type="http://schemas.openxmlformats.org/officeDocument/2006/relationships/image" Target="../media/image-18-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ogramme D en ton sur 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-502920"/>
            <a:ext cx="7966824" cy="8595360"/>
          </a:xfrm>
          <a:prstGeom prst="rect">
            <a:avLst/>
          </a:prstGeom>
        </p:spPr>
      </p:pic>
      <p:pic>
        <p:nvPicPr>
          <p:cNvPr id="3" name="Image 1" descr="Logo Darwi Stud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32436" cy="3840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60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IDENTITÉ VISUELLE · LOGO, COULEURS &amp; TYPOGRAPHIE</a:t>
            </a:r>
            <a:endParaRPr lang="en-US" sz="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4348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Charte</a:t>
            </a:r>
            <a:endParaRPr lang="en-US" sz="6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graphique</a:t>
            </a:r>
            <a:endParaRPr lang="en-US" sz="6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7208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de référence — usage interne &amp; partenaires · Édition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774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SOMMAIRE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logo, ses couleurs, sa typographie et ses premières applications.</a:t>
            </a:r>
            <a:endParaRPr lang="en-US" sz="2200" dirty="0"/>
          </a:p>
        </p:txBody>
      </p:sp>
      <p:pic>
        <p:nvPicPr>
          <p:cNvPr id="4" name="Image 0" descr="Monogramme Darw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54880"/>
            <a:ext cx="135575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20640" y="685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7223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LOGO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9226296" y="72237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 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120640" y="1033272"/>
            <a:ext cx="502005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143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226296" y="11430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23560" y="1389888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23560" y="14356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 monogramme au logotype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226296" y="14356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23560" y="1682496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23560" y="17282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versions du logo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226296" y="17282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23560" y="1975104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23560" y="20208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Zone de protection &amp; tailles minimales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9226296" y="2020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23560" y="2267712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23560" y="2313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qu'il ne faut pas faire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226296" y="23134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23560" y="2560320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2898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COULEURS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9226296" y="28986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 09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120640" y="3209544"/>
            <a:ext cx="502005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23560" y="33192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palette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226296" y="33192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23560" y="3566160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23560" y="36118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Versions couleur &amp; fonds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226296" y="3611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23560" y="3858768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23560" y="39044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sur image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9226296" y="39044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623560" y="4151376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120640" y="44531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44897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TYPOGRAPHIE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9226296" y="44897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 13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120640" y="4800600"/>
            <a:ext cx="502005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23560" y="49103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Fraunces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9226296" y="49103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623560" y="5157216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23560" y="52029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&amp; hiérarchie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9226296" y="52029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5623560" y="5449824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120640" y="57515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5623560" y="57881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APPLICATIONS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9226296" y="57881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 16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120640" y="6099048"/>
            <a:ext cx="502005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623560" y="6208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Papeterie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9226296" y="6208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623560" y="6455664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23560" y="65013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&amp; réseaux sociaux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9226296" y="6501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623560" y="6748272"/>
            <a:ext cx="451713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ogramme D en ton sur 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457200"/>
            <a:ext cx="5847988" cy="6309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bg2">
                    <a:alpha val="45000"/>
                  </a:scheme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Logo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monogramme, ses versions et les règles qui le protègent.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5669280"/>
            <a:ext cx="70043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669280"/>
            <a:ext cx="7004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CONCEPT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1358798" y="5669280"/>
            <a:ext cx="105704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58798" y="5669280"/>
            <a:ext cx="10570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CONSTRUCTION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2525573" y="5669280"/>
            <a:ext cx="77175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25573" y="5669280"/>
            <a:ext cx="77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VERSIONS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3407054" y="5669280"/>
            <a:ext cx="148498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07054" y="5669280"/>
            <a:ext cx="14849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ZONE DE PROTECTION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001768" y="5669280"/>
            <a:ext cx="843077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01768" y="5669280"/>
            <a:ext cx="8430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INTERDITS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bg2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240280" cy="301752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3" name="Image 0" descr="Croquis original du D au cray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99" y="777240"/>
            <a:ext cx="2128161" cy="2286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3291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LE CROQUIS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278892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154680" y="548640"/>
            <a:ext cx="2240280" cy="301752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7" name="Image 1" descr="Monogramme vectori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109" y="960120"/>
            <a:ext cx="1779422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37560" y="3291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LE TRACÉ VECTORIEL</a:t>
            </a:r>
            <a:endParaRPr lang="en-US" sz="700" dirty="0"/>
          </a:p>
        </p:txBody>
      </p:sp>
      <p:sp>
        <p:nvSpPr>
          <p:cNvPr id="9" name="Text 5"/>
          <p:cNvSpPr txBox="1"/>
          <p:nvPr/>
        </p:nvSpPr>
        <p:spPr>
          <a:xfrm>
            <a:off x="5760720" y="685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01 — LOGO · CONCEPT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760720" y="9144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D tracé</a:t>
            </a:r>
            <a:endParaRPr lang="en-US" sz="3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à la main.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5760720" y="214884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monogramme est né d'un croquis au crayon, redessiné en un seul tracé vectoriel. Le D de Darwi garde la vibration du geste : celle d'un studio qui dessine avant d'assembler.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3931920"/>
            <a:ext cx="3014472" cy="278892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3" name="Image 2" descr="Monogramme — le ge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06240"/>
            <a:ext cx="1143914" cy="12344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1480142" y="4555541"/>
            <a:ext cx="585216" cy="585216"/>
          </a:xfrm>
          <a:prstGeom prst="ellipse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822960" y="5715000"/>
            <a:ext cx="2465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 GESTE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822960" y="5961888"/>
            <a:ext cx="2465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Pleins et déliés : l'épaisseur varie comme sous la pression d'un pinceau. Le trait est vivant, jamais mécanique.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837432" y="3931920"/>
            <a:ext cx="3014472" cy="278892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8" name="Image 3" descr="Monogramme — l'ouvertu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1752" y="4206240"/>
            <a:ext cx="1143914" cy="123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148646" y="5030114"/>
            <a:ext cx="475488" cy="475488"/>
          </a:xfrm>
          <a:prstGeom prst="ellipse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4111752" y="5715000"/>
            <a:ext cx="2465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L'OUVERTURE</a:t>
            </a:r>
            <a:endParaRPr lang="en-US" sz="850" dirty="0"/>
          </a:p>
        </p:txBody>
      </p:sp>
      <p:sp>
        <p:nvSpPr>
          <p:cNvPr id="21" name="Text 15"/>
          <p:cNvSpPr txBox="1"/>
          <p:nvPr/>
        </p:nvSpPr>
        <p:spPr>
          <a:xfrm>
            <a:off x="4111752" y="5961888"/>
            <a:ext cx="2465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contre-poinçon s'ouvre en bas à gauche : la lettre ne se referme pas, les idées circulent.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7126224" y="3931920"/>
            <a:ext cx="3014472" cy="278892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23" name="Image 4" descr="Monogramme — les deux poin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0544" y="4206240"/>
            <a:ext cx="1143914" cy="12344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7366426" y="4097426"/>
            <a:ext cx="365760" cy="365760"/>
          </a:xfrm>
          <a:prstGeom prst="ellipse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25" name="Shape 18"/>
          <p:cNvSpPr/>
          <p:nvPr/>
        </p:nvSpPr>
        <p:spPr>
          <a:xfrm>
            <a:off x="7263437" y="5196078"/>
            <a:ext cx="365760" cy="365760"/>
          </a:xfrm>
          <a:prstGeom prst="ellipse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26" name="Text 19"/>
          <p:cNvSpPr txBox="1"/>
          <p:nvPr/>
        </p:nvSpPr>
        <p:spPr>
          <a:xfrm>
            <a:off x="7400544" y="5715000"/>
            <a:ext cx="2465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LES DEUX POINTES</a:t>
            </a:r>
            <a:endParaRPr lang="en-US" sz="850" dirty="0"/>
          </a:p>
        </p:txBody>
      </p:sp>
      <p:sp>
        <p:nvSpPr>
          <p:cNvPr id="27" name="Text 20"/>
          <p:cNvSpPr txBox="1"/>
          <p:nvPr/>
        </p:nvSpPr>
        <p:spPr>
          <a:xfrm>
            <a:off x="7400544" y="5961888"/>
            <a:ext cx="2465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hampe et la queue s'étirent en pointes effilées : la précision du trait et l'élan vers l'avant.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01 — LOGO · CONSTRUCTION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Du monogramme au logotype.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 devient la première lettre de Darwi. Les minuscules sont calées sur le dessin du monogramme : une seule ligne de base, une seule hauteur d'x.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6949440" cy="452628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6" name="Image 0" descr="Logotype Darw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657600"/>
            <a:ext cx="4849856" cy="1463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3657600"/>
            <a:ext cx="658368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5897880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0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Hauteur du monogramme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731520" y="4141706"/>
            <a:ext cx="658368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897880" y="381252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0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Hauteur d'x = haut du contre-poinçon du D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731520" y="5102692"/>
            <a:ext cx="658368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5897880" y="47735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70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Ligne de base commune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61722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Logotype vectorisé · ne jamais retaper « Darwi » au clavier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05740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 MONOGRAMME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2304288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Tracé original, vectorisé. Il ne se redessine pas et ne se remplace jamais par un D typographique.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18120" y="3410712"/>
            <a:ext cx="232257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35935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« ARWI »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384048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Fraunces SemiBold, vectorisé. Les terminaisons en goutte répondent aux pointes du D. Approche serrée : le D et le a se tiennent comme une seule lettre.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818120" y="4946904"/>
            <a:ext cx="232257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5129784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« STUDIO »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5376672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Medium en capitales, approche +24 %. Posé sur la ligne de base, il ne dépasse jamais la hauteur d'x.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818120" y="6483096"/>
            <a:ext cx="232257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01 — LOGO · VERSIONS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Les versions du logo.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Cinq versions pour s'adapter à chaque format. Le monogramme et le nom gardent toujours les mêmes proportions entre eux.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760720" cy="26517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6" name="Image 0" descr="Darwi Studio 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29853"/>
            <a:ext cx="4572000" cy="95821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09651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HORIZONTAL — VERSION PRINCIPALE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325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Site web, en-têtes, signatures, documents, bannières.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537960" y="2011680"/>
            <a:ext cx="3602736" cy="26517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0" name="Image 1" descr="Darwi Studio empil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526335"/>
            <a:ext cx="2377440" cy="10738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66560" y="40965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EMPILÉE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6766560" y="4325112"/>
            <a:ext cx="3236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Formats carrés ou hauts : affiches, couvertures, textile.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48640" y="4892040"/>
            <a:ext cx="3044952" cy="182880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4" name="Image 2" descr="Logotype Darw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" y="5324627"/>
            <a:ext cx="2103120" cy="63444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7240" y="61539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LOGOTYPE « DARWI »</a:t>
            </a:r>
            <a:endParaRPr lang="en-US" sz="750" dirty="0"/>
          </a:p>
        </p:txBody>
      </p:sp>
      <p:sp>
        <p:nvSpPr>
          <p:cNvPr id="16" name="Text 11"/>
          <p:cNvSpPr txBox="1"/>
          <p:nvPr/>
        </p:nvSpPr>
        <p:spPr>
          <a:xfrm>
            <a:off x="777240" y="63825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 courte : réseaux, objets, mentions.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3822192" y="4892040"/>
            <a:ext cx="3044952" cy="182880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8" name="Image 3" descr="Monogram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2180" y="5143500"/>
            <a:ext cx="804977" cy="8686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050792" y="61539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MONOGRAMME</a:t>
            </a:r>
            <a:endParaRPr lang="en-US" sz="750" dirty="0"/>
          </a:p>
        </p:txBody>
      </p:sp>
      <p:sp>
        <p:nvSpPr>
          <p:cNvPr id="20" name="Text 14"/>
          <p:cNvSpPr txBox="1"/>
          <p:nvPr/>
        </p:nvSpPr>
        <p:spPr>
          <a:xfrm>
            <a:off x="4050792" y="63825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Tampon, favicon, filigrane, broderie, signature visuelle.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7095744" y="4892040"/>
            <a:ext cx="3044952" cy="182880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22" name="Image 4" descr="Ava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5116068"/>
            <a:ext cx="1051560" cy="10515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24344" y="61539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AVATAR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7324344" y="6382512"/>
            <a:ext cx="2679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de profil Instagram, LinkedIn, Behance.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01 — LOGO · ZONE DE PROTECTION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Zone de protection &amp; tailles minimales.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27432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" name="Shape 3"/>
          <p:cNvSpPr/>
          <p:nvPr/>
        </p:nvSpPr>
        <p:spPr>
          <a:xfrm>
            <a:off x="1592754" y="2366024"/>
            <a:ext cx="3946812" cy="1120113"/>
          </a:xfrm>
          <a:prstGeom prst="rect">
            <a:avLst/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dash"/>
          </a:ln>
        </p:spPr>
      </p:sp>
      <p:pic>
        <p:nvPicPr>
          <p:cNvPr id="6" name="Image 0" descr="darwi-studio-borde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7906" y="2551176"/>
            <a:ext cx="3577613" cy="7498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48170" y="28346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309830" y="28346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23671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33021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858000" y="1554480"/>
            <a:ext cx="3282696" cy="27432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Shape 9"/>
          <p:cNvSpPr/>
          <p:nvPr/>
        </p:nvSpPr>
        <p:spPr>
          <a:xfrm>
            <a:off x="7651196" y="2034540"/>
            <a:ext cx="1696303" cy="1783080"/>
          </a:xfrm>
          <a:prstGeom prst="rect">
            <a:avLst/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dash"/>
          </a:ln>
        </p:spPr>
      </p:sp>
      <p:pic>
        <p:nvPicPr>
          <p:cNvPr id="13" name="Image 1" descr="monogramme-bordeau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376" y="2331720"/>
            <a:ext cx="1101547" cy="11887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62626" y="28346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 = un quart de la hauteur du monogramme. 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texte, image ou bord de page ne doit entrer dans cette zone. Elle grandit et rétrécit avec le logo : c'est une proportion, jamais une distance fixe.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monogramme garde des pointes fines : sous 24 px, utilisez l'avatar (monogramme sur pastille) ou le favicon dédié.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4526280"/>
          <a:ext cx="4654296" cy="914400"/>
        </p:xfrm>
        <a:graphic>
          <a:graphicData uri="http://schemas.openxmlformats.org/drawingml/2006/table">
            <a:tbl>
              <a:tblPr/>
              <a:tblGrid>
                <a:gridCol w="2047890"/>
                <a:gridCol w="1489375"/>
                <a:gridCol w="1117031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spc="200" kern="0" dirty="0">
                          <a:solidFill>
                            <a:schemeClr val="accent1"/>
                          </a:solidFill>
                          <a:latin typeface="Inter SemiBold" pitchFamily="34" charset="0"/>
                          <a:ea typeface="Inter SemiBold" pitchFamily="34" charset="-122"/>
                          <a:cs typeface="Inter SemiBold" pitchFamily="34" charset="-120"/>
                        </a:rPr>
                        <a:t>VERSION</a:t>
                      </a:r>
                      <a:endParaRPr lang="en-US" sz="750" dirty="0">
                        <a:latin typeface="Inter SemiBold" charset="0"/>
                        <a:ea typeface="Inter SemiBold" charset="0"/>
                        <a:cs typeface="Inter SemiBol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6A1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spc="200" kern="0" dirty="0">
                          <a:solidFill>
                            <a:schemeClr val="accent1"/>
                          </a:solidFill>
                          <a:latin typeface="Inter SemiBold" pitchFamily="34" charset="0"/>
                          <a:ea typeface="Inter SemiBold" pitchFamily="34" charset="-122"/>
                          <a:cs typeface="Inter SemiBold" pitchFamily="34" charset="-120"/>
                        </a:rPr>
                        <a:t>ÉCRAN</a:t>
                      </a:r>
                      <a:endParaRPr lang="en-US" sz="750" dirty="0">
                        <a:latin typeface="Inter SemiBold" charset="0"/>
                        <a:ea typeface="Inter SemiBold" charset="0"/>
                        <a:cs typeface="Inter SemiBol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6A1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spc="200" kern="0" dirty="0">
                          <a:solidFill>
                            <a:schemeClr val="accent1"/>
                          </a:solidFill>
                          <a:latin typeface="Inter SemiBold" pitchFamily="34" charset="0"/>
                          <a:ea typeface="Inter SemiBold" pitchFamily="34" charset="-122"/>
                          <a:cs typeface="Inter SemiBold" pitchFamily="34" charset="-120"/>
                        </a:rPr>
                        <a:t>IMPRESSION</a:t>
                      </a:r>
                      <a:endParaRPr lang="en-US" sz="750" dirty="0">
                        <a:latin typeface="Inter SemiBold" charset="0"/>
                        <a:ea typeface="Inter SemiBold" charset="0"/>
                        <a:cs typeface="Inter SemiBol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6A1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Horizontale (principale)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160 px de large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mm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Empilée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100 px de large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25 mm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Logotype « Darwi »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90 px de large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22 mm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Monogramme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24 px de haut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6 mm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Avatar / favicon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16 px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C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01 — LOGO · INTERDITS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qu'il ne faut pas faire.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logo est un fichier, pas un dessin à refaire. Toute modification, même légère, affaiblit la reconnaissance.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6" name="Image 0" descr="Logo déform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68880"/>
            <a:ext cx="1586484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446020" y="21031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446020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DÉFORMER, ÉTIRER OU ÉCRASER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3003804" y="201168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1" name="Image 1" descr="Logo recolor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404" y="2694965"/>
            <a:ext cx="1769364" cy="37079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901184" y="21031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901184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3003804" y="406908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CHANGER LES COULEURS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5458968" y="201168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16" name="Image 2" descr="Logo pivot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40000">
            <a:off x="5733288" y="2704528"/>
            <a:ext cx="1677924" cy="35166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356348" y="21031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356348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5458968" y="406908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PIVOTER OU INCLINER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7914132" y="201168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21" name="Image 3" descr="Logo avec omb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694945"/>
            <a:ext cx="1769364" cy="370829"/>
          </a:xfrm>
          <a:prstGeom prst="rect">
            <a:avLst/>
          </a:prstGeom>
          <a:effectLst>
            <a:outerShdw sx="100000" sy="100000" kx="0" ky="0" algn="bl" rotWithShape="0" blurRad="50800" dist="38100" dir="2700000">
              <a:srgbClr val="000000">
                <a:alpha val="55000"/>
              </a:srgbClr>
            </a:outerShdw>
          </a:effectLst>
        </p:spPr>
      </p:pic>
      <p:sp>
        <p:nvSpPr>
          <p:cNvPr id="22" name="Shape 16"/>
          <p:cNvSpPr/>
          <p:nvPr/>
        </p:nvSpPr>
        <p:spPr>
          <a:xfrm>
            <a:off x="9811512" y="21031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811512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7914132" y="406908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AJOUTER OMBRES OU EFFETS</a:t>
            </a:r>
            <a:endParaRPr lang="en-US" sz="700" dirty="0"/>
          </a:p>
        </p:txBody>
      </p:sp>
      <p:sp>
        <p:nvSpPr>
          <p:cNvPr id="25" name="Shape 19"/>
          <p:cNvSpPr/>
          <p:nvPr/>
        </p:nvSpPr>
        <p:spPr>
          <a:xfrm>
            <a:off x="548640" y="448056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26" name="Image 4" descr="Éléments réorganisé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98710"/>
            <a:ext cx="1677924" cy="50106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2446020" y="45720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46020" y="45765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653796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RÉORGANISER LES ÉLÉMENTS</a:t>
            </a:r>
            <a:endParaRPr lang="en-US" sz="700" dirty="0"/>
          </a:p>
        </p:txBody>
      </p:sp>
      <p:sp>
        <p:nvSpPr>
          <p:cNvPr id="30" name="Shape 23"/>
          <p:cNvSpPr/>
          <p:nvPr/>
        </p:nvSpPr>
        <p:spPr>
          <a:xfrm>
            <a:off x="3003804" y="448056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095244" y="5074920"/>
            <a:ext cx="2043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Darwi Studio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4901184" y="45720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4901184" y="45765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003804" y="653796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RETAPER LE NOM DANS UNE AUTRE POLICE</a:t>
            </a:r>
            <a:endParaRPr lang="en-US" sz="700" dirty="0"/>
          </a:p>
        </p:txBody>
      </p:sp>
      <p:sp>
        <p:nvSpPr>
          <p:cNvPr id="35" name="Shape 28"/>
          <p:cNvSpPr/>
          <p:nvPr/>
        </p:nvSpPr>
        <p:spPr>
          <a:xfrm>
            <a:off x="5458968" y="448056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6" name="Shape 29"/>
          <p:cNvSpPr/>
          <p:nvPr/>
        </p:nvSpPr>
        <p:spPr>
          <a:xfrm>
            <a:off x="5458968" y="4480560"/>
            <a:ext cx="2226564" cy="196596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7" name="Image 5" descr="Logo peu contrast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163825"/>
            <a:ext cx="1769364" cy="370829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356348" y="45720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56348" y="45765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5458968" y="653796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CONTRASTE INSUFFISANT</a:t>
            </a:r>
            <a:endParaRPr lang="en-US" sz="700" dirty="0"/>
          </a:p>
        </p:txBody>
      </p:sp>
      <p:sp>
        <p:nvSpPr>
          <p:cNvPr id="41" name="Shape 33"/>
          <p:cNvSpPr/>
          <p:nvPr/>
        </p:nvSpPr>
        <p:spPr>
          <a:xfrm>
            <a:off x="7914132" y="4480560"/>
            <a:ext cx="2226564" cy="196596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42" name="Image 6" descr="Fond chargé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914132" y="4480560"/>
            <a:ext cx="2226564" cy="1965960"/>
          </a:xfrm>
          <a:prstGeom prst="rect">
            <a:avLst/>
          </a:prstGeom>
        </p:spPr>
      </p:pic>
      <p:pic>
        <p:nvPicPr>
          <p:cNvPr id="43" name="Image 7" descr="Logo sur fond chargé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42732" y="5163825"/>
            <a:ext cx="1769364" cy="370829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9811512" y="45720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Text 35"/>
          <p:cNvSpPr txBox="1"/>
          <p:nvPr/>
        </p:nvSpPr>
        <p:spPr>
          <a:xfrm>
            <a:off x="9811512" y="45765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46" name="Text 36"/>
          <p:cNvSpPr txBox="1"/>
          <p:nvPr/>
        </p:nvSpPr>
        <p:spPr>
          <a:xfrm>
            <a:off x="7914132" y="6537960"/>
            <a:ext cx="22265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FOND CHARGÉ SANS CARTOUCHE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ogramme D en ton sur 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457200"/>
            <a:ext cx="5847988" cy="6309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bg2">
                    <a:alpha val="45000"/>
                  </a:scheme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Couleurs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bordeaux profond, un crème chaleureux, et une touche de carmin.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5669280"/>
            <a:ext cx="70043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669280"/>
            <a:ext cx="7004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PALETTE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1358798" y="5669280"/>
            <a:ext cx="134233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58798" y="5669280"/>
            <a:ext cx="1342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VERSIONS COULEUR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2810866" y="5669280"/>
            <a:ext cx="119969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10866" y="5669280"/>
            <a:ext cx="1199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LOGO SUR IMAGE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bg2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02 — COULEURS · PALETTE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palette.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bordeaux et le crème portent la marque. Le carmin signe : utilisé avec parcimonie, il garde toute sa force.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786738" cy="1417320"/>
          </a:xfrm>
          <a:prstGeom prst="rect">
            <a:avLst/>
          </a:prstGeom>
          <a:solidFill>
            <a:srgbClr val="6A1B2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1512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PRINCIPALE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1512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Bordeaux Darwi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HEX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3493008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#6A1B26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398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RVB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739896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· 27 · 38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867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CMJN</a:t>
            </a:r>
            <a:endParaRPr lang="en-US" sz="6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986784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95 · 70 · 45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2336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PANTONE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233672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188 C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99970" y="1965960"/>
            <a:ext cx="1786738" cy="1417320"/>
          </a:xfrm>
          <a:prstGeom prst="rect">
            <a:avLst/>
          </a:prstGeom>
          <a:solidFill>
            <a:srgbClr val="F4EBDC"/>
          </a:solidFill>
          <a:ln w="9525">
            <a:solidFill>
              <a:srgbClr val="D9C9A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37130" y="2103120"/>
            <a:ext cx="1512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PRINCIPALE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2637130" y="2971800"/>
            <a:ext cx="1512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Crème Atelier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499970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HEX</a:t>
            </a:r>
            <a:endParaRPr lang="en-US" sz="650" dirty="0"/>
          </a:p>
        </p:txBody>
      </p:sp>
      <p:sp>
        <p:nvSpPr>
          <p:cNvPr id="20" name="Text 18"/>
          <p:cNvSpPr txBox="1"/>
          <p:nvPr/>
        </p:nvSpPr>
        <p:spPr>
          <a:xfrm>
            <a:off x="3094330" y="3493008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#F4EBDC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499970" y="37398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RVB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3094330" y="3739896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244 · 235 · 220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499970" y="39867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CMJN</a:t>
            </a:r>
            <a:endParaRPr lang="en-US" sz="650" dirty="0"/>
          </a:p>
        </p:txBody>
      </p:sp>
      <p:sp>
        <p:nvSpPr>
          <p:cNvPr id="24" name="Text 22"/>
          <p:cNvSpPr txBox="1"/>
          <p:nvPr/>
        </p:nvSpPr>
        <p:spPr>
          <a:xfrm>
            <a:off x="3094330" y="3986784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7 · 14 · 0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499970" y="42336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PANTONE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3094330" y="4233672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7527 C à 30 %*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51299" y="1965960"/>
            <a:ext cx="1786738" cy="1417320"/>
          </a:xfrm>
          <a:prstGeom prst="rect">
            <a:avLst/>
          </a:prstGeom>
          <a:solidFill>
            <a:srgbClr val="B23A3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8459" y="2103120"/>
            <a:ext cx="1512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ACCENT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4588459" y="2971800"/>
            <a:ext cx="1512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Carmin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451299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HEX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5045659" y="3493008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#B23A3F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451299" y="37398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RVB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5045659" y="3739896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178 · 58 · 63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451299" y="39867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CMJN</a:t>
            </a:r>
            <a:endParaRPr lang="en-US" sz="650" dirty="0"/>
          </a:p>
        </p:txBody>
      </p:sp>
      <p:sp>
        <p:nvSpPr>
          <p:cNvPr id="35" name="Text 33"/>
          <p:cNvSpPr txBox="1"/>
          <p:nvPr/>
        </p:nvSpPr>
        <p:spPr>
          <a:xfrm>
            <a:off x="5045659" y="3986784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88 · 72 · 8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451299" y="42336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PANTONE</a:t>
            </a:r>
            <a:endParaRPr lang="en-US" sz="650" dirty="0"/>
          </a:p>
        </p:txBody>
      </p:sp>
      <p:sp>
        <p:nvSpPr>
          <p:cNvPr id="37" name="Text 35"/>
          <p:cNvSpPr txBox="1"/>
          <p:nvPr/>
        </p:nvSpPr>
        <p:spPr>
          <a:xfrm>
            <a:off x="5045659" y="4233672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1805 C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2629" y="1965960"/>
            <a:ext cx="1786738" cy="1417320"/>
          </a:xfrm>
          <a:prstGeom prst="rect">
            <a:avLst/>
          </a:prstGeom>
          <a:solidFill>
            <a:srgbClr val="2A121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39789" y="2103120"/>
            <a:ext cx="1512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SECONDAIRE</a:t>
            </a:r>
            <a:endParaRPr lang="en-US" sz="650" dirty="0"/>
          </a:p>
        </p:txBody>
      </p:sp>
      <p:sp>
        <p:nvSpPr>
          <p:cNvPr id="40" name="Text 38"/>
          <p:cNvSpPr txBox="1"/>
          <p:nvPr/>
        </p:nvSpPr>
        <p:spPr>
          <a:xfrm>
            <a:off x="6539789" y="2971800"/>
            <a:ext cx="1512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Encre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402629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HEX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6996989" y="3493008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#2A1216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402629" y="37398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RVB</a:t>
            </a:r>
            <a:endParaRPr lang="en-US" sz="650" dirty="0"/>
          </a:p>
        </p:txBody>
      </p:sp>
      <p:sp>
        <p:nvSpPr>
          <p:cNvPr id="44" name="Text 42"/>
          <p:cNvSpPr txBox="1"/>
          <p:nvPr/>
        </p:nvSpPr>
        <p:spPr>
          <a:xfrm>
            <a:off x="6996989" y="3739896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· 18 · 22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402629" y="39867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CMJN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6996989" y="3986784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· 80 · 65 · 75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402629" y="42336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PANTONE</a:t>
            </a:r>
            <a:endParaRPr lang="en-US" sz="650" dirty="0"/>
          </a:p>
        </p:txBody>
      </p:sp>
      <p:sp>
        <p:nvSpPr>
          <p:cNvPr id="48" name="Text 46"/>
          <p:cNvSpPr txBox="1"/>
          <p:nvPr/>
        </p:nvSpPr>
        <p:spPr>
          <a:xfrm>
            <a:off x="6996989" y="4233672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4975 C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353958" y="1965960"/>
            <a:ext cx="1786738" cy="1417320"/>
          </a:xfrm>
          <a:prstGeom prst="rect">
            <a:avLst/>
          </a:prstGeom>
          <a:solidFill>
            <a:srgbClr val="D9C9A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491118" y="2103120"/>
            <a:ext cx="1512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SECONDAIRE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8491118" y="2971800"/>
            <a:ext cx="1512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Grège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8353958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HEX</a:t>
            </a:r>
            <a:endParaRPr lang="en-US" sz="650" dirty="0"/>
          </a:p>
        </p:txBody>
      </p:sp>
      <p:sp>
        <p:nvSpPr>
          <p:cNvPr id="53" name="Text 51"/>
          <p:cNvSpPr txBox="1"/>
          <p:nvPr/>
        </p:nvSpPr>
        <p:spPr>
          <a:xfrm>
            <a:off x="8948318" y="3493008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#D9C9AE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353958" y="37398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RVB</a:t>
            </a:r>
            <a:endParaRPr lang="en-US" sz="650" dirty="0"/>
          </a:p>
        </p:txBody>
      </p:sp>
      <p:sp>
        <p:nvSpPr>
          <p:cNvPr id="55" name="Text 53"/>
          <p:cNvSpPr txBox="1"/>
          <p:nvPr/>
        </p:nvSpPr>
        <p:spPr>
          <a:xfrm>
            <a:off x="8948318" y="3739896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217 · 201 · 174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353958" y="39867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CMJN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8948318" y="3986784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20 · 33 · 2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8353958" y="42336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5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PANTONE</a:t>
            </a:r>
            <a:endParaRPr lang="en-US" sz="650" dirty="0"/>
          </a:p>
        </p:txBody>
      </p:sp>
      <p:sp>
        <p:nvSpPr>
          <p:cNvPr id="59" name="Text 57"/>
          <p:cNvSpPr txBox="1"/>
          <p:nvPr/>
        </p:nvSpPr>
        <p:spPr>
          <a:xfrm>
            <a:off x="8948318" y="4233672"/>
            <a:ext cx="11923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7501 C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" y="4983480"/>
            <a:ext cx="2274570" cy="685800"/>
          </a:xfrm>
          <a:prstGeom prst="rect">
            <a:avLst/>
          </a:prstGeom>
          <a:solidFill>
            <a:srgbClr val="6A1B2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85800" y="4983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EBD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Aa</a:t>
            </a:r>
            <a:endParaRPr lang="en-US" sz="2400" dirty="0"/>
          </a:p>
        </p:txBody>
      </p:sp>
      <p:sp>
        <p:nvSpPr>
          <p:cNvPr id="62" name="Text 60"/>
          <p:cNvSpPr txBox="1"/>
          <p:nvPr/>
        </p:nvSpPr>
        <p:spPr>
          <a:xfrm>
            <a:off x="1417320" y="5111496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Crème sur Bordeaux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1417320" y="5349240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9,9:1 · AAA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5742432"/>
            <a:ext cx="22745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Signature, couvertures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987802" y="4983480"/>
            <a:ext cx="2274570" cy="685800"/>
          </a:xfrm>
          <a:prstGeom prst="rect">
            <a:avLst/>
          </a:prstGeom>
          <a:solidFill>
            <a:srgbClr val="F4EBDC"/>
          </a:solidFill>
          <a:ln w="9525">
            <a:solidFill>
              <a:srgbClr val="D9C9A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124962" y="4983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A1B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Aa</a:t>
            </a:r>
            <a:endParaRPr lang="en-US" sz="2400" dirty="0"/>
          </a:p>
        </p:txBody>
      </p:sp>
      <p:sp>
        <p:nvSpPr>
          <p:cNvPr id="67" name="Text 65"/>
          <p:cNvSpPr txBox="1"/>
          <p:nvPr/>
        </p:nvSpPr>
        <p:spPr>
          <a:xfrm>
            <a:off x="3856482" y="5111496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Bordeaux sur Crème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3856482" y="5349240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9,9:1 · AAA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2987802" y="5742432"/>
            <a:ext cx="22745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principale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426964" y="4983480"/>
            <a:ext cx="2274570" cy="685800"/>
          </a:xfrm>
          <a:prstGeom prst="rect">
            <a:avLst/>
          </a:prstGeom>
          <a:solidFill>
            <a:srgbClr val="F4EBDC"/>
          </a:solidFill>
          <a:ln w="9525">
            <a:solidFill>
              <a:srgbClr val="D9C9A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564124" y="4983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23A3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Aa</a:t>
            </a:r>
            <a:endParaRPr lang="en-US" sz="2400" dirty="0"/>
          </a:p>
        </p:txBody>
      </p:sp>
      <p:sp>
        <p:nvSpPr>
          <p:cNvPr id="72" name="Text 70"/>
          <p:cNvSpPr txBox="1"/>
          <p:nvPr/>
        </p:nvSpPr>
        <p:spPr>
          <a:xfrm>
            <a:off x="6295644" y="5111496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Carmin sur Crème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295644" y="5349240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5,0:1 · AA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426964" y="5742432"/>
            <a:ext cx="22745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Accents, chiffres clés, liens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866126" y="4983480"/>
            <a:ext cx="2274570" cy="685800"/>
          </a:xfrm>
          <a:prstGeom prst="rect">
            <a:avLst/>
          </a:prstGeom>
          <a:solidFill>
            <a:srgbClr val="2A121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003286" y="4983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A1B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Aa</a:t>
            </a:r>
            <a:endParaRPr lang="en-US" sz="2400" dirty="0"/>
          </a:p>
        </p:txBody>
      </p:sp>
      <p:sp>
        <p:nvSpPr>
          <p:cNvPr id="77" name="Text 75"/>
          <p:cNvSpPr txBox="1"/>
          <p:nvPr/>
        </p:nvSpPr>
        <p:spPr>
          <a:xfrm>
            <a:off x="8734806" y="5111496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Bordeaux sur Encre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8734806" y="5349240"/>
            <a:ext cx="13601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1,5:1 · insuffisant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7866126" y="5742432"/>
            <a:ext cx="22745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proscrire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9829800" y="5056632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829800" y="50612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48640" y="617220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Le crème s'obtient idéalement par le papier (offset ivoire non couché) plutôt que par l'encre. Les références Pantone sont les plus proches : validez-les sur nuancier imprimé avant toute production.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02 — COULEURS · VERSIONS COULEUR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Versions couleur &amp; fonds.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logo vit d'abord en bordeaux sur crème. Les autres versions s'adaptent au support, jamais à l'envie du moment.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044952" cy="1554480"/>
          </a:xfrm>
          <a:prstGeom prst="rect">
            <a:avLst/>
          </a:prstGeom>
          <a:solidFill>
            <a:srgbClr val="F4EBDC"/>
          </a:solidFill>
          <a:ln w="9525">
            <a:solidFill>
              <a:srgbClr val="D9C9AE"/>
            </a:solidFill>
            <a:prstDash val="solid"/>
          </a:ln>
        </p:spPr>
      </p:sp>
      <p:pic>
        <p:nvPicPr>
          <p:cNvPr id="6" name="Image 0" descr="Logo bordeaux sur crè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556074"/>
            <a:ext cx="2221992" cy="4656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64408" y="21031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264408" y="21076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5760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BORDEAUX SUR CRÈME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67912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principale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822192" y="2011680"/>
            <a:ext cx="3044952" cy="1554480"/>
          </a:xfrm>
          <a:prstGeom prst="rect">
            <a:avLst/>
          </a:prstGeom>
          <a:solidFill>
            <a:srgbClr val="6A1B26"/>
          </a:solidFill>
          <a:ln/>
        </p:spPr>
      </p:sp>
      <p:pic>
        <p:nvPicPr>
          <p:cNvPr id="12" name="Image 1" descr="Logo crème sur bordeau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2556074"/>
            <a:ext cx="2221992" cy="4656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22192" y="365760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CRÈME SUR BORDEAUX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3822192" y="3867912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inversée — couvertures, signalétique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095744" y="2011680"/>
            <a:ext cx="3044952" cy="1554480"/>
          </a:xfrm>
          <a:prstGeom prst="rect">
            <a:avLst/>
          </a:prstGeom>
          <a:solidFill>
            <a:srgbClr val="2A1216"/>
          </a:solidFill>
          <a:ln/>
        </p:spPr>
      </p:sp>
      <p:pic>
        <p:nvPicPr>
          <p:cNvPr id="16" name="Image 2" descr="Logo crème sur enc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556074"/>
            <a:ext cx="2221992" cy="46569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95744" y="365760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CRÈME SUR ENCRE</a:t>
            </a:r>
            <a:endParaRPr lang="en-US" sz="750" dirty="0"/>
          </a:p>
        </p:txBody>
      </p:sp>
      <p:sp>
        <p:nvSpPr>
          <p:cNvPr id="18" name="Text 13"/>
          <p:cNvSpPr txBox="1"/>
          <p:nvPr/>
        </p:nvSpPr>
        <p:spPr>
          <a:xfrm>
            <a:off x="7095744" y="3867912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nocturne — supports premium, écrans sombres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548640" y="4224528"/>
            <a:ext cx="304495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E"/>
            </a:solidFill>
            <a:prstDash val="solid"/>
          </a:ln>
        </p:spPr>
      </p:sp>
      <p:pic>
        <p:nvPicPr>
          <p:cNvPr id="20" name="Image 3" descr="Logo bordeaux sur blan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768922"/>
            <a:ext cx="2221992" cy="46569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" y="5870448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BORDEAUX SUR BLANC</a:t>
            </a:r>
            <a:endParaRPr lang="en-US" sz="75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08076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bureautiques, factures, devis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3822192" y="4224528"/>
            <a:ext cx="304495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9AE"/>
            </a:solidFill>
            <a:prstDash val="solid"/>
          </a:ln>
        </p:spPr>
      </p:sp>
      <p:pic>
        <p:nvPicPr>
          <p:cNvPr id="24" name="Image 4" descr="Logo noir sur blan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672" y="4768922"/>
            <a:ext cx="2221992" cy="46569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822192" y="5870448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NOIR SUR BLANC</a:t>
            </a:r>
            <a:endParaRPr lang="en-US" sz="750" dirty="0"/>
          </a:p>
        </p:txBody>
      </p:sp>
      <p:sp>
        <p:nvSpPr>
          <p:cNvPr id="26" name="Text 19"/>
          <p:cNvSpPr txBox="1"/>
          <p:nvPr/>
        </p:nvSpPr>
        <p:spPr>
          <a:xfrm>
            <a:off x="3822192" y="608076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Monochrome — tampon, fax, gravure</a:t>
            </a:r>
            <a:endParaRPr lang="en-US" sz="850" dirty="0"/>
          </a:p>
        </p:txBody>
      </p:sp>
      <p:sp>
        <p:nvSpPr>
          <p:cNvPr id="27" name="Shape 20"/>
          <p:cNvSpPr/>
          <p:nvPr/>
        </p:nvSpPr>
        <p:spPr>
          <a:xfrm>
            <a:off x="7095744" y="4224528"/>
            <a:ext cx="3044952" cy="155448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8" name="Image 5" descr="Logo blanc sur no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768922"/>
            <a:ext cx="2221992" cy="46569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95744" y="5870448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BLANC SUR NOIR</a:t>
            </a:r>
            <a:endParaRPr lang="en-US" sz="750" dirty="0"/>
          </a:p>
        </p:txBody>
      </p:sp>
      <p:sp>
        <p:nvSpPr>
          <p:cNvPr id="30" name="Text 22"/>
          <p:cNvSpPr txBox="1"/>
          <p:nvPr/>
        </p:nvSpPr>
        <p:spPr>
          <a:xfrm>
            <a:off x="7095744" y="6080760"/>
            <a:ext cx="3044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Monochrome inversé — marquage, sérigraphie</a:t>
            </a:r>
            <a:endParaRPr lang="en-US" sz="85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6583680"/>
            <a:ext cx="9592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carmin n'entre jamais dans le logo : c'est une couleur d'accent, réservée à la typographie et à l'interface.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02 — COULEURS · LOGO SUR IMAGE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Logo sur image.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une photo, le logo se place toujours sur une zone calme et contrastée. Si aucune zone ne convient, utilisez le cartouche.</a:t>
            </a:r>
            <a:endParaRPr lang="en-US" sz="1050" dirty="0"/>
          </a:p>
        </p:txBody>
      </p:sp>
      <p:pic>
        <p:nvPicPr>
          <p:cNvPr id="5" name="Image 0" descr="Visuel d'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3044952" cy="3657600"/>
          </a:xfrm>
          <a:prstGeom prst="rect">
            <a:avLst/>
          </a:prstGeom>
        </p:spPr>
      </p:pic>
      <p:pic>
        <p:nvPicPr>
          <p:cNvPr id="6" name="Image 1" descr="darwi-studio-cr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887870" cy="39566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0644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48640" y="58110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877824" y="5833872"/>
            <a:ext cx="271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CRÈME SUR ZONE SOMBRE</a:t>
            </a:r>
            <a:endParaRPr lang="en-US" sz="7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1264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cas le plus courant : intérieurs, éclairages de studio.</a:t>
            </a:r>
            <a:endParaRPr lang="en-US" sz="850" dirty="0"/>
          </a:p>
        </p:txBody>
      </p:sp>
      <p:pic>
        <p:nvPicPr>
          <p:cNvPr id="11" name="Image 2" descr="Visuel d'illustration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22192" y="2011680"/>
            <a:ext cx="3044952" cy="3657600"/>
          </a:xfrm>
          <a:prstGeom prst="rect">
            <a:avLst/>
          </a:prstGeom>
        </p:spPr>
      </p:pic>
      <p:pic>
        <p:nvPicPr>
          <p:cNvPr id="12" name="Image 3" descr="darwi-studio-bordeau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2331720"/>
            <a:ext cx="1887870" cy="395666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822192" y="580644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3822192" y="58110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4151376" y="5833872"/>
            <a:ext cx="271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BORDEAUX SUR ZONE CLAIRE</a:t>
            </a:r>
            <a:endParaRPr lang="en-US" sz="750" dirty="0"/>
          </a:p>
        </p:txBody>
      </p:sp>
      <p:sp>
        <p:nvSpPr>
          <p:cNvPr id="16" name="Text 10"/>
          <p:cNvSpPr txBox="1"/>
          <p:nvPr/>
        </p:nvSpPr>
        <p:spPr>
          <a:xfrm>
            <a:off x="3822192" y="61264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Papiers, murs clairs, ciels, tables de travail.</a:t>
            </a:r>
            <a:endParaRPr lang="en-US" sz="850" dirty="0"/>
          </a:p>
        </p:txBody>
      </p:sp>
      <p:pic>
        <p:nvPicPr>
          <p:cNvPr id="17" name="Image 4" descr="Visuel d'illustration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095744" y="2011680"/>
            <a:ext cx="3044952" cy="36576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17857" y="4870062"/>
            <a:ext cx="1848519" cy="524898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9" name="Image 5" descr="darwi-studio-crem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4755" y="4956959"/>
            <a:ext cx="1674724" cy="35099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7095744" y="580644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3"/>
          <p:cNvSpPr txBox="1"/>
          <p:nvPr/>
        </p:nvSpPr>
        <p:spPr>
          <a:xfrm>
            <a:off x="7095744" y="58110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7424928" y="5833872"/>
            <a:ext cx="271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CARTOUCHE SUR FOND CHARGÉ</a:t>
            </a:r>
            <a:endParaRPr lang="en-US" sz="750" dirty="0"/>
          </a:p>
        </p:txBody>
      </p:sp>
      <p:sp>
        <p:nvSpPr>
          <p:cNvPr id="23" name="Text 15"/>
          <p:cNvSpPr txBox="1"/>
          <p:nvPr/>
        </p:nvSpPr>
        <p:spPr>
          <a:xfrm>
            <a:off x="7095744" y="61264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Rectangle Bordeaux Darwi, logo crème, marge = X.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ogramme D en ton sur 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457200"/>
            <a:ext cx="5847988" cy="6309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bg2">
                    <a:alpha val="45000"/>
                  </a:scheme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Typographie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familles libres de droits : une pour la voix, une pour l'information.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5669280"/>
            <a:ext cx="141366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669280"/>
            <a:ext cx="14136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FRAUNCES — TITRES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2072030" y="5669280"/>
            <a:ext cx="119969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2030" y="5669280"/>
            <a:ext cx="1199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INTER — TEXTES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3381451" y="566928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1451" y="5669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HIÉRARCHIE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bg2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03 — TYPOGRAPHIE · TITRES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Fraunces.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Titres, accroches, citations. Une serif chaleureuse aux formes douces, cousine du logotype : c'est elle qui donne la voix de Darwi.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Aa</a:t>
            </a:r>
            <a:endParaRPr lang="en-US" sz="150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0574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ABCDEFGHIJKLMNOPQRSTUVWXYZ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abcdefghijklmnopqrstuvwxyz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0123456789 — € % &amp; ! ? « 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3291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REGULAR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Darwi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93192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504688" y="3291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ITALIC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5504688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Darwi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504688" y="393192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077456" y="3291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SEMIBOLD</a:t>
            </a:r>
            <a:endParaRPr lang="en-US" sz="700" dirty="0"/>
          </a:p>
        </p:txBody>
      </p:sp>
      <p:pic>
        <p:nvPicPr>
          <p:cNvPr id="14" name="Image 0" descr="Darwi en Fraunces SemiB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456" y="3593592"/>
            <a:ext cx="818413" cy="24688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077456" y="393192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 · logotype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650224" y="3291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200" kern="0" dirty="0">
                <a:solidFill>
                  <a:schemeClr val="accent5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BOLD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8650224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Darwi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50224" y="393192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931920" y="4279392"/>
            <a:ext cx="6208776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4407408"/>
            <a:ext cx="6208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Titres en minuscules (sentence case), interlignage 100–110 %, approche 0 à −1 %.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L'italique sert à souligner un mot, jamais une phrase entière.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SemiBold est réservé au logotype : ne pas l'utiliser en titrage.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 SIL Open Font License · Google Fonts · usage commercial autorisé.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5623560"/>
            <a:ext cx="9592056" cy="10515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14400" y="56235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Dessiner avant </a:t>
            </a:r>
            <a:pPr indent="0" marL="0">
              <a:buNone/>
            </a:pPr>
            <a:r>
              <a:rPr lang="en-US" sz="3000" i="1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d'assembler.</a:t>
            </a:r>
            <a:endParaRPr lang="en-US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7946136" y="562356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Exemple d'accroche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03 — TYPOGRAPHIE · TEXTES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 &amp; hiérarchie.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6459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ABCDEFGHIJKLMNOPQRSTUVWXYZ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abcdefghijklmnopqrstuvwxyz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0123456789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— textes courants, interfaces, légendes, données. Regular 400, Medium 500, SemiBold 600. Licence SIL OFL · Google Fonts.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Polices de secours : Georgia (titres) · Arial / Helvetica (textes).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1463040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544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731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4434840"/>
            <a:ext cx="1463040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4544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47731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840480" y="4434840"/>
            <a:ext cx="1463040" cy="0"/>
          </a:xfrm>
          <a:prstGeom prst="line">
            <a:avLst/>
          </a:prstGeom>
          <a:noFill/>
          <a:ln w="63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0" y="4544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SEMIBOLD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7731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806440" y="685800"/>
            <a:ext cx="4334256" cy="60350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10058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Surtitre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21615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Medium 8 pt · capitales · +30 %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1005840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spc="300" kern="0" dirty="0">
                <a:solidFill>
                  <a:srgbClr val="E0757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IDENTITÉ VISUELLE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572768"/>
            <a:ext cx="3785616" cy="0"/>
          </a:xfrm>
          <a:prstGeom prst="line">
            <a:avLst/>
          </a:prstGeom>
          <a:noFill/>
          <a:ln w="6350">
            <a:solidFill>
              <a:srgbClr val="4A2A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16459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Titre 1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080760" y="1856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Fraunces Regular 32 pt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64592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studio qui dessine.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0760" y="2487168"/>
            <a:ext cx="3785616" cy="0"/>
          </a:xfrm>
          <a:prstGeom prst="line">
            <a:avLst/>
          </a:prstGeom>
          <a:noFill/>
          <a:ln w="6350">
            <a:solidFill>
              <a:srgbClr val="4A2A3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2560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Titre 2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7706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Fraunces Italic 18 pt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2560320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Identités &amp; éditions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3264408"/>
            <a:ext cx="3785616" cy="0"/>
          </a:xfrm>
          <a:prstGeom prst="line">
            <a:avLst/>
          </a:prstGeom>
          <a:noFill/>
          <a:ln w="6350">
            <a:solidFill>
              <a:srgbClr val="4A2A3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80760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Chiffre clé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54787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Fraunces Regular · Carmin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7589520" y="3337560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0757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+120 projets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80760" y="4041648"/>
            <a:ext cx="3785616" cy="0"/>
          </a:xfrm>
          <a:prstGeom prst="line">
            <a:avLst/>
          </a:prstGeom>
          <a:noFill/>
          <a:ln w="6350">
            <a:solidFill>
              <a:srgbClr val="4A2A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8076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Texte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432511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Regular 10–11 pt · interligne 140 %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7589520" y="411480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Logos, chartes, éditions et supports digitaux, dessinés à la main puis construits avec rigueur.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80760" y="5138928"/>
            <a:ext cx="3785616" cy="0"/>
          </a:xfrm>
          <a:prstGeom prst="line">
            <a:avLst/>
          </a:prstGeom>
          <a:noFill/>
          <a:ln w="6350">
            <a:solidFill>
              <a:srgbClr val="4A2A3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80760" y="52120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Légende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422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Medium 8 pt · Grège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7589520" y="5212080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chemeClr val="accent3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Projet — Charte graphique, 2026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chiffres et exemples de ce panneau sont fictifs.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ogramme D en ton sur 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457200"/>
            <a:ext cx="5847988" cy="6309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bg2">
                    <a:alpha val="45000"/>
                  </a:scheme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Applications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premiers supports de la marque, prêts à décliner.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5669280"/>
            <a:ext cx="12710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66928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CARTE DE VISITE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1929384" y="5669280"/>
            <a:ext cx="119969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29384" y="5669280"/>
            <a:ext cx="1199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PAPIER EN-TÊTE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3238805" y="5669280"/>
            <a:ext cx="12710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38805" y="566928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RÉSEAUX SOCIAUX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4619549" y="5669280"/>
            <a:ext cx="134233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9549" y="5669280"/>
            <a:ext cx="1342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50" kern="0" dirty="0">
                <a:solidFill>
                  <a:schemeClr val="bg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SIGNATURE E-MAIL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bg2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04 — APPLICATIONS · PAPETERIE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Papeterie.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Carte de visite 85 × 55 mm et papier en-tête A4. Le recto en bordeaux signe, le verso crème informe.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2743200" cy="1775012"/>
          </a:xfrm>
          <a:prstGeom prst="rect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2A1216">
                <a:alpha val="25000"/>
              </a:srgbClr>
            </a:outerShdw>
          </a:effectLst>
        </p:spPr>
      </p:sp>
      <p:pic>
        <p:nvPicPr>
          <p:cNvPr id="6" name="Image 0" descr="Monogramme, recto de la ca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448" y="2579146"/>
            <a:ext cx="84734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0610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RECTO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731520" y="4472492"/>
            <a:ext cx="2743200" cy="1775012"/>
          </a:xfrm>
          <a:prstGeom prst="rect">
            <a:avLst/>
          </a:prstGeom>
          <a:solidFill>
            <a:schemeClr val="bg2"/>
          </a:solidFill>
          <a:ln w="6350">
            <a:solidFill>
              <a:srgbClr val="D9C9AE"/>
            </a:solidFill>
            <a:prstDash val="solid"/>
          </a:ln>
          <a:effectLst>
            <a:outerShdw sx="100000" sy="100000" kx="0" ky="0" algn="bl" rotWithShape="0" blurRad="101600" dist="38100" dir="5400000">
              <a:srgbClr val="2A1216">
                <a:alpha val="25000"/>
              </a:srgbClr>
            </a:outerShdw>
          </a:effectLst>
        </p:spPr>
      </p:sp>
      <p:pic>
        <p:nvPicPr>
          <p:cNvPr id="9" name="Image 1" descr="darwi-studio-bordeau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1092"/>
            <a:ext cx="1371600" cy="2874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53788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Prénom Nom</a:t>
            </a:r>
            <a:endParaRPr lang="en-US" sz="1000" dirty="0"/>
          </a:p>
          <a:p>
            <a:pPr indent="0" marL="0">
              <a:buNone/>
            </a:pPr>
            <a:r>
              <a:rPr lang="en-US" sz="6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Graphiste — Directeur artistique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57903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06 00 00 00 00</a:t>
            </a:r>
            <a:endParaRPr lang="en-US" sz="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bonjour@darwistudio.fr</a:t>
            </a:r>
            <a:endParaRPr lang="en-US" sz="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darwistudio.fr</a:t>
            </a:r>
            <a:endParaRPr lang="en-US" sz="600" dirty="0"/>
          </a:p>
        </p:txBody>
      </p:sp>
      <p:pic>
        <p:nvPicPr>
          <p:cNvPr id="12" name="Image 2" descr="monogramme-bordeau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5790304"/>
            <a:ext cx="211836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" y="6384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VERSO</a:t>
            </a:r>
            <a:endParaRPr lang="en-US" sz="750" dirty="0"/>
          </a:p>
        </p:txBody>
      </p:sp>
      <p:sp>
        <p:nvSpPr>
          <p:cNvPr id="14" name="Shape 9"/>
          <p:cNvSpPr/>
          <p:nvPr/>
        </p:nvSpPr>
        <p:spPr>
          <a:xfrm>
            <a:off x="4434840" y="2057400"/>
            <a:ext cx="3200400" cy="45262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2A1216">
                <a:alpha val="25000"/>
              </a:srgbClr>
            </a:outerShdw>
          </a:effectLst>
        </p:spPr>
      </p:sp>
      <p:pic>
        <p:nvPicPr>
          <p:cNvPr id="15" name="Image 3" descr="darwi-studio-bordeau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331720"/>
            <a:ext cx="1234440" cy="25871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4922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Destinataire</a:t>
            </a:r>
            <a:endParaRPr lang="en-US" sz="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Adresse</a:t>
            </a:r>
            <a:endParaRPr lang="en-US" sz="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postal Ville</a:t>
            </a:r>
            <a:endParaRPr lang="en-US" sz="500" dirty="0"/>
          </a:p>
        </p:txBody>
      </p:sp>
      <p:sp>
        <p:nvSpPr>
          <p:cNvPr id="17" name="Text 11"/>
          <p:cNvSpPr txBox="1"/>
          <p:nvPr/>
        </p:nvSpPr>
        <p:spPr>
          <a:xfrm>
            <a:off x="4709160" y="34290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Objet : présentation</a:t>
            </a:r>
            <a:endParaRPr lang="en-US" sz="800" dirty="0"/>
          </a:p>
        </p:txBody>
      </p:sp>
      <p:sp>
        <p:nvSpPr>
          <p:cNvPr id="18" name="Shape 12"/>
          <p:cNvSpPr/>
          <p:nvPr/>
        </p:nvSpPr>
        <p:spPr>
          <a:xfrm>
            <a:off x="4709160" y="3749040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9" name="Shape 13"/>
          <p:cNvSpPr/>
          <p:nvPr/>
        </p:nvSpPr>
        <p:spPr>
          <a:xfrm>
            <a:off x="4709160" y="3904488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0" name="Shape 14"/>
          <p:cNvSpPr/>
          <p:nvPr/>
        </p:nvSpPr>
        <p:spPr>
          <a:xfrm>
            <a:off x="4709160" y="4059936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1" name="Shape 15"/>
          <p:cNvSpPr/>
          <p:nvPr/>
        </p:nvSpPr>
        <p:spPr>
          <a:xfrm>
            <a:off x="4709160" y="4215384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2" name="Shape 16"/>
          <p:cNvSpPr/>
          <p:nvPr/>
        </p:nvSpPr>
        <p:spPr>
          <a:xfrm>
            <a:off x="4709160" y="4370832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Shape 17"/>
          <p:cNvSpPr/>
          <p:nvPr/>
        </p:nvSpPr>
        <p:spPr>
          <a:xfrm>
            <a:off x="4709160" y="4526280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Shape 18"/>
          <p:cNvSpPr/>
          <p:nvPr/>
        </p:nvSpPr>
        <p:spPr>
          <a:xfrm>
            <a:off x="4709160" y="4681728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5" name="Shape 19"/>
          <p:cNvSpPr/>
          <p:nvPr/>
        </p:nvSpPr>
        <p:spPr>
          <a:xfrm>
            <a:off x="4709160" y="4837176"/>
            <a:ext cx="2651760" cy="457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6" name="Shape 20"/>
          <p:cNvSpPr/>
          <p:nvPr/>
        </p:nvSpPr>
        <p:spPr>
          <a:xfrm>
            <a:off x="4709160" y="4992624"/>
            <a:ext cx="1188720" cy="45720"/>
          </a:xfrm>
          <a:prstGeom prst="rect">
            <a:avLst/>
          </a:prstGeom>
          <a:solidFill>
            <a:schemeClr val="accent3"/>
          </a:solidFill>
          <a:ln/>
        </p:spPr>
      </p:sp>
      <p:pic>
        <p:nvPicPr>
          <p:cNvPr id="27" name="Image 4" descr="Filigrane monogramm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800600"/>
            <a:ext cx="1186548" cy="12801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709160" y="6263640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Darwi Studio · darwistudio.fr · bonjour@darwistudio.fr</a:t>
            </a:r>
            <a:endParaRPr lang="en-US" sz="450" dirty="0"/>
          </a:p>
        </p:txBody>
      </p:sp>
      <p:sp>
        <p:nvSpPr>
          <p:cNvPr id="29" name="Text 22"/>
          <p:cNvSpPr txBox="1"/>
          <p:nvPr/>
        </p:nvSpPr>
        <p:spPr>
          <a:xfrm>
            <a:off x="4434840" y="6693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PAPIER EN-TÊTE A4</a:t>
            </a:r>
            <a:endParaRPr lang="en-US" sz="750" dirty="0"/>
          </a:p>
        </p:txBody>
      </p:sp>
      <p:sp>
        <p:nvSpPr>
          <p:cNvPr id="30" name="Text 23"/>
          <p:cNvSpPr txBox="1"/>
          <p:nvPr/>
        </p:nvSpPr>
        <p:spPr>
          <a:xfrm>
            <a:off x="8046720" y="21488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PAPIER</a:t>
            </a:r>
            <a:endParaRPr lang="en-US" sz="800" dirty="0"/>
          </a:p>
        </p:txBody>
      </p:sp>
      <p:sp>
        <p:nvSpPr>
          <p:cNvPr id="31" name="Text 24"/>
          <p:cNvSpPr txBox="1"/>
          <p:nvPr/>
        </p:nvSpPr>
        <p:spPr>
          <a:xfrm>
            <a:off x="8046720" y="2386584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Offset ivoire non couché, 350 g (cartes) et 100 g (en-tête). Le papier donne le crème.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8046720" y="35204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FINITIONS</a:t>
            </a:r>
            <a:endParaRPr lang="en-US" sz="800" dirty="0"/>
          </a:p>
        </p:txBody>
      </p:sp>
      <p:sp>
        <p:nvSpPr>
          <p:cNvPr id="33" name="Text 26"/>
          <p:cNvSpPr txBox="1"/>
          <p:nvPr/>
        </p:nvSpPr>
        <p:spPr>
          <a:xfrm>
            <a:off x="8046720" y="3758184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Recto en Pantone 188 C. Option premium : monogramme en marquage à chaud ou gaufrage à sec.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8046720" y="4892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MARGES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8046720" y="5129784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à 10 mm des bords sur la carte, 15 mm sur l'en-tête. Toujours aligné à gauche.</a:t>
            </a:r>
            <a:endParaRPr lang="en-US" sz="900" dirty="0"/>
          </a:p>
        </p:txBody>
      </p:sp>
      <p:sp>
        <p:nvSpPr>
          <p:cNvPr id="36" name="Text 29"/>
          <p:cNvSpPr txBox="1"/>
          <p:nvPr/>
        </p:nvSpPr>
        <p:spPr>
          <a:xfrm>
            <a:off x="8046720" y="635508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Coordonnées fictives, à remplacer.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accent2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04 — APPLICATIONS · DIGITAL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Digital &amp; réseaux sociaux.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écran, le monogramme devient l'avatar et la signature des publications. Fonds pleins, aucune transparence.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017520" cy="4617720"/>
          </a:xfrm>
          <a:prstGeom prst="roundRect">
            <a:avLst>
              <a:gd name="adj" fmla="val 7576"/>
            </a:avLst>
          </a:prstGeom>
          <a:solidFill>
            <a:schemeClr val="bg1"/>
          </a:solidFill>
          <a:ln w="9525">
            <a:solidFill>
              <a:srgbClr val="D9C9AE"/>
            </a:solidFill>
            <a:prstDash val="solid"/>
          </a:ln>
        </p:spPr>
      </p:sp>
      <p:pic>
        <p:nvPicPr>
          <p:cNvPr id="6" name="Image 0" descr="Avatar Inst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868680" cy="868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468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darwistudio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Studio de graphisme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Identités visuelles, éditions &amp; digital. Dessiné à la main.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22960" y="3886200"/>
            <a:ext cx="792480" cy="792480"/>
          </a:xfrm>
          <a:prstGeom prst="rect">
            <a:avLst/>
          </a:prstGeom>
          <a:solidFill>
            <a:srgbClr val="6A1B26"/>
          </a:solidFill>
          <a:ln/>
        </p:spPr>
      </p:sp>
      <p:pic>
        <p:nvPicPr>
          <p:cNvPr id="10" name="Image 1" descr="monogramme-cr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09" y="4084320"/>
            <a:ext cx="367182" cy="396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661160" y="3886200"/>
            <a:ext cx="792480" cy="792480"/>
          </a:xfrm>
          <a:prstGeom prst="rect">
            <a:avLst/>
          </a:prstGeom>
          <a:solidFill>
            <a:srgbClr val="F4EBDC"/>
          </a:solidFill>
          <a:ln w="6350">
            <a:solidFill>
              <a:srgbClr val="D9C9A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4312" y="3886200"/>
            <a:ext cx="7010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Pleins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&amp; déliés</a:t>
            </a:r>
            <a:endParaRPr lang="en-US" sz="900" dirty="0"/>
          </a:p>
        </p:txBody>
      </p:sp>
      <p:pic>
        <p:nvPicPr>
          <p:cNvPr id="13" name="Image 2" descr="Publication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499360" y="3886200"/>
            <a:ext cx="792480" cy="792480"/>
          </a:xfrm>
          <a:prstGeom prst="rect">
            <a:avLst/>
          </a:prstGeom>
        </p:spPr>
      </p:pic>
      <p:pic>
        <p:nvPicPr>
          <p:cNvPr id="14" name="Image 3" descr="Publicatio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2960" y="4724400"/>
            <a:ext cx="792480" cy="7924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661160" y="4724400"/>
            <a:ext cx="792480" cy="792480"/>
          </a:xfrm>
          <a:prstGeom prst="rect">
            <a:avLst/>
          </a:prstGeom>
          <a:solidFill>
            <a:srgbClr val="2A1216"/>
          </a:solidFill>
          <a:ln/>
        </p:spPr>
      </p:sp>
      <p:pic>
        <p:nvPicPr>
          <p:cNvPr id="16" name="Image 4" descr="monogramme-crem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3809" y="4922520"/>
            <a:ext cx="367182" cy="3962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2499360" y="4724400"/>
            <a:ext cx="792480" cy="792480"/>
          </a:xfrm>
          <a:prstGeom prst="rect">
            <a:avLst/>
          </a:prstGeom>
          <a:solidFill>
            <a:srgbClr val="B23A3F"/>
          </a:solidFill>
          <a:ln/>
        </p:spPr>
      </p:sp>
      <p:sp>
        <p:nvSpPr>
          <p:cNvPr id="18" name="Text 11"/>
          <p:cNvSpPr txBox="1"/>
          <p:nvPr/>
        </p:nvSpPr>
        <p:spPr>
          <a:xfrm>
            <a:off x="2572512" y="4724400"/>
            <a:ext cx="7010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Nouveau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projet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822960" y="5562600"/>
            <a:ext cx="792480" cy="792480"/>
          </a:xfrm>
          <a:prstGeom prst="rect">
            <a:avLst/>
          </a:prstGeom>
          <a:solidFill>
            <a:srgbClr val="F4EBDC"/>
          </a:solidFill>
          <a:ln w="6350">
            <a:solidFill>
              <a:srgbClr val="D9C9AE"/>
            </a:solidFill>
            <a:prstDash val="solid"/>
          </a:ln>
        </p:spPr>
      </p:sp>
      <p:pic>
        <p:nvPicPr>
          <p:cNvPr id="20" name="Image 5" descr="monogramme-bordeau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609" y="5760720"/>
            <a:ext cx="367182" cy="396240"/>
          </a:xfrm>
          <a:prstGeom prst="rect">
            <a:avLst/>
          </a:prstGeom>
        </p:spPr>
      </p:pic>
      <p:pic>
        <p:nvPicPr>
          <p:cNvPr id="21" name="Image 6" descr="Publication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661160" y="5562600"/>
            <a:ext cx="792480" cy="792480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2499360" y="5562600"/>
            <a:ext cx="792480" cy="792480"/>
          </a:xfrm>
          <a:prstGeom prst="rect">
            <a:avLst/>
          </a:prstGeom>
          <a:solidFill>
            <a:srgbClr val="6A1B26"/>
          </a:solidFill>
          <a:ln/>
        </p:spPr>
      </p:sp>
      <p:pic>
        <p:nvPicPr>
          <p:cNvPr id="23" name="Image 7" descr="darwi-crem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8420" y="5869191"/>
            <a:ext cx="594360" cy="179299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3886200" y="2011680"/>
            <a:ext cx="2423160" cy="242316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25" name="Image 8" descr="mono-tonal-bordeaux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953512"/>
            <a:ext cx="1356055" cy="146304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114800" y="2240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E0757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NOUVEAU PROJET</a:t>
            </a:r>
            <a:endParaRPr lang="en-US" sz="650" dirty="0"/>
          </a:p>
        </p:txBody>
      </p:sp>
      <p:sp>
        <p:nvSpPr>
          <p:cNvPr id="27" name="Text 16"/>
          <p:cNvSpPr txBox="1"/>
          <p:nvPr/>
        </p:nvSpPr>
        <p:spPr>
          <a:xfrm>
            <a:off x="4114800" y="2514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identité
</a:t>
            </a:r>
            <a:pPr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dessinée à la main.</a:t>
            </a:r>
            <a:endParaRPr lang="en-US" sz="1500" dirty="0"/>
          </a:p>
        </p:txBody>
      </p:sp>
      <p:pic>
        <p:nvPicPr>
          <p:cNvPr id="28" name="Image 9" descr="darwi-studio-cre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0" y="4050792"/>
            <a:ext cx="1051560" cy="2203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3886200" y="454456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PUBLICATION 1:1</a:t>
            </a:r>
            <a:endParaRPr lang="en-US" sz="750" dirty="0"/>
          </a:p>
        </p:txBody>
      </p:sp>
      <p:sp>
        <p:nvSpPr>
          <p:cNvPr id="30" name="Text 18"/>
          <p:cNvSpPr txBox="1"/>
          <p:nvPr/>
        </p:nvSpPr>
        <p:spPr>
          <a:xfrm>
            <a:off x="3886200" y="4754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Fond plein, titre Fraunces, logo en bas à gauche.</a:t>
            </a:r>
            <a:endParaRPr lang="en-US" sz="850" dirty="0"/>
          </a:p>
        </p:txBody>
      </p:sp>
      <p:sp>
        <p:nvSpPr>
          <p:cNvPr id="31" name="Shape 19"/>
          <p:cNvSpPr/>
          <p:nvPr/>
        </p:nvSpPr>
        <p:spPr>
          <a:xfrm>
            <a:off x="6629400" y="2011680"/>
            <a:ext cx="3511296" cy="502920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9525">
            <a:solidFill>
              <a:srgbClr val="D9C9AE"/>
            </a:solidFill>
            <a:prstDash val="solid"/>
          </a:ln>
        </p:spPr>
      </p:sp>
      <p:pic>
        <p:nvPicPr>
          <p:cNvPr id="32" name="Image 10" descr="avatar-bordeaux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2148840"/>
            <a:ext cx="228600" cy="22860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7086600" y="20116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Darwi Studio — Graphisme</a:t>
            </a:r>
            <a:endParaRPr lang="en-US" sz="850" dirty="0"/>
          </a:p>
        </p:txBody>
      </p:sp>
      <p:sp>
        <p:nvSpPr>
          <p:cNvPr id="34" name="Text 21"/>
          <p:cNvSpPr txBox="1"/>
          <p:nvPr/>
        </p:nvSpPr>
        <p:spPr>
          <a:xfrm>
            <a:off x="6629400" y="2624328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FAVICON</a:t>
            </a:r>
            <a:endParaRPr lang="en-US" sz="750" dirty="0"/>
          </a:p>
        </p:txBody>
      </p:sp>
      <p:sp>
        <p:nvSpPr>
          <p:cNvPr id="35" name="Text 22"/>
          <p:cNvSpPr txBox="1"/>
          <p:nvPr/>
        </p:nvSpPr>
        <p:spPr>
          <a:xfrm>
            <a:off x="6629400" y="2834640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bordeaux, livré en 16, 32, 48 px et .ico.</a:t>
            </a:r>
            <a:endParaRPr lang="en-US" sz="850" dirty="0"/>
          </a:p>
        </p:txBody>
      </p:sp>
      <p:pic>
        <p:nvPicPr>
          <p:cNvPr id="36" name="Image 11" descr="avatar-bordeaux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3474720"/>
            <a:ext cx="822960" cy="822960"/>
          </a:xfrm>
          <a:prstGeom prst="rect">
            <a:avLst/>
          </a:prstGeom>
        </p:spPr>
      </p:pic>
      <p:pic>
        <p:nvPicPr>
          <p:cNvPr id="37" name="Image 12" descr="avatar-bordeaux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89520" y="3749040"/>
            <a:ext cx="548640" cy="548640"/>
          </a:xfrm>
          <a:prstGeom prst="rect">
            <a:avLst/>
          </a:prstGeom>
        </p:spPr>
      </p:pic>
      <p:pic>
        <p:nvPicPr>
          <p:cNvPr id="38" name="Image 13" descr="avatar-bordeaux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75320" y="3931920"/>
            <a:ext cx="365760" cy="365760"/>
          </a:xfrm>
          <a:prstGeom prst="rect">
            <a:avLst/>
          </a:prstGeom>
        </p:spPr>
      </p:pic>
      <p:pic>
        <p:nvPicPr>
          <p:cNvPr id="39" name="Image 14" descr="avatar-bordeaux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78240" y="4069080"/>
            <a:ext cx="228600" cy="22860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629400" y="4434840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AVATAR</a:t>
            </a:r>
            <a:endParaRPr lang="en-US" sz="750" dirty="0"/>
          </a:p>
        </p:txBody>
      </p:sp>
      <p:sp>
        <p:nvSpPr>
          <p:cNvPr id="41" name="Text 24"/>
          <p:cNvSpPr txBox="1"/>
          <p:nvPr/>
        </p:nvSpPr>
        <p:spPr>
          <a:xfrm>
            <a:off x="6629400" y="4645152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Lisible de 400 px à 32 px.</a:t>
            </a:r>
            <a:endParaRPr lang="en-US" sz="850" dirty="0"/>
          </a:p>
        </p:txBody>
      </p:sp>
      <p:sp>
        <p:nvSpPr>
          <p:cNvPr id="42" name="Shape 25"/>
          <p:cNvSpPr/>
          <p:nvPr/>
        </p:nvSpPr>
        <p:spPr>
          <a:xfrm>
            <a:off x="3886200" y="5166360"/>
            <a:ext cx="6254496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9C9AE"/>
            </a:solidFill>
            <a:prstDash val="solid"/>
          </a:ln>
        </p:spPr>
      </p:sp>
      <p:sp>
        <p:nvSpPr>
          <p:cNvPr id="43" name="Text 26"/>
          <p:cNvSpPr txBox="1"/>
          <p:nvPr/>
        </p:nvSpPr>
        <p:spPr>
          <a:xfrm>
            <a:off x="4114800" y="5330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chemeClr val="accent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SIGNATURE E-MAIL</a:t>
            </a:r>
            <a:endParaRPr lang="en-US" sz="750" dirty="0"/>
          </a:p>
        </p:txBody>
      </p:sp>
      <p:pic>
        <p:nvPicPr>
          <p:cNvPr id="44" name="Image 15" descr="monogramme-bordeaux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14800" y="5669280"/>
            <a:ext cx="635508" cy="685800"/>
          </a:xfrm>
          <a:prstGeom prst="rect">
            <a:avLst/>
          </a:prstGeom>
        </p:spPr>
      </p:pic>
      <p:sp>
        <p:nvSpPr>
          <p:cNvPr id="45" name="Shape 27"/>
          <p:cNvSpPr/>
          <p:nvPr/>
        </p:nvSpPr>
        <p:spPr>
          <a:xfrm>
            <a:off x="4937760" y="5669280"/>
            <a:ext cx="0" cy="6858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46" name="Text 28"/>
          <p:cNvSpPr txBox="1"/>
          <p:nvPr/>
        </p:nvSpPr>
        <p:spPr>
          <a:xfrm>
            <a:off x="5120640" y="56692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Prénom Nom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chemeClr val="accent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Graphiste — Darwi Studio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00 00 00 00 · darwistudio.fr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59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chemeClr val="accent5"/>
                </a:solidFill>
                <a:latin typeface="Inter Medium"/>
                <a:ea typeface="Inter Medium"/>
                <a:cs typeface="Inter Medium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Darwi St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1548" y="3157385"/>
            <a:ext cx="4206240" cy="88155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6720840"/>
            <a:ext cx="10689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Charte graphique — Logo, couleurs &amp; typographie —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wi Studio">
  <a:themeElements>
    <a:clrScheme name="Darwi Studio">
      <a:dk1>
        <a:srgbClr val="2A1216"/>
      </a:dk1>
      <a:lt1>
        <a:srgbClr val="FFFFFF"/>
      </a:lt1>
      <a:dk2>
        <a:srgbClr val="6A1B26"/>
      </a:dk2>
      <a:lt2>
        <a:srgbClr val="F4EBDC"/>
      </a:lt2>
      <a:accent1>
        <a:srgbClr val="6A1B26"/>
      </a:accent1>
      <a:accent2>
        <a:srgbClr val="B23A3F"/>
      </a:accent2>
      <a:accent3>
        <a:srgbClr val="D9C9AE"/>
      </a:accent3>
      <a:accent4>
        <a:srgbClr val="2A1216"/>
      </a:accent4>
      <a:accent5>
        <a:srgbClr val="6E5A52"/>
      </a:accent5>
      <a:accent6>
        <a:srgbClr val="8C2A35"/>
      </a:accent6>
      <a:hlink>
        <a:srgbClr val="B23A3F"/>
      </a:hlink>
      <a:folHlink>
        <a:srgbClr val="6A1B26"/>
      </a:folHlink>
    </a:clrScheme>
    <a:fontScheme name="Darwi Studio">
      <a:majorFont>
        <a:latin typeface="Fraunce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Darwi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Darwi Studio — Charte graphique</dc:title>
  <dc:subject>PptxGenJS Presentation</dc:subject>
  <dc:creator>Darwi Studio</dc:creator>
  <cp:lastModifiedBy>Darwi Studio</cp:lastModifiedBy>
  <cp:revision>1</cp:revision>
  <dcterms:created xsi:type="dcterms:W3CDTF">2026-10-30T10:38:55Z</dcterms:created>
  <dcterms:modified xsi:type="dcterms:W3CDTF">2026-10-30T10:38:55Z</dcterms:modified>
</cp:coreProperties>
</file>