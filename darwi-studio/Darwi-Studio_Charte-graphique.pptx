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afba97d-f1f1-4732-cf36-0822b2ac04a4}">
          <p14:sldIdLst>
            <p14:sldId id="256"/>
          </p14:sldIdLst>
        </p14:section>
        <p14:section name="Sommaire" id="{e0357646-2397-5b28-3873-31e183423684}">
          <p14:sldIdLst>
            <p14:sldId id="257"/>
          </p14:sldIdLst>
        </p14:section>
        <p14:section name="01 · Logo" id="{f8b638ea-63f4-92f6-ec60-614ca9c10c9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02 · Couleurs" id="{8c40e0f9-7ef0-d151-7005-4e1c5bbafd7e}">
          <p14:sldIdLst>
            <p14:sldId id="264"/>
            <p14:sldId id="265"/>
            <p14:sldId id="266"/>
            <p14:sldId id="267"/>
          </p14:sldIdLst>
        </p14:section>
        <p14:section name="03 · Typographie" id="{16015e79-a539-7fbe-7b03-1f77ddd44f76}">
          <p14:sldIdLst>
            <p14:sldId id="268"/>
            <p14:sldId id="269"/>
            <p14:sldId id="270"/>
          </p14:sldIdLst>
        </p14:section>
        <p14:section name="04 · Applications" id="{9f754daa-f862-16c2-9d6b-ae33bd6a8758}">
          <p14:sldIdLst>
            <p14:sldId id="271"/>
            <p14:sldId id="272"/>
            <p14:sldId id="273"/>
          </p14:sldIdLst>
        </p14:section>
        <p14:section name="Fin" id="{25b8597a-a13e-abdd-5b90-3de1833c2774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logos/monogramme-bordea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059168"/>
            <a:ext cx="155448" cy="1673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059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DARWI STUDIO — CHARTE GRAPHIQUE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logos/monogramme-cr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059168"/>
            <a:ext cx="155448" cy="1673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7059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DARWI STUDIO — CHARTE GRAPHIQUE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bg2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1.png"/><Relationship Id="rId7" Type="http://schemas.openxmlformats.org/officeDocument/2006/relationships/image" Target="../media/image-8-7.png"/><Relationship Id="rId8" Type="http://schemas.openxmlformats.org/officeDocument/2006/relationships/image" Target="../media/image-8-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2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2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.png"/><Relationship Id="rId12" Type="http://schemas.openxmlformats.org/officeDocument/2006/relationships/image" Target="../media/image-18-1.png"/><Relationship Id="rId13" Type="http://schemas.openxmlformats.org/officeDocument/2006/relationships/image" Target="../media/image-18-1.png"/><Relationship Id="rId14" Type="http://schemas.openxmlformats.org/officeDocument/2006/relationships/image" Target="../media/image-18-1.png"/><Relationship Id="rId15" Type="http://schemas.openxmlformats.org/officeDocument/2006/relationships/image" Target="../media/image-18-1.png"/><Relationship Id="rId16" Type="http://schemas.openxmlformats.org/officeDocument/2006/relationships/image" Target="../media/image-18-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ogramme D en ton sur 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-502920"/>
            <a:ext cx="7966824" cy="8595360"/>
          </a:xfrm>
          <a:prstGeom prst="rect">
            <a:avLst/>
          </a:prstGeom>
        </p:spPr>
      </p:pic>
      <p:pic>
        <p:nvPicPr>
          <p:cNvPr id="3" name="Image 1" descr="Logo Darwi 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600408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160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IDENTITÉ VISUELLE · LOGO, COULEURS &amp; TYPOGRAPHIE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44348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spc="3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CHARTE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spc="3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GRAPHIQUE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720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de référence — usage interne &amp; partenaires · Édition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SOMMAIRE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Le logo, ses couleurs, sa typographie et ses premières applications.</a:t>
            </a:r>
            <a:endParaRPr lang="en-US" sz="2100" dirty="0"/>
          </a:p>
        </p:txBody>
      </p:sp>
      <p:pic>
        <p:nvPicPr>
          <p:cNvPr id="4" name="Image 0" descr="Monogramme Darw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0"/>
            <a:ext cx="135575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685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722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LOGO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9226296" y="722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 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20640" y="1033272"/>
            <a:ext cx="502005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11430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226296" y="1143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1389888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23560" y="1435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Construction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226296" y="1435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23560" y="1682496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23560" y="17282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versions du logo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9226296" y="17282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23560" y="1975104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23560" y="2020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de protection &amp; tailles minimales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9226296" y="2020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23560" y="2267712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2313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qu'il ne faut pas faire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226296" y="2313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23560" y="2560320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20640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23560" y="2898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COULEURS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226296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 09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20640" y="3209544"/>
            <a:ext cx="502005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23560" y="3319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palette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226296" y="3319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623560" y="3566160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2356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Versions couleur &amp; fonds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226296" y="3611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23560" y="3858768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623560" y="3904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sur image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9226296" y="3904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23560" y="4151376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20640" y="4453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23560" y="4489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TYPOGRAPHIE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9226296" y="44897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 13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20640" y="4800600"/>
            <a:ext cx="502005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23560" y="4910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Jost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9226296" y="4910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623560" y="5157216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623560" y="5202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&amp; hiérarchie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9226296" y="5202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623560" y="5449824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120640" y="5751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04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623560" y="5788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9226296" y="5788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p. 16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120640" y="6099048"/>
            <a:ext cx="5020056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623560" y="6208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Papeterie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9226296" y="6208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623560" y="6455664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23560" y="6501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&amp; réseaux sociaux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9226296" y="6501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623560" y="6748272"/>
            <a:ext cx="451713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ogramme D en ton sur 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457200"/>
            <a:ext cx="5847988" cy="6309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bg2">
                    <a:alpha val="45000"/>
                  </a:schemeClr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206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4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LOGO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monogramme, ses versions et les règles qui le protègent.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669280"/>
            <a:ext cx="70043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669280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CONCEPT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358798" y="5669280"/>
            <a:ext cx="105704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58798" y="5669280"/>
            <a:ext cx="1057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CONSTRUCTION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525573" y="5669280"/>
            <a:ext cx="77175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25573" y="5669280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VERSIONS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407054" y="5669280"/>
            <a:ext cx="148498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07054" y="5669280"/>
            <a:ext cx="1484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ZONE DE PROTECTION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001768" y="5669280"/>
            <a:ext cx="843077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01768" y="5669280"/>
            <a:ext cx="8430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INTERDITS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bg2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40280" cy="30175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3" name="Image 0" descr="Croquis original du D au cray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99" y="777240"/>
            <a:ext cx="2128161" cy="2286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291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 CROQUIS</a:t>
            </a:r>
            <a:endParaRPr lang="en-US" sz="700" dirty="0"/>
          </a:p>
        </p:txBody>
      </p:sp>
      <p:sp>
        <p:nvSpPr>
          <p:cNvPr id="5" name="Text 2"/>
          <p:cNvSpPr txBox="1"/>
          <p:nvPr/>
        </p:nvSpPr>
        <p:spPr>
          <a:xfrm>
            <a:off x="278892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54680" y="548640"/>
            <a:ext cx="2240280" cy="301752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7" name="Image 1" descr="Monogramme vectori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109" y="960120"/>
            <a:ext cx="1779422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37560" y="3291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 TRACÉ VECTORIEL</a:t>
            </a:r>
            <a:endParaRPr lang="en-US" sz="7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685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— LOGO · CONCEPT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9144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D TRACÉ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À LA MAIN.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214884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monogramme est né d'un croquis au crayon, redessiné en un seul tracé vectoriel. Le D de Darwi garde la vibration du geste : celle d'un studio qui dessine avant d'assembler.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3014472" cy="27889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3" name="Image 2" descr="Monogramme — le ges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1143914" cy="12344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480142" y="4555541"/>
            <a:ext cx="585216" cy="585216"/>
          </a:xfrm>
          <a:prstGeom prst="ellipse">
            <a:avLst/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15" name="Text 10"/>
          <p:cNvSpPr txBox="1"/>
          <p:nvPr/>
        </p:nvSpPr>
        <p:spPr>
          <a:xfrm>
            <a:off x="822960" y="5715000"/>
            <a:ext cx="2465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GESTE</a:t>
            </a:r>
            <a:endParaRPr lang="en-US" sz="85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5961888"/>
            <a:ext cx="246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Pleins et déliés : l'épaisseur varie comme sous la pression d'un pinceau. Le trait est vivant, jamais mécanique.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837432" y="3931920"/>
            <a:ext cx="3014472" cy="27889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8" name="Image 3" descr="Monogramme — l'ouver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752" y="4206240"/>
            <a:ext cx="1143914" cy="12344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148646" y="5030114"/>
            <a:ext cx="475488" cy="475488"/>
          </a:xfrm>
          <a:prstGeom prst="ellipse">
            <a:avLst/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20" name="Text 14"/>
          <p:cNvSpPr txBox="1"/>
          <p:nvPr/>
        </p:nvSpPr>
        <p:spPr>
          <a:xfrm>
            <a:off x="4111752" y="5715000"/>
            <a:ext cx="2465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L'OUVERTURE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4111752" y="5961888"/>
            <a:ext cx="246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contre-poinçon s'ouvre en bas à gauche : la lettre ne se referme pas, les idées circulent.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126224" y="3931920"/>
            <a:ext cx="3014472" cy="27889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3" name="Image 4" descr="Monogramme — les deux point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544" y="4206240"/>
            <a:ext cx="1143914" cy="12344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366426" y="4097426"/>
            <a:ext cx="365760" cy="365760"/>
          </a:xfrm>
          <a:prstGeom prst="ellipse">
            <a:avLst/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7263437" y="5196078"/>
            <a:ext cx="365760" cy="365760"/>
          </a:xfrm>
          <a:prstGeom prst="ellipse">
            <a:avLst/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26" name="Text 19"/>
          <p:cNvSpPr txBox="1"/>
          <p:nvPr/>
        </p:nvSpPr>
        <p:spPr>
          <a:xfrm>
            <a:off x="7400544" y="5715000"/>
            <a:ext cx="2465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LES DEUX POINTES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7400544" y="5961888"/>
            <a:ext cx="246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hampe et la queue s'étirent en pointes effilées : la précision du trait et l'élan vers l'avant.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— LOGO · CONSTRUCTION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CONSTRUCTION.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monogramme et le nom sont deux éléments distincts, assemblés selon des proportions fixes. Tout se mesure en X : un quart de la hauteur du monogramme.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206240" cy="452628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6" name="Image 0" descr="Darwi Studio empil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303" y="2514600"/>
            <a:ext cx="2512115" cy="30186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1560" y="2514600"/>
            <a:ext cx="0" cy="1635034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  <a:headEnd type="none"/>
          </a:ln>
        </p:spPr>
      </p:sp>
      <p:sp>
        <p:nvSpPr>
          <p:cNvPr id="8" name="Shape 5"/>
          <p:cNvSpPr/>
          <p:nvPr/>
        </p:nvSpPr>
        <p:spPr>
          <a:xfrm>
            <a:off x="996696" y="2514600"/>
            <a:ext cx="10972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696" y="4149634"/>
            <a:ext cx="10972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249821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4X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051560" y="4149634"/>
            <a:ext cx="0" cy="408758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  <a:headEnd type="none"/>
          </a:ln>
        </p:spPr>
      </p:sp>
      <p:sp>
        <p:nvSpPr>
          <p:cNvPr id="12" name="Shape 9"/>
          <p:cNvSpPr/>
          <p:nvPr/>
        </p:nvSpPr>
        <p:spPr>
          <a:xfrm>
            <a:off x="996696" y="4149634"/>
            <a:ext cx="10972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4558392"/>
            <a:ext cx="10972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271717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51560" y="4558392"/>
            <a:ext cx="0" cy="49051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  <a:headEnd type="none"/>
          </a:ln>
        </p:spPr>
      </p:sp>
      <p:sp>
        <p:nvSpPr>
          <p:cNvPr id="16" name="Shape 13"/>
          <p:cNvSpPr/>
          <p:nvPr/>
        </p:nvSpPr>
        <p:spPr>
          <a:xfrm>
            <a:off x="996696" y="4558392"/>
            <a:ext cx="10972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96696" y="5048902"/>
            <a:ext cx="10972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721351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1,2X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234440" y="2514600"/>
            <a:ext cx="329184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234440" y="4149634"/>
            <a:ext cx="329184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234440" y="4558392"/>
            <a:ext cx="329184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234440" y="5048902"/>
            <a:ext cx="329184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234440" y="5529602"/>
            <a:ext cx="3291840" cy="0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777240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VERSION EMPILÉE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983480" y="2057400"/>
            <a:ext cx="3200400" cy="21488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6" name="Image 1" descr="Darwi Studio 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633051"/>
            <a:ext cx="2377440" cy="81501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150180" y="2495891"/>
            <a:ext cx="0" cy="1088978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8" name="Shape 24"/>
          <p:cNvSpPr/>
          <p:nvPr/>
        </p:nvSpPr>
        <p:spPr>
          <a:xfrm>
            <a:off x="6353845" y="2495891"/>
            <a:ext cx="0" cy="1088978"/>
          </a:xfrm>
          <a:prstGeom prst="line">
            <a:avLst/>
          </a:prstGeom>
          <a:noFill/>
          <a:ln w="6350">
            <a:solidFill>
              <a:schemeClr val="accent2"/>
            </a:solidFill>
            <a:prstDash val="dash"/>
          </a:ln>
        </p:spPr>
      </p:sp>
      <p:sp>
        <p:nvSpPr>
          <p:cNvPr id="29" name="Text 25"/>
          <p:cNvSpPr txBox="1"/>
          <p:nvPr/>
        </p:nvSpPr>
        <p:spPr>
          <a:xfrm>
            <a:off x="6150180" y="2331299"/>
            <a:ext cx="20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5212080" y="3794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VERSION HORIZONTALE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4983480" y="4434840"/>
            <a:ext cx="3200400" cy="21488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2" name="Image 2" descr="Monogram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4686300"/>
            <a:ext cx="1271016" cy="13716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212080" y="6172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MONOGRAMME SEUL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8458200" y="20574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 MONOGRAMME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8458200" y="2304288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Tracé original, vectorisé. Il ne se redessine pas et ne se remplace jamais par un D typographique.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8458200" y="3410712"/>
            <a:ext cx="168249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458200" y="35935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 DARWI »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8458200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Jost Regular en capitales, approche +16 %. Hauteur de capitale = 1,2X. Centré sous le monogramme, à X de distance.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458200" y="4946904"/>
            <a:ext cx="168249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58200" y="51297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 STUDIO »</a:t>
            </a:r>
            <a:endParaRPr lang="en-US" sz="850" dirty="0"/>
          </a:p>
        </p:txBody>
      </p:sp>
      <p:sp>
        <p:nvSpPr>
          <p:cNvPr id="41" name="Text 36"/>
          <p:cNvSpPr txBox="1"/>
          <p:nvPr/>
        </p:nvSpPr>
        <p:spPr>
          <a:xfrm>
            <a:off x="8458200" y="5376672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Jost Regular en capitales, à 36 % de la hauteur de DARWI, justifié exactement sur sa largeur.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458200" y="6483096"/>
            <a:ext cx="168249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— LOGO · VERSIONS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VERSIONS DU LOGO.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monogramme seul, associé à « Darwi » ou à « Darwi Studio ». Les proportions entre le monogramme et le nom ne changent jamais.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83280" cy="47091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6" name="Image 0" descr="Darwi Studio empil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042" y="2651760"/>
            <a:ext cx="1978476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61539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 DARWI STUDIO » — VERSION PRINCIPALE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63825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Couvertures, affiches, signalétique, textile.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160520" y="2011680"/>
            <a:ext cx="5980176" cy="210312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0" name="Image 1" descr="Darwi Studio 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270398"/>
            <a:ext cx="3291840" cy="11284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3547872"/>
            <a:ext cx="5614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 DARWI STUDIO » — HORIZONTALE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3776472"/>
            <a:ext cx="5614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web, en-têtes, signatures e-mail, documents, bannières.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160520" y="4343400"/>
            <a:ext cx="1840992" cy="23774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4" name="Image 2" descr="Darwi empil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99" y="4594860"/>
            <a:ext cx="1301434" cy="1325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89120" y="6153912"/>
            <a:ext cx="147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« DARWI »</a:t>
            </a:r>
            <a:endParaRPr lang="en-US" sz="750" dirty="0"/>
          </a:p>
        </p:txBody>
      </p:sp>
      <p:sp>
        <p:nvSpPr>
          <p:cNvPr id="16" name="Text 11"/>
          <p:cNvSpPr txBox="1"/>
          <p:nvPr/>
        </p:nvSpPr>
        <p:spPr>
          <a:xfrm>
            <a:off x="4389120" y="6382512"/>
            <a:ext cx="147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 courte. Existe aussi en horizontal.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6230112" y="4343400"/>
            <a:ext cx="1840992" cy="23774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8" name="Image 3" descr="Monogram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202" y="4709160"/>
            <a:ext cx="1016813" cy="10972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58712" y="6153912"/>
            <a:ext cx="147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MONOGRAMME</a:t>
            </a:r>
            <a:endParaRPr lang="en-US" sz="750" dirty="0"/>
          </a:p>
        </p:txBody>
      </p:sp>
      <p:sp>
        <p:nvSpPr>
          <p:cNvPr id="20" name="Text 14"/>
          <p:cNvSpPr txBox="1"/>
          <p:nvPr/>
        </p:nvSpPr>
        <p:spPr>
          <a:xfrm>
            <a:off x="6458712" y="6382512"/>
            <a:ext cx="147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Tampon, filigrane, gaufrage, broderie.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8299704" y="4343400"/>
            <a:ext cx="1840992" cy="23774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2" name="Image 4" descr="Avat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840" y="4663440"/>
            <a:ext cx="1188720" cy="11887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28304" y="6153912"/>
            <a:ext cx="147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AVATAR</a:t>
            </a:r>
            <a:endParaRPr lang="en-US" sz="750" dirty="0"/>
          </a:p>
        </p:txBody>
      </p:sp>
      <p:sp>
        <p:nvSpPr>
          <p:cNvPr id="24" name="Text 17"/>
          <p:cNvSpPr txBox="1"/>
          <p:nvPr/>
        </p:nvSpPr>
        <p:spPr>
          <a:xfrm>
            <a:off x="8528304" y="6382512"/>
            <a:ext cx="147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Instagram, LinkedIn, Behance, favicon.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— LOGO · ZONE DE PROTECTION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ZONE DE PROTECTION &amp; TAILLES MINIMALES.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27432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961710" y="1822054"/>
            <a:ext cx="1917061" cy="2208052"/>
          </a:xfrm>
          <a:prstGeom prst="rect">
            <a:avLst/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dash"/>
          </a:ln>
        </p:spPr>
      </p:sp>
      <p:pic>
        <p:nvPicPr>
          <p:cNvPr id="6" name="Image 0" descr="Zone de protection, version empilé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055" y="2057400"/>
            <a:ext cx="1446369" cy="1737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2223" y="2834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1848287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566160" y="1554480"/>
            <a:ext cx="6574536" cy="27432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5212425" y="2205990"/>
            <a:ext cx="3282007" cy="1440180"/>
          </a:xfrm>
          <a:prstGeom prst="rect">
            <a:avLst/>
          </a:prstGeom>
          <a:solidFill>
            <a:schemeClr val="accent2">
              <a:alpha val="10000"/>
            </a:schemeClr>
          </a:solidFill>
          <a:ln w="9525">
            <a:solidFill>
              <a:schemeClr val="accent2"/>
            </a:solidFill>
            <a:prstDash val="dash"/>
          </a:ln>
        </p:spPr>
      </p:sp>
      <p:pic>
        <p:nvPicPr>
          <p:cNvPr id="11" name="Image 1" descr="Zone de protection, version horizont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455" y="2446020"/>
            <a:ext cx="2801947" cy="9601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95280" y="2834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6716268" y="2234565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un quart de la hauteur du monogramme.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texte, image ou bord de page ne doit entrer dans cette zone. Elle grandit et rétrécit avec le logo : c'est une proportion, jamais une distance fixe.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486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Sous les tailles minimales, « STUDIO » devient illisible : passez à « Darwi » ou au monogramme seul. Sous 24 px, utilisez l'avatar.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4526280"/>
          <a:ext cx="4654296" cy="914400"/>
        </p:xfrm>
        <a:graphic>
          <a:graphicData uri="http://schemas.openxmlformats.org/drawingml/2006/table">
            <a:tbl>
              <a:tblPr/>
              <a:tblGrid>
                <a:gridCol w="2140976"/>
                <a:gridCol w="1396289"/>
                <a:gridCol w="111703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spc="200" kern="0" dirty="0">
                          <a:solidFill>
                            <a:schemeClr val="accent1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VERSION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6A1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spc="200" kern="0" dirty="0">
                          <a:solidFill>
                            <a:schemeClr val="accent1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ÉCRAN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6A1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spc="200" kern="0" dirty="0">
                          <a:solidFill>
                            <a:schemeClr val="accent1"/>
                          </a:solidFill>
                          <a:latin typeface="Inter SemiBold" pitchFamily="34" charset="0"/>
                          <a:ea typeface="Inter SemiBold" pitchFamily="34" charset="-122"/>
                          <a:cs typeface="Inter SemiBold" pitchFamily="34" charset="-120"/>
                        </a:rPr>
                        <a:t>IMPRESSION</a:t>
                      </a:r>
                      <a:endParaRPr lang="en-US" sz="750" dirty="0">
                        <a:latin typeface="Inter SemiBold" charset="0"/>
                        <a:ea typeface="Inter SemiBold" charset="0"/>
                        <a:cs typeface="Inter SemiBold" charset="0"/>
                      </a:endParaRPr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6A1B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Darwi Studio — empilée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90 px de large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22 mm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Darwi Studio — horizontale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150 px de large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38 mm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Darwi — empilée / horizontale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70 / 110 px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18 / 28 mm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Monogramme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24 px de haut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 mm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Avatar / favicon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 px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C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01 — LOGO · INTERDITS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 QU'IL NE FAUT PAS FAIRE.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 est un fichier, pas un dessin à refaire. Toute modification, même légère, affaiblit la reconnaissance.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6" name="Image 0" descr="Logo déform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1586484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46020" y="210312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446020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6908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DÉFORMER, ÉTIRER OU ÉCRASER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003804" y="201168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1" name="Image 1" descr="Logo recolor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404" y="2577192"/>
            <a:ext cx="1769364" cy="606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01184" y="210312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901184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003804" y="406908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CHANGER LES COULEURS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5458968" y="201168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6" name="Image 2" descr="Logo pivot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840000">
            <a:off x="5733288" y="2592753"/>
            <a:ext cx="1677924" cy="57521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56348" y="210312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356348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5458968" y="406908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PIVOTER OU INCLINER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7914132" y="201168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1" name="Image 3" descr="Logo avec omb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577080"/>
            <a:ext cx="1769364" cy="606560"/>
          </a:xfrm>
          <a:prstGeom prst="rect">
            <a:avLst/>
          </a:prstGeom>
          <a:effectLst>
            <a:outerShdw sx="100000" sy="100000" kx="0" ky="0" algn="bl" rotWithShape="0" blurRad="50800" dist="38100" dir="2700000">
              <a:srgbClr val="000000">
                <a:alpha val="55000"/>
              </a:srgbClr>
            </a:outerShdw>
          </a:effectLst>
        </p:spPr>
      </p:pic>
      <p:sp>
        <p:nvSpPr>
          <p:cNvPr id="22" name="Shape 16"/>
          <p:cNvSpPr/>
          <p:nvPr/>
        </p:nvSpPr>
        <p:spPr>
          <a:xfrm>
            <a:off x="9811512" y="210312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811512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7914132" y="406908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AJOUTER OMBRES OU EFFETS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548640" y="448056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26" name="Image 4" descr="Éléments réorganisé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61740"/>
            <a:ext cx="1677924" cy="575001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2446020" y="457200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46020" y="4576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53796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RÉORGANISER LES ÉLÉMENTS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3003804" y="448056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3095244" y="5074920"/>
            <a:ext cx="2043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Darwi Studio</a:t>
            </a:r>
            <a:endParaRPr lang="en-US" sz="2200" dirty="0"/>
          </a:p>
        </p:txBody>
      </p:sp>
      <p:sp>
        <p:nvSpPr>
          <p:cNvPr id="32" name="Shape 25"/>
          <p:cNvSpPr/>
          <p:nvPr/>
        </p:nvSpPr>
        <p:spPr>
          <a:xfrm>
            <a:off x="4901184" y="457200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901184" y="4576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3003804" y="653796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RETAPER LE NOM DANS UNE AUTRE POLICE</a:t>
            </a:r>
            <a:endParaRPr lang="en-US" sz="700" dirty="0"/>
          </a:p>
        </p:txBody>
      </p:sp>
      <p:sp>
        <p:nvSpPr>
          <p:cNvPr id="35" name="Shape 28"/>
          <p:cNvSpPr/>
          <p:nvPr/>
        </p:nvSpPr>
        <p:spPr>
          <a:xfrm>
            <a:off x="5458968" y="448056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6" name="Shape 29"/>
          <p:cNvSpPr/>
          <p:nvPr/>
        </p:nvSpPr>
        <p:spPr>
          <a:xfrm>
            <a:off x="5458968" y="4480560"/>
            <a:ext cx="2226564" cy="196596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7" name="Image 5" descr="Logo peu contrast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5045960"/>
            <a:ext cx="1769364" cy="60656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356348" y="457200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7356348" y="4576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5458968" y="653796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CONTRASTE INSUFFISANT</a:t>
            </a:r>
            <a:endParaRPr lang="en-US" sz="700" dirty="0"/>
          </a:p>
        </p:txBody>
      </p:sp>
      <p:sp>
        <p:nvSpPr>
          <p:cNvPr id="41" name="Shape 33"/>
          <p:cNvSpPr/>
          <p:nvPr/>
        </p:nvSpPr>
        <p:spPr>
          <a:xfrm>
            <a:off x="7914132" y="4480560"/>
            <a:ext cx="2226564" cy="196596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2" name="Image 6" descr="Fond chargé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4480560"/>
            <a:ext cx="2226564" cy="1965960"/>
          </a:xfrm>
          <a:prstGeom prst="rect">
            <a:avLst/>
          </a:prstGeom>
        </p:spPr>
      </p:pic>
      <p:pic>
        <p:nvPicPr>
          <p:cNvPr id="43" name="Image 7" descr="Logo sur fond charg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732" y="5045960"/>
            <a:ext cx="1769364" cy="606560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9811512" y="457200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9811512" y="4576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7914132" y="6537960"/>
            <a:ext cx="2226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FOND CHARGÉ SANS CARTOUCHE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ogramme D en ton sur 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457200"/>
            <a:ext cx="5847988" cy="6309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bg2">
                    <a:alpha val="45000"/>
                  </a:schemeClr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206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4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COULEURS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bordeaux profond, un crème chaleureux, et une touche de carmin.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669280"/>
            <a:ext cx="70043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669280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PALETTE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358798" y="5669280"/>
            <a:ext cx="134233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58798" y="5669280"/>
            <a:ext cx="1342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VERSIONS COULEUR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810866" y="5669280"/>
            <a:ext cx="119969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10866" y="5669280"/>
            <a:ext cx="1199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 SUR IMAGE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bg2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— COULEURS · PALETTE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PALETTE.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bordeaux et le crème portent la marque. Le carmin signe : utilisé avec parcimonie, il garde toute sa force.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86738" cy="1417320"/>
          </a:xfrm>
          <a:prstGeom prst="rect">
            <a:avLst/>
          </a:prstGeom>
          <a:solidFill>
            <a:srgbClr val="6A1B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1512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2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PRINCIPALE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1512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Bordeaux Darwi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HEX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493008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#6A1B26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39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RVB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39896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 · 27 · 38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86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CMJN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86784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· 95 · 70 · 45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PANTONE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233672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188 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9970" y="1965960"/>
            <a:ext cx="1786738" cy="1417320"/>
          </a:xfrm>
          <a:prstGeom prst="rect">
            <a:avLst/>
          </a:prstGeom>
          <a:solidFill>
            <a:srgbClr val="F4EBDC"/>
          </a:solidFill>
          <a:ln w="9525">
            <a:solidFill>
              <a:srgbClr val="D9C9A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37130" y="2103120"/>
            <a:ext cx="1512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200" kern="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PRINCIPALE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2637130" y="2971800"/>
            <a:ext cx="1512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Crème Atelier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499970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HEX</a:t>
            </a:r>
            <a:endParaRPr lang="en-US" sz="650" dirty="0"/>
          </a:p>
        </p:txBody>
      </p:sp>
      <p:sp>
        <p:nvSpPr>
          <p:cNvPr id="20" name="Text 18"/>
          <p:cNvSpPr txBox="1"/>
          <p:nvPr/>
        </p:nvSpPr>
        <p:spPr>
          <a:xfrm>
            <a:off x="3094330" y="3493008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#F4EBDC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499970" y="3739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RVB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3094330" y="3739896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244 · 235 · 220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499970" y="3986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CMJN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094330" y="3986784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7 · 14 · 0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499970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PANTONE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3094330" y="4233672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7527 C à 30 %*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51299" y="1965960"/>
            <a:ext cx="1786738" cy="1417320"/>
          </a:xfrm>
          <a:prstGeom prst="rect">
            <a:avLst/>
          </a:prstGeom>
          <a:solidFill>
            <a:srgbClr val="B23A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88459" y="2103120"/>
            <a:ext cx="1512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2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ACCENT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4588459" y="2971800"/>
            <a:ext cx="1512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Carmin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51299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HEX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5045659" y="3493008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#B23A3F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451299" y="3739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RVB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5045659" y="3739896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 · 58 · 63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451299" y="3986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CMJN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045659" y="3986784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88 · 72 · 8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451299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PANTONE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5045659" y="4233672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1805 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2629" y="1965960"/>
            <a:ext cx="1786738" cy="1417320"/>
          </a:xfrm>
          <a:prstGeom prst="rect">
            <a:avLst/>
          </a:prstGeom>
          <a:solidFill>
            <a:srgbClr val="2A121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39789" y="2103120"/>
            <a:ext cx="1512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2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SECONDAIRE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6539789" y="2971800"/>
            <a:ext cx="1512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Encre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6402629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HEX</a:t>
            </a:r>
            <a:endParaRPr lang="en-US" sz="650" dirty="0"/>
          </a:p>
        </p:txBody>
      </p:sp>
      <p:sp>
        <p:nvSpPr>
          <p:cNvPr id="42" name="Text 40"/>
          <p:cNvSpPr txBox="1"/>
          <p:nvPr/>
        </p:nvSpPr>
        <p:spPr>
          <a:xfrm>
            <a:off x="6996989" y="3493008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#2A1216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6402629" y="3739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RVB</a:t>
            </a:r>
            <a:endParaRPr lang="en-US" sz="650" dirty="0"/>
          </a:p>
        </p:txBody>
      </p:sp>
      <p:sp>
        <p:nvSpPr>
          <p:cNvPr id="44" name="Text 42"/>
          <p:cNvSpPr txBox="1"/>
          <p:nvPr/>
        </p:nvSpPr>
        <p:spPr>
          <a:xfrm>
            <a:off x="6996989" y="3739896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· 18 · 22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402629" y="3986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CMJN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6996989" y="3986784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· 80 · 65 · 75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402629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PANTONE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6996989" y="4233672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4975 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353958" y="1965960"/>
            <a:ext cx="1786738" cy="1417320"/>
          </a:xfrm>
          <a:prstGeom prst="rect">
            <a:avLst/>
          </a:prstGeom>
          <a:solidFill>
            <a:srgbClr val="D9C9A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491118" y="2103120"/>
            <a:ext cx="1512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200" kern="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SECONDAIRE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8491118" y="2971800"/>
            <a:ext cx="1512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Grège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353958" y="3493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HEX</a:t>
            </a:r>
            <a:endParaRPr lang="en-US" sz="650" dirty="0"/>
          </a:p>
        </p:txBody>
      </p:sp>
      <p:sp>
        <p:nvSpPr>
          <p:cNvPr id="53" name="Text 51"/>
          <p:cNvSpPr txBox="1"/>
          <p:nvPr/>
        </p:nvSpPr>
        <p:spPr>
          <a:xfrm>
            <a:off x="8948318" y="3493008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#D9C9AE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353958" y="37398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RVB</a:t>
            </a:r>
            <a:endParaRPr lang="en-US" sz="650" dirty="0"/>
          </a:p>
        </p:txBody>
      </p:sp>
      <p:sp>
        <p:nvSpPr>
          <p:cNvPr id="55" name="Text 53"/>
          <p:cNvSpPr txBox="1"/>
          <p:nvPr/>
        </p:nvSpPr>
        <p:spPr>
          <a:xfrm>
            <a:off x="8948318" y="3739896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217 · 201 · 174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8353958" y="3986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CMJN</a:t>
            </a:r>
            <a:endParaRPr lang="en-US" sz="650" dirty="0"/>
          </a:p>
        </p:txBody>
      </p:sp>
      <p:sp>
        <p:nvSpPr>
          <p:cNvPr id="57" name="Text 55"/>
          <p:cNvSpPr txBox="1"/>
          <p:nvPr/>
        </p:nvSpPr>
        <p:spPr>
          <a:xfrm>
            <a:off x="8948318" y="3986784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20 · 33 · 2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8353958" y="4233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5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PANTONE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8948318" y="4233672"/>
            <a:ext cx="11923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7501 C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" y="4983480"/>
            <a:ext cx="2274570" cy="685800"/>
          </a:xfrm>
          <a:prstGeom prst="rect">
            <a:avLst/>
          </a:prstGeom>
          <a:solidFill>
            <a:srgbClr val="6A1B2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85800" y="4983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EBD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2400" dirty="0"/>
          </a:p>
        </p:txBody>
      </p:sp>
      <p:sp>
        <p:nvSpPr>
          <p:cNvPr id="62" name="Text 60"/>
          <p:cNvSpPr txBox="1"/>
          <p:nvPr/>
        </p:nvSpPr>
        <p:spPr>
          <a:xfrm>
            <a:off x="1417320" y="5111496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Crème sur Bordeaux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1417320" y="5349240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9,9:1 · AAA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5742432"/>
            <a:ext cx="227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Signature, couvertures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987802" y="4983480"/>
            <a:ext cx="2274570" cy="685800"/>
          </a:xfrm>
          <a:prstGeom prst="rect">
            <a:avLst/>
          </a:prstGeom>
          <a:solidFill>
            <a:srgbClr val="F4EBDC"/>
          </a:solidFill>
          <a:ln w="9525">
            <a:solidFill>
              <a:srgbClr val="D9C9A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124962" y="4983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A1B26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2400" dirty="0"/>
          </a:p>
        </p:txBody>
      </p:sp>
      <p:sp>
        <p:nvSpPr>
          <p:cNvPr id="67" name="Text 65"/>
          <p:cNvSpPr txBox="1"/>
          <p:nvPr/>
        </p:nvSpPr>
        <p:spPr>
          <a:xfrm>
            <a:off x="3856482" y="5111496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Bordeaux sur Crème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3856482" y="5349240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9,9:1 · AAA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2987802" y="5742432"/>
            <a:ext cx="227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principale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26964" y="4983480"/>
            <a:ext cx="2274570" cy="685800"/>
          </a:xfrm>
          <a:prstGeom prst="rect">
            <a:avLst/>
          </a:prstGeom>
          <a:solidFill>
            <a:srgbClr val="F4EBDC"/>
          </a:solidFill>
          <a:ln w="9525">
            <a:solidFill>
              <a:srgbClr val="D9C9A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564124" y="4983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23A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2400" dirty="0"/>
          </a:p>
        </p:txBody>
      </p:sp>
      <p:sp>
        <p:nvSpPr>
          <p:cNvPr id="72" name="Text 70"/>
          <p:cNvSpPr txBox="1"/>
          <p:nvPr/>
        </p:nvSpPr>
        <p:spPr>
          <a:xfrm>
            <a:off x="6295644" y="5111496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Carmin sur Crème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6295644" y="5349240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5,0:1 · AA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426964" y="5742432"/>
            <a:ext cx="227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Accents, chiffres clés, liens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866126" y="4983480"/>
            <a:ext cx="2274570" cy="685800"/>
          </a:xfrm>
          <a:prstGeom prst="rect">
            <a:avLst/>
          </a:prstGeom>
          <a:solidFill>
            <a:srgbClr val="2A121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003286" y="4983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A1B26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2400" dirty="0"/>
          </a:p>
        </p:txBody>
      </p:sp>
      <p:sp>
        <p:nvSpPr>
          <p:cNvPr id="77" name="Text 75"/>
          <p:cNvSpPr txBox="1"/>
          <p:nvPr/>
        </p:nvSpPr>
        <p:spPr>
          <a:xfrm>
            <a:off x="8734806" y="5111496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Bordeaux sur Encre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8734806" y="5349240"/>
            <a:ext cx="1360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1,5:1 · insuffisant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7866126" y="5742432"/>
            <a:ext cx="22745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proscrire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829800" y="5056632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9829800" y="50612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548640" y="6172200"/>
            <a:ext cx="9592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Le crème s'obtient idéalement par le papier (offset ivoire non couché) plutôt que par l'encre. Les références Pantone sont les plus proches : validez-les sur nuancier imprimé avant toute production.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— COULEURS · VERSIONS COULEUR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VERSIONS COULEUR &amp; FONDS.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 vit d'abord en bordeaux sur crème. Les autres versions s'adaptent au support, jamais à l'envie du moment.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044952" cy="1554480"/>
          </a:xfrm>
          <a:prstGeom prst="rect">
            <a:avLst/>
          </a:prstGeom>
          <a:solidFill>
            <a:srgbClr val="F4EBDC"/>
          </a:solidFill>
          <a:ln w="9525">
            <a:solidFill>
              <a:srgbClr val="D9C9AE"/>
            </a:solidFill>
            <a:prstDash val="solid"/>
          </a:ln>
        </p:spPr>
      </p:sp>
      <p:pic>
        <p:nvPicPr>
          <p:cNvPr id="6" name="Image 0" descr="Logo bordeaux sur crè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6497" y="2194560"/>
            <a:ext cx="989238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64408" y="210312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64408" y="21076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5760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BORDEAUX SUR CRÈME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86791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principale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22192" y="2011680"/>
            <a:ext cx="3044952" cy="1554480"/>
          </a:xfrm>
          <a:prstGeom prst="rect">
            <a:avLst/>
          </a:prstGeom>
          <a:solidFill>
            <a:srgbClr val="6A1B26"/>
          </a:solidFill>
          <a:ln/>
        </p:spPr>
      </p:sp>
      <p:pic>
        <p:nvPicPr>
          <p:cNvPr id="12" name="Image 1" descr="Logo crème sur bordeau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049" y="2194560"/>
            <a:ext cx="989238" cy="1188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822192" y="365760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CRÈME SUR BORDEAUX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3822192" y="386791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inversée — couvertures, signalétique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095744" y="2011680"/>
            <a:ext cx="3044952" cy="1554480"/>
          </a:xfrm>
          <a:prstGeom prst="rect">
            <a:avLst/>
          </a:prstGeom>
          <a:solidFill>
            <a:srgbClr val="2A1216"/>
          </a:solidFill>
          <a:ln/>
        </p:spPr>
      </p:sp>
      <p:pic>
        <p:nvPicPr>
          <p:cNvPr id="16" name="Image 2" descr="Logo crème sur enc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601" y="2194560"/>
            <a:ext cx="989238" cy="11887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95744" y="365760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CRÈME SUR ENCRE</a:t>
            </a:r>
            <a:endParaRPr lang="en-US" sz="750" dirty="0"/>
          </a:p>
        </p:txBody>
      </p:sp>
      <p:sp>
        <p:nvSpPr>
          <p:cNvPr id="18" name="Text 13"/>
          <p:cNvSpPr txBox="1"/>
          <p:nvPr/>
        </p:nvSpPr>
        <p:spPr>
          <a:xfrm>
            <a:off x="7095744" y="3867912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nocturne — supports premium, écrans sombres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48640" y="4224528"/>
            <a:ext cx="30449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9AE"/>
            </a:solidFill>
            <a:prstDash val="solid"/>
          </a:ln>
        </p:spPr>
      </p:sp>
      <p:pic>
        <p:nvPicPr>
          <p:cNvPr id="20" name="Image 3" descr="Logo bordeaux sur blan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97" y="4407408"/>
            <a:ext cx="989238" cy="11887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5870448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BORDEAUX SUR BLANC</a:t>
            </a:r>
            <a:endParaRPr lang="en-US" sz="7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08076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bureautiques, factures, devis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3822192" y="4224528"/>
            <a:ext cx="304495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9AE"/>
            </a:solidFill>
            <a:prstDash val="solid"/>
          </a:ln>
        </p:spPr>
      </p:sp>
      <p:pic>
        <p:nvPicPr>
          <p:cNvPr id="24" name="Image 4" descr="Logo noir sur blan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049" y="4407408"/>
            <a:ext cx="989238" cy="11887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822192" y="5870448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NOIR SUR BLANC</a:t>
            </a:r>
            <a:endParaRPr lang="en-US" sz="750" dirty="0"/>
          </a:p>
        </p:txBody>
      </p:sp>
      <p:sp>
        <p:nvSpPr>
          <p:cNvPr id="26" name="Text 19"/>
          <p:cNvSpPr txBox="1"/>
          <p:nvPr/>
        </p:nvSpPr>
        <p:spPr>
          <a:xfrm>
            <a:off x="3822192" y="608076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— tampon, fax, gravure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7095744" y="4224528"/>
            <a:ext cx="3044952" cy="155448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28" name="Image 5" descr="Logo blanc sur no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601" y="4407408"/>
            <a:ext cx="989238" cy="11887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095744" y="5870448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BLANC SUR NOIR</a:t>
            </a:r>
            <a:endParaRPr lang="en-US" sz="750" dirty="0"/>
          </a:p>
        </p:txBody>
      </p:sp>
      <p:sp>
        <p:nvSpPr>
          <p:cNvPr id="30" name="Text 22"/>
          <p:cNvSpPr txBox="1"/>
          <p:nvPr/>
        </p:nvSpPr>
        <p:spPr>
          <a:xfrm>
            <a:off x="7095744" y="6080760"/>
            <a:ext cx="3044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inversé — marquage, sérigraphie</a:t>
            </a:r>
            <a:endParaRPr lang="en-US" sz="850" dirty="0"/>
          </a:p>
        </p:txBody>
      </p:sp>
      <p:sp>
        <p:nvSpPr>
          <p:cNvPr id="31" name="Text 23"/>
          <p:cNvSpPr txBox="1"/>
          <p:nvPr/>
        </p:nvSpPr>
        <p:spPr>
          <a:xfrm>
            <a:off x="548640" y="6583680"/>
            <a:ext cx="959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carmin n'entre jamais dans le logo : c'est une couleur d'accent, réservée à la typographie et à l'interface.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 — COULEURS · LOGO SUR IMAGE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LOGO SUR IMAGE.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une photo, le logo se place toujours sur une zone calme et contrastée. Si aucune zone ne convient, utilisez le cartouche.</a:t>
            </a:r>
            <a:endParaRPr lang="en-US" sz="1050" dirty="0"/>
          </a:p>
        </p:txBody>
      </p:sp>
      <p:pic>
        <p:nvPicPr>
          <p:cNvPr id="5" name="Image 0" descr="Visuel d'illustr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11680"/>
            <a:ext cx="3044952" cy="3657600"/>
          </a:xfrm>
          <a:prstGeom prst="rect">
            <a:avLst/>
          </a:prstGeom>
        </p:spPr>
      </p:pic>
      <p:pic>
        <p:nvPicPr>
          <p:cNvPr id="6" name="Image 1" descr="darwi-studio-horizontal-cre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1887870" cy="6471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80644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58110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877824" y="5833872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CRÈME SUR ZONE SOMBRE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26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cas le plus courant : intérieurs, éclairages de studio.</a:t>
            </a:r>
            <a:endParaRPr lang="en-US" sz="850" dirty="0"/>
          </a:p>
        </p:txBody>
      </p:sp>
      <p:pic>
        <p:nvPicPr>
          <p:cNvPr id="11" name="Image 2" descr="Visuel d'illustratio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2192" y="2011680"/>
            <a:ext cx="3044952" cy="3657600"/>
          </a:xfrm>
          <a:prstGeom prst="rect">
            <a:avLst/>
          </a:prstGeom>
        </p:spPr>
      </p:pic>
      <p:pic>
        <p:nvPicPr>
          <p:cNvPr id="12" name="Image 3" descr="darwi-studio-horizontal-bordeau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331720"/>
            <a:ext cx="1887870" cy="64718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822192" y="580644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3822192" y="58110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4151376" y="5833872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BORDEAUX SUR ZONE CLAIRE</a:t>
            </a:r>
            <a:endParaRPr lang="en-US" sz="750" dirty="0"/>
          </a:p>
        </p:txBody>
      </p:sp>
      <p:sp>
        <p:nvSpPr>
          <p:cNvPr id="16" name="Text 10"/>
          <p:cNvSpPr txBox="1"/>
          <p:nvPr/>
        </p:nvSpPr>
        <p:spPr>
          <a:xfrm>
            <a:off x="3822192" y="6126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Papiers, murs clairs, ciels, tables de travail.</a:t>
            </a:r>
            <a:endParaRPr lang="en-US" sz="850" dirty="0"/>
          </a:p>
        </p:txBody>
      </p:sp>
      <p:pic>
        <p:nvPicPr>
          <p:cNvPr id="17" name="Image 4" descr="Visuel d'illustration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095744" y="2011680"/>
            <a:ext cx="3044952" cy="3657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083053" y="4612419"/>
            <a:ext cx="1783323" cy="782541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9" name="Image 5" descr="darwi-studio-horizontal-cre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476" y="4742842"/>
            <a:ext cx="1522476" cy="52192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095744" y="580644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7095744" y="58110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7424928" y="5833872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CARTOUCHE SUR FOND CHARGÉ</a:t>
            </a:r>
            <a:endParaRPr lang="en-US" sz="750" dirty="0"/>
          </a:p>
        </p:txBody>
      </p:sp>
      <p:sp>
        <p:nvSpPr>
          <p:cNvPr id="23" name="Text 15"/>
          <p:cNvSpPr txBox="1"/>
          <p:nvPr/>
        </p:nvSpPr>
        <p:spPr>
          <a:xfrm>
            <a:off x="7095744" y="6126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Rectangle Bordeaux Darwi, logo crème, marge = X.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ogramme D en ton sur 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457200"/>
            <a:ext cx="5847988" cy="6309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bg2">
                    <a:alpha val="45000"/>
                  </a:schemeClr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206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4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TYPOGRAPHIE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familles libres de droits : une pour la voix, une pour l'information.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669280"/>
            <a:ext cx="112837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669280"/>
            <a:ext cx="1128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JOST — TITRES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786738" y="5669280"/>
            <a:ext cx="119969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86738" y="5669280"/>
            <a:ext cx="1199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 — TEXTES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096158" y="5669280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96158" y="5669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HIÉRARCHIE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bg2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 — TYPOGRAPHIE · TITRES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Titres, accroches, logotype. Une géométrique droite et épurée, héritière du Futura : sa rigueur équilibre la courbe libre du monogramme.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Aa</a:t>
            </a:r>
            <a:endParaRPr lang="en-US" sz="150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0574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abcdefghijklmnopqrstuvwxyz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0123456789 — € % &amp; ! ? « »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3291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LIGHT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200" kern="0" dirty="0">
                <a:solidFill>
                  <a:schemeClr val="accent1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DARWI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931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· grands titres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504688" y="3291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REGULAR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20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DARWI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04688" y="3931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· logotype, titres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077456" y="3291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MEDIUM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7077456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200" kern="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DARWI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077456" y="3931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· sous-titres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650224" y="3291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200" kern="0" dirty="0">
                <a:solidFill>
                  <a:schemeClr val="accent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SEMIBOLD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650224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200" kern="0" dirty="0">
                <a:solidFill>
                  <a:schemeClr val="accent1"/>
                </a:solidFill>
                <a:latin typeface="Jost SemiBold" pitchFamily="34" charset="0"/>
                <a:ea typeface="Jost SemiBold" pitchFamily="34" charset="-122"/>
                <a:cs typeface="Jost SemiBold" pitchFamily="34" charset="-120"/>
              </a:rPr>
              <a:t>DARWI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50224" y="3931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· rare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31920" y="4279392"/>
            <a:ext cx="6208776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4407408"/>
            <a:ext cx="6208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Titres en capitales, approche +5 à +20 % selon la taille, interlignage 100–110 %.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le titre est grand, plus la graisse est fine : Light au-delà de 40 pt.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logotype est vectorisé : ne jamais le recomposer au clavier, même en Jost.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 SIL Open Font License · Google Fonts · usage commercial autorisé.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9592056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6235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3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DESSINER AVANT D'ASSEMBLER.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946136" y="56235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Exemple d'accroche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 — TYPOGRAPHIE · TEXTES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 &amp; HIÉRARCHIE.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645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ABCDEFGHIJKLMNOPQRSTUVWXYZ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abcdefghijklmnopqrstuvwxyz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0123456789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— textes courants, interfaces, légendes, données. Regular 400, Medium 500, SemiBold 600. Licence SIL OFL · Google Fonts.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Polices de secours : Century Gothic / Futura (titres) · Arial / Helvetica (textes).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46304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44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73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4434840"/>
            <a:ext cx="146304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4544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4773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4434840"/>
            <a:ext cx="1463040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4544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SEMIBOLD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7731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06440" y="685800"/>
            <a:ext cx="4334256" cy="6035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1005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Surtitre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2161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Medium 8 pt · capitales · +30 %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100584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spc="300" kern="0" dirty="0">
                <a:solidFill>
                  <a:srgbClr val="E0757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IDENTITÉ VISUELLE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572768"/>
            <a:ext cx="3785616" cy="0"/>
          </a:xfrm>
          <a:prstGeom prst="line">
            <a:avLst/>
          </a:prstGeom>
          <a:noFill/>
          <a:ln w="6350">
            <a:solidFill>
              <a:srgbClr val="4A2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Titre 1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1856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Jost Regular 28 pt · capitales · +5 %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16459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spc="150" kern="0" dirty="0">
                <a:solidFill>
                  <a:schemeClr val="bg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STUDIO QUI DESSINE.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487168"/>
            <a:ext cx="3785616" cy="0"/>
          </a:xfrm>
          <a:prstGeom prst="line">
            <a:avLst/>
          </a:prstGeom>
          <a:noFill/>
          <a:ln w="6350">
            <a:solidFill>
              <a:srgbClr val="4A2A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8076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Titre 2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27706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Jost Medium 16 pt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56032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Identités &amp; éditions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264408"/>
            <a:ext cx="3785616" cy="0"/>
          </a:xfrm>
          <a:prstGeom prst="line">
            <a:avLst/>
          </a:prstGeom>
          <a:noFill/>
          <a:ln w="6350">
            <a:solidFill>
              <a:srgbClr val="4A2A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80760" y="3337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Chiffre clé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3547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Jost Light · Carmin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0757A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+120 projets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4041648"/>
            <a:ext cx="3785616" cy="0"/>
          </a:xfrm>
          <a:prstGeom prst="line">
            <a:avLst/>
          </a:prstGeom>
          <a:noFill/>
          <a:ln w="6350">
            <a:solidFill>
              <a:srgbClr val="4A2A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8076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Texte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43251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Regular 10–11 pt · interligne 140 %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4114800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Logos, chartes, éditions et supports digitaux, dessinés à la main puis construits avec rigueur.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5138928"/>
            <a:ext cx="3785616" cy="0"/>
          </a:xfrm>
          <a:prstGeom prst="line">
            <a:avLst/>
          </a:prstGeom>
          <a:noFill/>
          <a:ln w="6350">
            <a:solidFill>
              <a:srgbClr val="4A2A3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80760" y="5212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Légende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080760" y="54223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Medium 8 pt · Grège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52120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chemeClr val="accent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Projet — Charte graphique, 2026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37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chiffres et exemples de ce panneau sont fictifs.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nogramme D en ton sur 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457200"/>
            <a:ext cx="5847988" cy="6309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bg2">
                    <a:alpha val="45000"/>
                  </a:schemeClr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206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40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APPLICATIONS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premiers supports de la marque, prêts à décliner.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669280"/>
            <a:ext cx="12710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66928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CARTE DE VISITE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929384" y="5669280"/>
            <a:ext cx="1199693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29384" y="5669280"/>
            <a:ext cx="1199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PAPIER EN-TÊTE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238805" y="5669280"/>
            <a:ext cx="1271016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38805" y="566928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RÉSEAUX SOCIAUX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619549" y="5669280"/>
            <a:ext cx="1342339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9549" y="5669280"/>
            <a:ext cx="1342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chemeClr val="bg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SIGNATURE E-MAIL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bg2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 — APPLICATIONS · PAPETERIE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PAPETERIE.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 de visite 85 × 55 mm et papier en-tête A4. Le recto en bordeaux signe, le verso crème informe.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743200" cy="1775012"/>
          </a:xfrm>
          <a:prstGeom prst="rect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01600" dist="38100" dir="5400000">
              <a:srgbClr val="2A1216">
                <a:alpha val="25000"/>
              </a:srgbClr>
            </a:outerShdw>
          </a:effectLst>
        </p:spPr>
      </p:sp>
      <p:pic>
        <p:nvPicPr>
          <p:cNvPr id="6" name="Image 0" descr="Monogramme, recto de la ca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448" y="2579146"/>
            <a:ext cx="847344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0610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RECTO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31520" y="4472492"/>
            <a:ext cx="2743200" cy="1775012"/>
          </a:xfrm>
          <a:prstGeom prst="rect">
            <a:avLst/>
          </a:prstGeom>
          <a:solidFill>
            <a:schemeClr val="bg2"/>
          </a:solidFill>
          <a:ln w="6350">
            <a:solidFill>
              <a:srgbClr val="D9C9AE"/>
            </a:solidFill>
            <a:prstDash val="solid"/>
          </a:ln>
          <a:effectLst>
            <a:outerShdw sx="100000" sy="100000" kx="0" ky="0" algn="bl" rotWithShape="0" blurRad="101600" dist="38100" dir="5400000">
              <a:srgbClr val="2A1216">
                <a:alpha val="25000"/>
              </a:srgbClr>
            </a:outerShdw>
          </a:effectLst>
        </p:spPr>
      </p:sp>
      <p:pic>
        <p:nvPicPr>
          <p:cNvPr id="9" name="Image 1" descr="darwi-studio-horizontal-bordeau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701092"/>
            <a:ext cx="1120286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53788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Prénom Nom</a:t>
            </a:r>
            <a:endParaRPr lang="en-US" sz="1000" dirty="0"/>
          </a:p>
          <a:p>
            <a:pPr indent="0" marL="0">
              <a:buNone/>
            </a:pPr>
            <a:r>
              <a:rPr lang="en-US" sz="6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Graphiste — Directeur artistique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5790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06 00 00 00 00</a:t>
            </a:r>
            <a:endParaRPr lang="en-US" sz="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bonjour@darwistudio.fr</a:t>
            </a:r>
            <a:endParaRPr lang="en-US" sz="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darwistudio.fr</a:t>
            </a:r>
            <a:endParaRPr lang="en-US" sz="600" dirty="0"/>
          </a:p>
        </p:txBody>
      </p:sp>
      <p:pic>
        <p:nvPicPr>
          <p:cNvPr id="12" name="Image 2" descr="monogramme-bordeau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5790304"/>
            <a:ext cx="211836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" y="6384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VERSO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434840" y="2057400"/>
            <a:ext cx="3200400" cy="4526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01600" dist="38100" dir="5400000">
              <a:srgbClr val="2A1216">
                <a:alpha val="25000"/>
              </a:srgbClr>
            </a:outerShdw>
          </a:effectLst>
        </p:spPr>
      </p:sp>
      <p:pic>
        <p:nvPicPr>
          <p:cNvPr id="15" name="Image 3" descr="darwi-studio-horizontal-bordeau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331720"/>
            <a:ext cx="1013592" cy="34747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922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Destinataire</a:t>
            </a:r>
            <a:endParaRPr lang="en-US" sz="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Adresse</a:t>
            </a:r>
            <a:endParaRPr lang="en-US" sz="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postal Ville</a:t>
            </a:r>
            <a:endParaRPr lang="en-US" sz="500" dirty="0"/>
          </a:p>
        </p:txBody>
      </p:sp>
      <p:sp>
        <p:nvSpPr>
          <p:cNvPr id="17" name="Text 11"/>
          <p:cNvSpPr txBox="1"/>
          <p:nvPr/>
        </p:nvSpPr>
        <p:spPr>
          <a:xfrm>
            <a:off x="4709160" y="3429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OBJET : PRÉSENTATION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4709160" y="3749040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Shape 13"/>
          <p:cNvSpPr/>
          <p:nvPr/>
        </p:nvSpPr>
        <p:spPr>
          <a:xfrm>
            <a:off x="4709160" y="3904488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0" name="Shape 14"/>
          <p:cNvSpPr/>
          <p:nvPr/>
        </p:nvSpPr>
        <p:spPr>
          <a:xfrm>
            <a:off x="4709160" y="4059936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Shape 15"/>
          <p:cNvSpPr/>
          <p:nvPr/>
        </p:nvSpPr>
        <p:spPr>
          <a:xfrm>
            <a:off x="4709160" y="4215384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Shape 16"/>
          <p:cNvSpPr/>
          <p:nvPr/>
        </p:nvSpPr>
        <p:spPr>
          <a:xfrm>
            <a:off x="4709160" y="4370832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Shape 17"/>
          <p:cNvSpPr/>
          <p:nvPr/>
        </p:nvSpPr>
        <p:spPr>
          <a:xfrm>
            <a:off x="4709160" y="4526280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Shape 18"/>
          <p:cNvSpPr/>
          <p:nvPr/>
        </p:nvSpPr>
        <p:spPr>
          <a:xfrm>
            <a:off x="4709160" y="4681728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Shape 19"/>
          <p:cNvSpPr/>
          <p:nvPr/>
        </p:nvSpPr>
        <p:spPr>
          <a:xfrm>
            <a:off x="4709160" y="4837176"/>
            <a:ext cx="265176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Shape 20"/>
          <p:cNvSpPr/>
          <p:nvPr/>
        </p:nvSpPr>
        <p:spPr>
          <a:xfrm>
            <a:off x="4709160" y="4992624"/>
            <a:ext cx="1188720" cy="4572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27" name="Image 4" descr="Filigrane monogramm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800600"/>
            <a:ext cx="1186548" cy="12801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709160" y="62636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Darwi Studio · darwistudio.fr · bonjour@darwistudio.fr</a:t>
            </a:r>
            <a:endParaRPr lang="en-US" sz="450" dirty="0"/>
          </a:p>
        </p:txBody>
      </p:sp>
      <p:sp>
        <p:nvSpPr>
          <p:cNvPr id="29" name="Text 22"/>
          <p:cNvSpPr txBox="1"/>
          <p:nvPr/>
        </p:nvSpPr>
        <p:spPr>
          <a:xfrm>
            <a:off x="4434840" y="6693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PAPIER EN-TÊTE A4</a:t>
            </a:r>
            <a:endParaRPr lang="en-US" sz="750" dirty="0"/>
          </a:p>
        </p:txBody>
      </p:sp>
      <p:sp>
        <p:nvSpPr>
          <p:cNvPr id="30" name="Text 23"/>
          <p:cNvSpPr txBox="1"/>
          <p:nvPr/>
        </p:nvSpPr>
        <p:spPr>
          <a:xfrm>
            <a:off x="8046720" y="21488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PAPIER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8046720" y="2386584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Offset ivoire non couché, 350 g (cartes) et 100 g (en-tête). Le papier donne le crème.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8046720" y="35204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FINITIONS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8046720" y="3758184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Recto en Pantone 188 C. Option premium : monogramme en marquage à chaud ou gaufrage à sec.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8046720" y="489204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MARGES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8046720" y="5129784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à 10 mm des bords sur la carte, 15 mm sur l'en-tête. Toujours aligné à gauche.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8046720" y="6355080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Coordonnées fictives, à remplacer.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 — APPLICATIONS · DIGITAL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150" kern="0" dirty="0">
                <a:solidFill>
                  <a:schemeClr val="accent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&amp; RÉSEAUX SOCIAUX.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écran, le monogramme devient l'avatar et la signature des publications. Fonds pleins, aucune transparence.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017520" cy="4617720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rgbClr val="D9C9AE"/>
            </a:solidFill>
            <a:prstDash val="solid"/>
          </a:ln>
        </p:spPr>
      </p:sp>
      <p:pic>
        <p:nvPicPr>
          <p:cNvPr id="6" name="Image 0" descr="Avatar Inst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868680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darwistudio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de graphisme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Identités visuelles, éditions &amp; digital. Dessiné à la main.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22960" y="3886200"/>
            <a:ext cx="792480" cy="792480"/>
          </a:xfrm>
          <a:prstGeom prst="rect">
            <a:avLst/>
          </a:prstGeom>
          <a:solidFill>
            <a:srgbClr val="6A1B26"/>
          </a:solidFill>
          <a:ln/>
        </p:spPr>
      </p:sp>
      <p:pic>
        <p:nvPicPr>
          <p:cNvPr id="10" name="Image 1" descr="monogramme-cre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09" y="4084320"/>
            <a:ext cx="367182" cy="396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661160" y="3886200"/>
            <a:ext cx="792480" cy="792480"/>
          </a:xfrm>
          <a:prstGeom prst="rect">
            <a:avLst/>
          </a:prstGeom>
          <a:solidFill>
            <a:srgbClr val="F4EBDC"/>
          </a:solidFill>
          <a:ln w="6350">
            <a:solidFill>
              <a:srgbClr val="D9C9A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734312" y="3886200"/>
            <a:ext cx="701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PLEINS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&amp; DÉLIÉS</a:t>
            </a:r>
            <a:endParaRPr lang="en-US" sz="800" dirty="0"/>
          </a:p>
        </p:txBody>
      </p:sp>
      <p:pic>
        <p:nvPicPr>
          <p:cNvPr id="13" name="Image 2" descr="Publicatio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99360" y="3886200"/>
            <a:ext cx="792480" cy="792480"/>
          </a:xfrm>
          <a:prstGeom prst="rect">
            <a:avLst/>
          </a:prstGeom>
        </p:spPr>
      </p:pic>
      <p:pic>
        <p:nvPicPr>
          <p:cNvPr id="14" name="Image 3" descr="Publicatio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4724400"/>
            <a:ext cx="792480" cy="7924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661160" y="4724400"/>
            <a:ext cx="792480" cy="792480"/>
          </a:xfrm>
          <a:prstGeom prst="rect">
            <a:avLst/>
          </a:prstGeom>
          <a:solidFill>
            <a:srgbClr val="2A1216"/>
          </a:solidFill>
          <a:ln/>
        </p:spPr>
      </p:sp>
      <p:pic>
        <p:nvPicPr>
          <p:cNvPr id="16" name="Image 4" descr="monogramme-crem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809" y="4922520"/>
            <a:ext cx="367182" cy="3962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499360" y="4724400"/>
            <a:ext cx="792480" cy="792480"/>
          </a:xfrm>
          <a:prstGeom prst="rect">
            <a:avLst/>
          </a:prstGeom>
          <a:solidFill>
            <a:srgbClr val="B23A3F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2572512" y="4724400"/>
            <a:ext cx="701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NOUVEAU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822960" y="5562600"/>
            <a:ext cx="792480" cy="792480"/>
          </a:xfrm>
          <a:prstGeom prst="rect">
            <a:avLst/>
          </a:prstGeom>
          <a:solidFill>
            <a:srgbClr val="F4EBDC"/>
          </a:solidFill>
          <a:ln w="6350">
            <a:solidFill>
              <a:srgbClr val="D9C9AE"/>
            </a:solidFill>
            <a:prstDash val="solid"/>
          </a:ln>
        </p:spPr>
      </p:sp>
      <p:pic>
        <p:nvPicPr>
          <p:cNvPr id="20" name="Image 5" descr="monogramme-bordeau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609" y="5760720"/>
            <a:ext cx="367182" cy="396240"/>
          </a:xfrm>
          <a:prstGeom prst="rect">
            <a:avLst/>
          </a:prstGeom>
        </p:spPr>
      </p:pic>
      <p:pic>
        <p:nvPicPr>
          <p:cNvPr id="21" name="Image 6" descr="Publication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61160" y="5562600"/>
            <a:ext cx="792480" cy="7924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2499360" y="5562600"/>
            <a:ext cx="792480" cy="792480"/>
          </a:xfrm>
          <a:prstGeom prst="rect">
            <a:avLst/>
          </a:prstGeom>
          <a:solidFill>
            <a:srgbClr val="6A1B26"/>
          </a:solidFill>
          <a:ln/>
        </p:spPr>
      </p:sp>
      <p:pic>
        <p:nvPicPr>
          <p:cNvPr id="23" name="Image 7" descr="darwi-crem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3346" y="5681472"/>
            <a:ext cx="544508" cy="55473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3886200" y="2011680"/>
            <a:ext cx="2423160" cy="242316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5" name="Image 8" descr="mono-tonal-bordeaux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953512"/>
            <a:ext cx="1356055" cy="146304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11480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E0757A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NOUVEAU PROJET</a:t>
            </a:r>
            <a:endParaRPr lang="en-US" sz="650" dirty="0"/>
          </a:p>
        </p:txBody>
      </p:sp>
      <p:sp>
        <p:nvSpPr>
          <p:cNvPr id="27" name="Text 16"/>
          <p:cNvSpPr txBox="1"/>
          <p:nvPr/>
        </p:nvSpPr>
        <p:spPr>
          <a:xfrm>
            <a:off x="411480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spc="15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UNE IDENTITÉ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spc="15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DESSINÉE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spc="150" kern="0" dirty="0">
                <a:solidFill>
                  <a:schemeClr val="bg2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À LA MAIN.</a:t>
            </a:r>
            <a:endParaRPr lang="en-US" sz="1500" dirty="0"/>
          </a:p>
        </p:txBody>
      </p:sp>
      <p:pic>
        <p:nvPicPr>
          <p:cNvPr id="28" name="Image 9" descr="darwi-horizontal-crem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0" y="3931920"/>
            <a:ext cx="853551" cy="292608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3886200" y="45445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PUBLICATION 1:1</a:t>
            </a:r>
            <a:endParaRPr lang="en-US" sz="750" dirty="0"/>
          </a:p>
        </p:txBody>
      </p:sp>
      <p:sp>
        <p:nvSpPr>
          <p:cNvPr id="30" name="Text 18"/>
          <p:cNvSpPr txBox="1"/>
          <p:nvPr/>
        </p:nvSpPr>
        <p:spPr>
          <a:xfrm>
            <a:off x="3886200" y="4754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 plein, titre Jost Light, logo en bas à gauche.</a:t>
            </a:r>
            <a:endParaRPr lang="en-US" sz="850" dirty="0"/>
          </a:p>
        </p:txBody>
      </p:sp>
      <p:sp>
        <p:nvSpPr>
          <p:cNvPr id="31" name="Shape 19"/>
          <p:cNvSpPr/>
          <p:nvPr/>
        </p:nvSpPr>
        <p:spPr>
          <a:xfrm>
            <a:off x="6629400" y="2011680"/>
            <a:ext cx="3511296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rgbClr val="D9C9AE"/>
            </a:solidFill>
            <a:prstDash val="solid"/>
          </a:ln>
        </p:spPr>
      </p:sp>
      <p:pic>
        <p:nvPicPr>
          <p:cNvPr id="32" name="Image 10" descr="avatar-bordeaux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0" y="2148840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7086600" y="20116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Darwi Studio — Graphisme</a:t>
            </a:r>
            <a:endParaRPr lang="en-US" sz="850" dirty="0"/>
          </a:p>
        </p:txBody>
      </p:sp>
      <p:sp>
        <p:nvSpPr>
          <p:cNvPr id="34" name="Text 21"/>
          <p:cNvSpPr txBox="1"/>
          <p:nvPr/>
        </p:nvSpPr>
        <p:spPr>
          <a:xfrm>
            <a:off x="6629400" y="2624328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FAVICON</a:t>
            </a:r>
            <a:endParaRPr lang="en-US" sz="750" dirty="0"/>
          </a:p>
        </p:txBody>
      </p:sp>
      <p:sp>
        <p:nvSpPr>
          <p:cNvPr id="35" name="Text 22"/>
          <p:cNvSpPr txBox="1"/>
          <p:nvPr/>
        </p:nvSpPr>
        <p:spPr>
          <a:xfrm>
            <a:off x="6629400" y="283464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bordeaux, livré en 16, 32, 48 px et .ico.</a:t>
            </a:r>
            <a:endParaRPr lang="en-US" sz="850" dirty="0"/>
          </a:p>
        </p:txBody>
      </p:sp>
      <p:pic>
        <p:nvPicPr>
          <p:cNvPr id="36" name="Image 11" descr="avatar-bordeaux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474720"/>
            <a:ext cx="822960" cy="822960"/>
          </a:xfrm>
          <a:prstGeom prst="rect">
            <a:avLst/>
          </a:prstGeom>
        </p:spPr>
      </p:pic>
      <p:pic>
        <p:nvPicPr>
          <p:cNvPr id="37" name="Image 12" descr="avatar-bordeaux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520" y="3749040"/>
            <a:ext cx="548640" cy="548640"/>
          </a:xfrm>
          <a:prstGeom prst="rect">
            <a:avLst/>
          </a:prstGeom>
        </p:spPr>
      </p:pic>
      <p:pic>
        <p:nvPicPr>
          <p:cNvPr id="38" name="Image 13" descr="avatar-bordeaux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5320" y="3931920"/>
            <a:ext cx="365760" cy="365760"/>
          </a:xfrm>
          <a:prstGeom prst="rect">
            <a:avLst/>
          </a:prstGeom>
        </p:spPr>
      </p:pic>
      <p:pic>
        <p:nvPicPr>
          <p:cNvPr id="39" name="Image 14" descr="avatar-bordeaux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78240" y="4069080"/>
            <a:ext cx="228600" cy="228600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629400" y="44348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AVATAR</a:t>
            </a:r>
            <a:endParaRPr lang="en-US" sz="750" dirty="0"/>
          </a:p>
        </p:txBody>
      </p:sp>
      <p:sp>
        <p:nvSpPr>
          <p:cNvPr id="41" name="Text 24"/>
          <p:cNvSpPr txBox="1"/>
          <p:nvPr/>
        </p:nvSpPr>
        <p:spPr>
          <a:xfrm>
            <a:off x="6629400" y="4645152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Lisible de 400 px à 32 px.</a:t>
            </a:r>
            <a:endParaRPr lang="en-US" sz="850" dirty="0"/>
          </a:p>
        </p:txBody>
      </p:sp>
      <p:sp>
        <p:nvSpPr>
          <p:cNvPr id="42" name="Shape 25"/>
          <p:cNvSpPr/>
          <p:nvPr/>
        </p:nvSpPr>
        <p:spPr>
          <a:xfrm>
            <a:off x="3886200" y="5166360"/>
            <a:ext cx="6254496" cy="1463040"/>
          </a:xfrm>
          <a:prstGeom prst="rect">
            <a:avLst/>
          </a:prstGeom>
          <a:solidFill>
            <a:schemeClr val="bg1"/>
          </a:solidFill>
          <a:ln w="9525">
            <a:solidFill>
              <a:srgbClr val="D9C9AE"/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4114800" y="5330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chemeClr val="accent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SIGNATURE E-MAIL</a:t>
            </a:r>
            <a:endParaRPr lang="en-US" sz="750" dirty="0"/>
          </a:p>
        </p:txBody>
      </p:sp>
      <p:pic>
        <p:nvPicPr>
          <p:cNvPr id="44" name="Image 15" descr="monogramme-bordeaux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4800" y="5669280"/>
            <a:ext cx="635508" cy="685800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4937760" y="5669280"/>
            <a:ext cx="0" cy="6858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6" name="Text 28"/>
          <p:cNvSpPr txBox="1"/>
          <p:nvPr/>
        </p:nvSpPr>
        <p:spPr>
          <a:xfrm>
            <a:off x="5120640" y="5669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Prénom Nom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Graphiste — Darwi Studio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00 00 00 00 · darwistudio.fr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83496" y="705916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chemeClr val="accent5"/>
                </a:solidFill>
                <a:latin typeface="Inter Medium"/>
                <a:ea typeface="Inter Medium"/>
                <a:cs typeface="Inter Medium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arwi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144" y="2135124"/>
            <a:ext cx="2435047" cy="2926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6720840"/>
            <a:ext cx="10689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Charte graphique — Logo, couleurs &amp; typographie —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wi Studio">
  <a:themeElements>
    <a:clrScheme name="Darwi Studio">
      <a:dk1>
        <a:srgbClr val="2A1216"/>
      </a:dk1>
      <a:lt1>
        <a:srgbClr val="FFFFFF"/>
      </a:lt1>
      <a:dk2>
        <a:srgbClr val="6A1B26"/>
      </a:dk2>
      <a:lt2>
        <a:srgbClr val="F4EBDC"/>
      </a:lt2>
      <a:accent1>
        <a:srgbClr val="6A1B26"/>
      </a:accent1>
      <a:accent2>
        <a:srgbClr val="B23A3F"/>
      </a:accent2>
      <a:accent3>
        <a:srgbClr val="D9C9AE"/>
      </a:accent3>
      <a:accent4>
        <a:srgbClr val="2A1216"/>
      </a:accent4>
      <a:accent5>
        <a:srgbClr val="6E5A52"/>
      </a:accent5>
      <a:accent6>
        <a:srgbClr val="8C2A35"/>
      </a:accent6>
      <a:hlink>
        <a:srgbClr val="B23A3F"/>
      </a:hlink>
      <a:folHlink>
        <a:srgbClr val="6A1B26"/>
      </a:folHlink>
    </a:clrScheme>
    <a:fontScheme name="Darwi Studio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Darwi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Darwi Studio — Charte graphique</dc:title>
  <dc:subject>PptxGenJS Presentation</dc:subject>
  <dc:creator>Darwi Studio</dc:creator>
  <cp:lastModifiedBy>Darwi Studio</cp:lastModifiedBy>
  <cp:revision>1</cp:revision>
  <dcterms:created xsi:type="dcterms:W3CDTF">2026-10-30T10:57:42Z</dcterms:created>
  <dcterms:modified xsi:type="dcterms:W3CDTF">2026-10-30T10:57:42Z</dcterms:modified>
</cp:coreProperties>
</file>